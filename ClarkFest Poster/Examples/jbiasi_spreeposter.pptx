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274" autoAdjust="0"/>
  </p:normalViewPr>
  <p:slideViewPr>
    <p:cSldViewPr>
      <p:cViewPr>
        <p:scale>
          <a:sx n="10" d="100"/>
          <a:sy n="10" d="100"/>
        </p:scale>
        <p:origin x="-2288" y="-536"/>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interSettings" Target="printerSettings/printerSettings1.bin"/><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oleObject" Target="file://localhost/Projects/Users/joey/Library/Application%20Support/Microsoft/Office/Office%202011%20AutoRecovery/Missing%20receiverships%20(version%201).xlsb"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800" b="1">
                <a:latin typeface="Tahoma" charset="0"/>
                <a:ea typeface="Tahoma" charset="0"/>
                <a:cs typeface="Tahoma" charset="0"/>
              </a:defRPr>
            </a:pPr>
            <a:r>
              <a:rPr lang="en-US" sz="2800" b="1" dirty="0" smtClean="0">
                <a:latin typeface="Tahoma" charset="0"/>
                <a:ea typeface="Tahoma" charset="0"/>
                <a:cs typeface="Tahoma" charset="0"/>
              </a:rPr>
              <a:t>Worcester</a:t>
            </a:r>
            <a:r>
              <a:rPr lang="en-US" sz="2800" b="1" baseline="0" dirty="0" smtClean="0">
                <a:latin typeface="Tahoma" charset="0"/>
                <a:ea typeface="Tahoma" charset="0"/>
                <a:cs typeface="Tahoma" charset="0"/>
              </a:rPr>
              <a:t> vs. National Housing Indices</a:t>
            </a:r>
            <a:endParaRPr lang="en-US" sz="2800" b="1" dirty="0">
              <a:latin typeface="Tahoma" charset="0"/>
              <a:ea typeface="Tahoma" charset="0"/>
              <a:cs typeface="Tahoma" charset="0"/>
            </a:endParaRPr>
          </a:p>
        </c:rich>
      </c:tx>
      <c:layout>
        <c:manualLayout>
          <c:xMode val="edge"/>
          <c:yMode val="edge"/>
          <c:x val="0.21639751552795"/>
          <c:y val="0.0691056910569106"/>
        </c:manualLayout>
      </c:layout>
      <c:overlay val="0"/>
    </c:title>
    <c:autoTitleDeleted val="0"/>
    <c:plotArea>
      <c:layout>
        <c:manualLayout>
          <c:layoutTarget val="inner"/>
          <c:xMode val="edge"/>
          <c:yMode val="edge"/>
          <c:x val="0.0325940235731403"/>
          <c:y val="0.0426321938416234"/>
          <c:w val="0.92416581079539"/>
          <c:h val="0.899986236476538"/>
        </c:manualLayout>
      </c:layout>
      <c:lineChart>
        <c:grouping val="standard"/>
        <c:varyColors val="0"/>
        <c:ser>
          <c:idx val="0"/>
          <c:order val="0"/>
          <c:tx>
            <c:v>Worcester</c:v>
          </c:tx>
          <c:spPr>
            <a:ln w="101600">
              <a:prstDash val="sysDot"/>
            </a:ln>
            <a:effectLst>
              <a:outerShdw blurRad="50800" dist="38100" dir="2700000" algn="tl" rotWithShape="0">
                <a:prstClr val="black">
                  <a:alpha val="40000"/>
                </a:prstClr>
              </a:outerShdw>
            </a:effectLst>
          </c:spPr>
          <c:marker>
            <c:symbol val="none"/>
          </c:marker>
          <c:cat>
            <c:numRef>
              <c:f>Sheet2!$G$76:$G$89</c:f>
              <c:numCache>
                <c:formatCode>General</c:formatCode>
                <c:ptCount val="14"/>
                <c:pt idx="0">
                  <c:v>2000.0</c:v>
                </c:pt>
                <c:pt idx="1">
                  <c:v>2001.0</c:v>
                </c:pt>
                <c:pt idx="2">
                  <c:v>2002.0</c:v>
                </c:pt>
                <c:pt idx="3">
                  <c:v>2003.0</c:v>
                </c:pt>
                <c:pt idx="4">
                  <c:v>2004.0</c:v>
                </c:pt>
                <c:pt idx="5">
                  <c:v>2005.0</c:v>
                </c:pt>
                <c:pt idx="6">
                  <c:v>2006.0</c:v>
                </c:pt>
                <c:pt idx="7">
                  <c:v>2007.0</c:v>
                </c:pt>
                <c:pt idx="8">
                  <c:v>2008.0</c:v>
                </c:pt>
                <c:pt idx="9">
                  <c:v>2009.0</c:v>
                </c:pt>
                <c:pt idx="10">
                  <c:v>2010.0</c:v>
                </c:pt>
                <c:pt idx="11">
                  <c:v>2011.0</c:v>
                </c:pt>
                <c:pt idx="12">
                  <c:v>2012.0</c:v>
                </c:pt>
                <c:pt idx="13">
                  <c:v>2013.0</c:v>
                </c:pt>
              </c:numCache>
            </c:numRef>
          </c:cat>
          <c:val>
            <c:numRef>
              <c:f>Sheet2!$K$76:$K$89</c:f>
              <c:numCache>
                <c:formatCode>General</c:formatCode>
                <c:ptCount val="14"/>
                <c:pt idx="0">
                  <c:v>100.0</c:v>
                </c:pt>
                <c:pt idx="1">
                  <c:v>119.0081998377882</c:v>
                </c:pt>
                <c:pt idx="2">
                  <c:v>134.7425705843792</c:v>
                </c:pt>
                <c:pt idx="3">
                  <c:v>150.2593066857958</c:v>
                </c:pt>
                <c:pt idx="4">
                  <c:v>168.6241008477374</c:v>
                </c:pt>
                <c:pt idx="5">
                  <c:v>180.3824147625618</c:v>
                </c:pt>
                <c:pt idx="6">
                  <c:v>175.7719259421113</c:v>
                </c:pt>
                <c:pt idx="7">
                  <c:v>160.466550598586</c:v>
                </c:pt>
                <c:pt idx="8">
                  <c:v>130.86098576548</c:v>
                </c:pt>
                <c:pt idx="9">
                  <c:v>117.4739721106476</c:v>
                </c:pt>
                <c:pt idx="10">
                  <c:v>118.5086389399548</c:v>
                </c:pt>
                <c:pt idx="11">
                  <c:v>113.5530443530958</c:v>
                </c:pt>
                <c:pt idx="12">
                  <c:v>116.3345306642711</c:v>
                </c:pt>
                <c:pt idx="13">
                  <c:v>125.0915833668827</c:v>
                </c:pt>
              </c:numCache>
            </c:numRef>
          </c:val>
          <c:smooth val="0"/>
        </c:ser>
        <c:ser>
          <c:idx val="1"/>
          <c:order val="1"/>
          <c:tx>
            <c:v>Case-Shiller</c:v>
          </c:tx>
          <c:spPr>
            <a:ln w="101600"/>
            <a:effectLst>
              <a:outerShdw blurRad="50800" dist="38100" dir="2700000" algn="tl" rotWithShape="0">
                <a:prstClr val="black">
                  <a:alpha val="40000"/>
                </a:prstClr>
              </a:outerShdw>
            </a:effectLst>
          </c:spPr>
          <c:marker>
            <c:symbol val="none"/>
          </c:marker>
          <c:cat>
            <c:numRef>
              <c:f>Sheet2!$G$76:$G$89</c:f>
              <c:numCache>
                <c:formatCode>General</c:formatCode>
                <c:ptCount val="14"/>
                <c:pt idx="0">
                  <c:v>2000.0</c:v>
                </c:pt>
                <c:pt idx="1">
                  <c:v>2001.0</c:v>
                </c:pt>
                <c:pt idx="2">
                  <c:v>2002.0</c:v>
                </c:pt>
                <c:pt idx="3">
                  <c:v>2003.0</c:v>
                </c:pt>
                <c:pt idx="4">
                  <c:v>2004.0</c:v>
                </c:pt>
                <c:pt idx="5">
                  <c:v>2005.0</c:v>
                </c:pt>
                <c:pt idx="6">
                  <c:v>2006.0</c:v>
                </c:pt>
                <c:pt idx="7">
                  <c:v>2007.0</c:v>
                </c:pt>
                <c:pt idx="8">
                  <c:v>2008.0</c:v>
                </c:pt>
                <c:pt idx="9">
                  <c:v>2009.0</c:v>
                </c:pt>
                <c:pt idx="10">
                  <c:v>2010.0</c:v>
                </c:pt>
                <c:pt idx="11">
                  <c:v>2011.0</c:v>
                </c:pt>
                <c:pt idx="12">
                  <c:v>2012.0</c:v>
                </c:pt>
                <c:pt idx="13">
                  <c:v>2013.0</c:v>
                </c:pt>
              </c:numCache>
            </c:numRef>
          </c:cat>
          <c:val>
            <c:numRef>
              <c:f>Sheet2!$L$76:$L$89</c:f>
              <c:numCache>
                <c:formatCode>0.00</c:formatCode>
                <c:ptCount val="14"/>
                <c:pt idx="0">
                  <c:v>100.0</c:v>
                </c:pt>
                <c:pt idx="1">
                  <c:v>117.23</c:v>
                </c:pt>
                <c:pt idx="2">
                  <c:v>128.15</c:v>
                </c:pt>
                <c:pt idx="3">
                  <c:v>142.51</c:v>
                </c:pt>
                <c:pt idx="4">
                  <c:v>164.42</c:v>
                </c:pt>
                <c:pt idx="5">
                  <c:v>190.34</c:v>
                </c:pt>
                <c:pt idx="6">
                  <c:v>204.79</c:v>
                </c:pt>
                <c:pt idx="7">
                  <c:v>196.9500000000002</c:v>
                </c:pt>
                <c:pt idx="8">
                  <c:v>165.94</c:v>
                </c:pt>
                <c:pt idx="9">
                  <c:v>143.83</c:v>
                </c:pt>
                <c:pt idx="10">
                  <c:v>145.64</c:v>
                </c:pt>
                <c:pt idx="11">
                  <c:v>140.01</c:v>
                </c:pt>
                <c:pt idx="12">
                  <c:v>141.26</c:v>
                </c:pt>
                <c:pt idx="13">
                  <c:v>158.17</c:v>
                </c:pt>
              </c:numCache>
            </c:numRef>
          </c:val>
          <c:smooth val="0"/>
        </c:ser>
        <c:dLbls>
          <c:showLegendKey val="0"/>
          <c:showVal val="0"/>
          <c:showCatName val="0"/>
          <c:showSerName val="0"/>
          <c:showPercent val="0"/>
          <c:showBubbleSize val="0"/>
        </c:dLbls>
        <c:marker val="1"/>
        <c:smooth val="0"/>
        <c:axId val="2105600936"/>
        <c:axId val="2105604040"/>
      </c:lineChart>
      <c:catAx>
        <c:axId val="2105600936"/>
        <c:scaling>
          <c:orientation val="minMax"/>
        </c:scaling>
        <c:delete val="0"/>
        <c:axPos val="b"/>
        <c:numFmt formatCode="General" sourceLinked="1"/>
        <c:majorTickMark val="out"/>
        <c:minorTickMark val="none"/>
        <c:tickLblPos val="nextTo"/>
        <c:txPr>
          <a:bodyPr/>
          <a:lstStyle/>
          <a:p>
            <a:pPr>
              <a:defRPr sz="1400" baseline="0">
                <a:latin typeface="Tahoma" charset="0"/>
              </a:defRPr>
            </a:pPr>
            <a:endParaRPr lang="en-US"/>
          </a:p>
        </c:txPr>
        <c:crossAx val="2105604040"/>
        <c:crosses val="autoZero"/>
        <c:auto val="1"/>
        <c:lblAlgn val="ctr"/>
        <c:lblOffset val="100"/>
        <c:noMultiLvlLbl val="0"/>
      </c:catAx>
      <c:valAx>
        <c:axId val="2105604040"/>
        <c:scaling>
          <c:orientation val="minMax"/>
        </c:scaling>
        <c:delete val="0"/>
        <c:axPos val="l"/>
        <c:majorGridlines/>
        <c:numFmt formatCode="General" sourceLinked="1"/>
        <c:majorTickMark val="out"/>
        <c:minorTickMark val="none"/>
        <c:tickLblPos val="nextTo"/>
        <c:txPr>
          <a:bodyPr/>
          <a:lstStyle/>
          <a:p>
            <a:pPr>
              <a:defRPr sz="1600" baseline="0">
                <a:latin typeface="Tahoma" charset="0"/>
              </a:defRPr>
            </a:pPr>
            <a:endParaRPr lang="en-US"/>
          </a:p>
        </c:txPr>
        <c:crossAx val="2105600936"/>
        <c:crosses val="autoZero"/>
        <c:crossBetween val="between"/>
      </c:valAx>
    </c:plotArea>
    <c:legend>
      <c:legendPos val="r"/>
      <c:layout>
        <c:manualLayout>
          <c:xMode val="edge"/>
          <c:yMode val="edge"/>
          <c:x val="0.702101449275362"/>
          <c:y val="0.693832661161257"/>
          <c:w val="0.160217391304348"/>
          <c:h val="0.146836630177325"/>
        </c:manualLayout>
      </c:layout>
      <c:overlay val="1"/>
      <c:spPr>
        <a:solidFill>
          <a:schemeClr val="bg1"/>
        </a:solidFill>
        <a:ln>
          <a:solidFill>
            <a:schemeClr val="tx1">
              <a:lumMod val="75000"/>
              <a:lumOff val="25000"/>
            </a:schemeClr>
          </a:solidFill>
        </a:ln>
        <a:effectLst>
          <a:outerShdw blurRad="50800" dist="38100" dir="2700000" algn="tl" rotWithShape="0">
            <a:prstClr val="black">
              <a:alpha val="39000"/>
            </a:prstClr>
          </a:outerShdw>
        </a:effectLst>
      </c:spPr>
      <c:txPr>
        <a:bodyPr/>
        <a:lstStyle/>
        <a:p>
          <a:pPr>
            <a:defRPr sz="1600" baseline="0">
              <a:latin typeface="Tahoma" charset="0"/>
              <a:ea typeface="Tahoma" charset="0"/>
              <a:cs typeface="Tahoma" charset="0"/>
            </a:defRPr>
          </a:pPr>
          <a:endParaRPr lang="en-US"/>
        </a:p>
      </c:txPr>
    </c:legend>
    <c:plotVisOnly val="1"/>
    <c:dispBlanksAs val="gap"/>
    <c:showDLblsOverMax val="0"/>
  </c:chart>
  <c:spPr>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96C1FD-A5BD-4DC8-B158-277CB0070C42}" type="datetimeFigureOut">
              <a:rPr lang="en-US" smtClean="0"/>
              <a:pPr/>
              <a:t>4/19/15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0B45A4-6FBF-4ECF-BDC0-4ADA6521946D}" type="slidenum">
              <a:rPr lang="en-US" smtClean="0"/>
              <a:pPr/>
              <a:t>‹#›</a:t>
            </a:fld>
            <a:endParaRPr lang="en-US"/>
          </a:p>
        </p:txBody>
      </p:sp>
    </p:spTree>
    <p:extLst>
      <p:ext uri="{BB962C8B-B14F-4D97-AF65-F5344CB8AC3E}">
        <p14:creationId xmlns:p14="http://schemas.microsoft.com/office/powerpoint/2010/main" val="2962101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E0B45A4-6FBF-4ECF-BDC0-4ADA6521946D}" type="slidenum">
              <a:rPr lang="en-US" smtClean="0"/>
              <a:pPr/>
              <a:t>1</a:t>
            </a:fld>
            <a:endParaRPr lang="en-US"/>
          </a:p>
        </p:txBody>
      </p:sp>
    </p:spTree>
    <p:extLst>
      <p:ext uri="{BB962C8B-B14F-4D97-AF65-F5344CB8AC3E}">
        <p14:creationId xmlns:p14="http://schemas.microsoft.com/office/powerpoint/2010/main" val="846930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4/19/15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4/19/15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A44E54-DA80-4FE2-8F03-CB9C1FF639FA}" type="datetimeFigureOut">
              <a:rPr lang="en-US" smtClean="0"/>
              <a:pPr/>
              <a:t>4/19/15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A44E54-DA80-4FE2-8F03-CB9C1FF639FA}" type="datetimeFigureOut">
              <a:rPr lang="en-US" smtClean="0"/>
              <a:pPr/>
              <a:t>4/19/15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A44E54-DA80-4FE2-8F03-CB9C1FF639FA}" type="datetimeFigureOut">
              <a:rPr lang="en-US" smtClean="0"/>
              <a:pPr/>
              <a:t>4/19/15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A44E54-DA80-4FE2-8F03-CB9C1FF639FA}" type="datetimeFigureOut">
              <a:rPr lang="en-US" smtClean="0"/>
              <a:pPr/>
              <a:t>4/19/15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A44E54-DA80-4FE2-8F03-CB9C1FF639FA}" type="datetimeFigureOut">
              <a:rPr lang="en-US" smtClean="0"/>
              <a:pPr/>
              <a:t>4/19/15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smtClean="0"/>
              <a:t>Click to edit Master title style</a:t>
            </a:r>
            <a:endParaRPr lang="en-US"/>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A44E54-DA80-4FE2-8F03-CB9C1FF639FA}" type="datetimeFigureOut">
              <a:rPr lang="en-US" smtClean="0"/>
              <a:pPr/>
              <a:t>4/19/15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smtClean="0"/>
              <a:t>Click to edit Master title style</a:t>
            </a:r>
            <a:endParaRPr lang="en-US"/>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A44E54-DA80-4FE2-8F03-CB9C1FF639FA}" type="datetimeFigureOut">
              <a:rPr lang="en-US" smtClean="0"/>
              <a:pPr/>
              <a:t>4/19/15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4/19/15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4/19/15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85A44E54-DA80-4FE2-8F03-CB9C1FF639FA}" type="datetimeFigureOut">
              <a:rPr lang="en-US" smtClean="0"/>
              <a:pPr/>
              <a:t>4/19/15</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2E0098CB-F1F7-414E-BB61-E4E1665BA50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838200"/>
            <a:ext cx="43129200" cy="3886200"/>
          </a:xfrm>
          <a:prstGeom prst="rect">
            <a:avLst/>
          </a:prstGeom>
          <a:solidFill>
            <a:srgbClr val="F8F8F8"/>
          </a:solid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US" sz="9600" dirty="0" smtClean="0">
                <a:latin typeface="Tahoma" pitchFamily="34" charset="0"/>
                <a:ea typeface="Tahoma" pitchFamily="34" charset="0"/>
                <a:cs typeface="Tahoma" pitchFamily="34" charset="0"/>
              </a:rPr>
              <a:t>Positive Impacts of Housing Reinvestment In Worcester</a:t>
            </a:r>
          </a:p>
          <a:p>
            <a:pPr algn="ctr">
              <a:lnSpc>
                <a:spcPct val="150000"/>
              </a:lnSpc>
            </a:pPr>
            <a:r>
              <a:rPr lang="en-US" sz="6600" dirty="0" smtClean="0">
                <a:latin typeface="Tahoma" pitchFamily="34" charset="0"/>
                <a:ea typeface="Tahoma" pitchFamily="34" charset="0"/>
                <a:cs typeface="Tahoma" pitchFamily="34" charset="0"/>
              </a:rPr>
              <a:t>Joseph Biasi ‘15– (Sponsor: Professor John Brown)</a:t>
            </a:r>
          </a:p>
        </p:txBody>
      </p:sp>
      <p:sp>
        <p:nvSpPr>
          <p:cNvPr id="5" name="Rectangle 4"/>
          <p:cNvSpPr/>
          <p:nvPr/>
        </p:nvSpPr>
        <p:spPr>
          <a:xfrm>
            <a:off x="1066800" y="4724400"/>
            <a:ext cx="13030200" cy="652658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spcAft>
                <a:spcPts val="1200"/>
              </a:spcAft>
            </a:pPr>
            <a:r>
              <a:rPr lang="en-US" sz="4000" b="1" u="sng" dirty="0" smtClean="0">
                <a:latin typeface="Tahoma" charset="0"/>
                <a:ea typeface="Tahoma" charset="0"/>
                <a:cs typeface="Tahoma" charset="0"/>
              </a:rPr>
              <a:t>Question:</a:t>
            </a:r>
            <a:r>
              <a:rPr lang="en-US" sz="4000" b="1" dirty="0" smtClean="0">
                <a:latin typeface="Tahoma" charset="0"/>
                <a:ea typeface="Tahoma" charset="0"/>
                <a:cs typeface="Tahoma" charset="0"/>
              </a:rPr>
              <a:t> </a:t>
            </a:r>
            <a:r>
              <a:rPr lang="en-US" sz="4000" b="1" dirty="0">
                <a:latin typeface="Tahoma" charset="0"/>
                <a:ea typeface="Tahoma" charset="0"/>
                <a:cs typeface="Tahoma" charset="0"/>
              </a:rPr>
              <a:t> </a:t>
            </a:r>
            <a:r>
              <a:rPr lang="en-US" sz="4000" dirty="0" smtClean="0">
                <a:latin typeface="Tahoma" charset="0"/>
                <a:ea typeface="Tahoma" charset="0"/>
                <a:cs typeface="Tahoma" charset="0"/>
              </a:rPr>
              <a:t>Do small</a:t>
            </a:r>
            <a:r>
              <a:rPr lang="en-US" sz="4000" dirty="0">
                <a:latin typeface="Tahoma" charset="0"/>
                <a:ea typeface="Tahoma" charset="0"/>
                <a:cs typeface="Tahoma" charset="0"/>
              </a:rPr>
              <a:t> </a:t>
            </a:r>
            <a:r>
              <a:rPr lang="en-US" sz="4000" dirty="0" smtClean="0">
                <a:latin typeface="Tahoma" charset="0"/>
                <a:ea typeface="Tahoma" charset="0"/>
                <a:cs typeface="Tahoma" charset="0"/>
              </a:rPr>
              <a:t>home improvement loans have a spill-over effect into the community?</a:t>
            </a:r>
            <a:endParaRPr lang="en-US" sz="4000" b="1" dirty="0" smtClean="0">
              <a:latin typeface="Tahoma" charset="0"/>
              <a:ea typeface="Tahoma" charset="0"/>
              <a:cs typeface="Tahoma" charset="0"/>
            </a:endParaRPr>
          </a:p>
          <a:p>
            <a:pPr>
              <a:spcBef>
                <a:spcPts val="1800"/>
              </a:spcBef>
              <a:spcAft>
                <a:spcPts val="600"/>
              </a:spcAft>
            </a:pPr>
            <a:r>
              <a:rPr lang="en-US" sz="3200" b="1" u="sng" dirty="0">
                <a:solidFill>
                  <a:schemeClr val="tx1"/>
                </a:solidFill>
                <a:latin typeface="Tahoma" pitchFamily="34" charset="0"/>
                <a:ea typeface="Tahoma" pitchFamily="34" charset="0"/>
                <a:cs typeface="Tahoma" pitchFamily="34" charset="0"/>
              </a:rPr>
              <a:t>Worcester’s Housing Market</a:t>
            </a:r>
          </a:p>
          <a:p>
            <a:r>
              <a:rPr lang="en-US" sz="2800" dirty="0">
                <a:solidFill>
                  <a:schemeClr val="tx1"/>
                </a:solidFill>
                <a:latin typeface="Tahoma" charset="0"/>
                <a:ea typeface="Tahoma" charset="0"/>
                <a:cs typeface="Tahoma" charset="0"/>
              </a:rPr>
              <a:t>A driving factor of Worcester’s housing market is its relationship with Boston. Worcester experiences a muted version of the growth in Boston, but suffers the same, if not worse, consequences in a recession. The plummeting home values and unemployment experienced during the financial crisis decreased homeowners home equity and capital leaving marginal homeowners unable to spend or borrow enough capital to maintain the same level of maintenance as they did before the crisis. Community Development Financial Institutions, or CDFI’s, have begun to address this problem. </a:t>
            </a:r>
          </a:p>
          <a:p>
            <a:endParaRPr lang="en-US" sz="2800" dirty="0">
              <a:solidFill>
                <a:schemeClr val="tx1"/>
              </a:solidFill>
              <a:latin typeface="Tahoma" charset="0"/>
              <a:ea typeface="Tahoma" charset="0"/>
              <a:cs typeface="Tahoma" charset="0"/>
            </a:endParaRPr>
          </a:p>
        </p:txBody>
      </p:sp>
      <p:pic>
        <p:nvPicPr>
          <p:cNvPr id="1026" name="Picture 2" descr="C:\Users\drourke\Desktop\Poster Templates\Source Images\ab2_CU_Logo_4c_Larg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8958" y="838200"/>
            <a:ext cx="5391242" cy="1828800"/>
          </a:xfrm>
          <a:prstGeom prst="rect">
            <a:avLst/>
          </a:prstGeom>
          <a:noFill/>
        </p:spPr>
      </p:pic>
      <p:sp>
        <p:nvSpPr>
          <p:cNvPr id="18" name="Rectangle 17"/>
          <p:cNvSpPr/>
          <p:nvPr/>
        </p:nvSpPr>
        <p:spPr>
          <a:xfrm>
            <a:off x="1023257" y="23965495"/>
            <a:ext cx="13106400" cy="7315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nSpc>
                <a:spcPct val="150000"/>
              </a:lnSpc>
            </a:pPr>
            <a:endParaRPr lang="en-US" sz="2800" dirty="0" smtClean="0">
              <a:latin typeface="Tahoma" charset="0"/>
              <a:ea typeface="Tahoma" charset="0"/>
              <a:cs typeface="Tahoma" charset="0"/>
            </a:endParaRPr>
          </a:p>
        </p:txBody>
      </p:sp>
      <p:graphicFrame>
        <p:nvGraphicFramePr>
          <p:cNvPr id="23" name="Table 22"/>
          <p:cNvGraphicFramePr>
            <a:graphicFrameLocks noGrp="1"/>
          </p:cNvGraphicFramePr>
          <p:nvPr>
            <p:extLst>
              <p:ext uri="{D42A27DB-BD31-4B8C-83A1-F6EECF244321}">
                <p14:modId xmlns:p14="http://schemas.microsoft.com/office/powerpoint/2010/main" val="3288325196"/>
              </p:ext>
            </p:extLst>
          </p:nvPr>
        </p:nvGraphicFramePr>
        <p:xfrm>
          <a:off x="28668785" y="13448970"/>
          <a:ext cx="13716000" cy="10675950"/>
        </p:xfrm>
        <a:graphic>
          <a:graphicData uri="http://schemas.openxmlformats.org/drawingml/2006/table">
            <a:tbl>
              <a:tblPr firstRow="1" firstCol="1" bandRow="1">
                <a:effectLst>
                  <a:outerShdw blurRad="63500" dist="38100" dir="2700000" algn="tl" rotWithShape="0">
                    <a:prstClr val="black">
                      <a:alpha val="40000"/>
                    </a:prstClr>
                  </a:outerShdw>
                </a:effectLst>
                <a:tableStyleId>{5C22544A-7EE6-4342-B048-85BDC9FD1C3A}</a:tableStyleId>
              </a:tblPr>
              <a:tblGrid>
                <a:gridCol w="3146501"/>
                <a:gridCol w="2434793"/>
                <a:gridCol w="4057988"/>
                <a:gridCol w="4076718"/>
              </a:tblGrid>
              <a:tr h="743516">
                <a:tc gridSpan="4">
                  <a:txBody>
                    <a:bodyPr/>
                    <a:lstStyle/>
                    <a:p>
                      <a:pPr marL="0" algn="l" defTabSz="4389120" rtl="0" eaLnBrk="1" latinLnBrk="0" hangingPunct="1">
                        <a:lnSpc>
                          <a:spcPct val="150000"/>
                        </a:lnSpc>
                        <a:spcBef>
                          <a:spcPts val="1800"/>
                        </a:spcBef>
                        <a:spcAft>
                          <a:spcPts val="600"/>
                        </a:spcAft>
                      </a:pPr>
                      <a:r>
                        <a:rPr lang="en-US" sz="3200" b="1" u="sng" kern="1200" dirty="0" smtClean="0">
                          <a:solidFill>
                            <a:schemeClr val="tx1"/>
                          </a:solidFill>
                          <a:latin typeface="Tahoma" charset="0"/>
                          <a:ea typeface="Tahoma" charset="0"/>
                          <a:cs typeface="Tahoma" charset="0"/>
                        </a:rPr>
                        <a:t>Case 1 and 2 Results</a:t>
                      </a:r>
                      <a:endParaRPr lang="en-US" sz="3200" b="1" u="sng" kern="120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2800" dirty="0">
                        <a:solidFill>
                          <a:schemeClr val="tx1"/>
                        </a:solidFill>
                        <a:latin typeface="Tahoma" pitchFamily="34" charset="0"/>
                        <a:ea typeface="Tahoma" pitchFamily="34" charset="0"/>
                        <a:cs typeface="Tahoma" pitchFamily="34" charset="0"/>
                      </a:endParaRPr>
                    </a:p>
                  </a:txBody>
                  <a:tcPr anchor="b">
                    <a:noFill/>
                  </a:tcPr>
                </a:tc>
                <a:tc hMerge="1">
                  <a:txBody>
                    <a:bodyPr/>
                    <a:lstStyle/>
                    <a:p>
                      <a:pPr algn="ctr"/>
                      <a:endParaRPr lang="en-US" sz="2800" dirty="0">
                        <a:solidFill>
                          <a:schemeClr val="tx1"/>
                        </a:solidFill>
                        <a:latin typeface="Tahoma" pitchFamily="34" charset="0"/>
                        <a:ea typeface="Tahoma" pitchFamily="34" charset="0"/>
                        <a:cs typeface="Tahoma" pitchFamily="34" charset="0"/>
                      </a:endParaRPr>
                    </a:p>
                  </a:txBody>
                  <a:tcPr anchor="b">
                    <a:noFill/>
                  </a:tcPr>
                </a:tc>
                <a:tc hMerge="1">
                  <a:txBody>
                    <a:bodyPr/>
                    <a:lstStyle/>
                    <a:p>
                      <a:pPr algn="ctr"/>
                      <a:endParaRPr lang="en-US" sz="2800" dirty="0">
                        <a:solidFill>
                          <a:schemeClr val="tx1"/>
                        </a:solidFill>
                        <a:latin typeface="Tahoma" pitchFamily="34" charset="0"/>
                        <a:ea typeface="Tahoma" pitchFamily="34" charset="0"/>
                        <a:cs typeface="Tahoma" pitchFamily="34" charset="0"/>
                      </a:endParaRPr>
                    </a:p>
                  </a:txBody>
                  <a:tcPr anchor="b">
                    <a:noFill/>
                  </a:tcPr>
                </a:tc>
              </a:tr>
              <a:tr h="1272870">
                <a:tc>
                  <a:txBody>
                    <a:bodyPr/>
                    <a:lstStyle/>
                    <a:p>
                      <a:pPr algn="ctr"/>
                      <a:endParaRPr lang="en-US" sz="2400" dirty="0">
                        <a:solidFill>
                          <a:schemeClr val="tx1"/>
                        </a:solidFill>
                        <a:latin typeface="Tahoma" charset="0"/>
                        <a:ea typeface="Tahoma" charset="0"/>
                        <a:cs typeface="Tahoma" charset="0"/>
                      </a:endParaRPr>
                    </a:p>
                  </a:txBody>
                  <a:tcPr anchor="ctr">
                    <a:lnL w="28575"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4389120" rtl="0" eaLnBrk="1" latinLnBrk="0" hangingPunct="1">
                        <a:lnSpc>
                          <a:spcPct val="100000"/>
                        </a:lnSpc>
                        <a:spcBef>
                          <a:spcPts val="0"/>
                        </a:spcBef>
                        <a:spcAft>
                          <a:spcPts val="0"/>
                        </a:spcAft>
                      </a:pPr>
                      <a:r>
                        <a:rPr lang="en-US" sz="3200" b="1" u="sng" kern="1200" dirty="0" smtClean="0">
                          <a:solidFill>
                            <a:schemeClr val="tx1"/>
                          </a:solidFill>
                          <a:latin typeface="Tahoma" charset="0"/>
                          <a:ea typeface="Tahoma" charset="0"/>
                          <a:cs typeface="Tahoma" charset="0"/>
                        </a:rPr>
                        <a:t>Mean</a:t>
                      </a:r>
                    </a:p>
                    <a:p>
                      <a:pPr marL="0" algn="ctr" defTabSz="4389120" rtl="0" eaLnBrk="1" latinLnBrk="0" hangingPunct="1">
                        <a:lnSpc>
                          <a:spcPct val="100000"/>
                        </a:lnSpc>
                        <a:spcBef>
                          <a:spcPts val="0"/>
                        </a:spcBef>
                        <a:spcAft>
                          <a:spcPts val="0"/>
                        </a:spcAft>
                      </a:pPr>
                      <a:r>
                        <a:rPr lang="en-US" sz="3200" b="1" u="sng" kern="1200" dirty="0" smtClean="0">
                          <a:solidFill>
                            <a:schemeClr val="tx1"/>
                          </a:solidFill>
                          <a:latin typeface="Tahoma" charset="0"/>
                          <a:ea typeface="Tahoma" charset="0"/>
                          <a:cs typeface="Tahoma" charset="0"/>
                        </a:rPr>
                        <a:t>(Std Dev)</a:t>
                      </a:r>
                      <a:endParaRPr lang="en-US" sz="3200" b="1" u="sng" kern="1200" dirty="0">
                        <a:solidFill>
                          <a:schemeClr val="tx1"/>
                        </a:solidFill>
                        <a:latin typeface="Tahoma" charset="0"/>
                        <a:ea typeface="Tahoma" charset="0"/>
                        <a:cs typeface="Tahoma" charset="0"/>
                      </a:endParaRPr>
                    </a:p>
                  </a:txBody>
                  <a:tcPr anchor="ct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4389120" rtl="0" eaLnBrk="1" latinLnBrk="0" hangingPunct="1">
                        <a:lnSpc>
                          <a:spcPct val="100000"/>
                        </a:lnSpc>
                        <a:spcBef>
                          <a:spcPts val="0"/>
                        </a:spcBef>
                        <a:spcAft>
                          <a:spcPts val="0"/>
                        </a:spcAft>
                      </a:pPr>
                      <a:r>
                        <a:rPr lang="en-US" sz="3200" b="1" u="sng" kern="1200" dirty="0" smtClean="0">
                          <a:solidFill>
                            <a:schemeClr val="tx1"/>
                          </a:solidFill>
                          <a:latin typeface="Tahoma" charset="0"/>
                          <a:ea typeface="Tahoma" charset="0"/>
                          <a:cs typeface="Tahoma" charset="0"/>
                        </a:rPr>
                        <a:t>Case 1</a:t>
                      </a:r>
                    </a:p>
                    <a:p>
                      <a:pPr marL="0" algn="ctr" defTabSz="4389120" rtl="0" eaLnBrk="1" latinLnBrk="0" hangingPunct="1">
                        <a:lnSpc>
                          <a:spcPct val="100000"/>
                        </a:lnSpc>
                        <a:spcBef>
                          <a:spcPts val="0"/>
                        </a:spcBef>
                        <a:spcAft>
                          <a:spcPts val="0"/>
                        </a:spcAft>
                      </a:pPr>
                      <a:r>
                        <a:rPr lang="en-US" sz="3200" b="1" u="sng" kern="1200" dirty="0" smtClean="0">
                          <a:solidFill>
                            <a:schemeClr val="tx1"/>
                          </a:solidFill>
                          <a:latin typeface="Tahoma" charset="0"/>
                          <a:ea typeface="Tahoma" charset="0"/>
                          <a:cs typeface="Tahoma" charset="0"/>
                        </a:rPr>
                        <a:t>Ln(</a:t>
                      </a:r>
                      <a:r>
                        <a:rPr lang="en-US" sz="3200" b="1" u="sng" kern="1200" dirty="0" err="1" smtClean="0">
                          <a:solidFill>
                            <a:schemeClr val="tx1"/>
                          </a:solidFill>
                          <a:latin typeface="Tahoma" charset="0"/>
                          <a:ea typeface="Tahoma" charset="0"/>
                          <a:cs typeface="Tahoma" charset="0"/>
                        </a:rPr>
                        <a:t>saleamount</a:t>
                      </a:r>
                      <a:r>
                        <a:rPr lang="en-US" sz="3200" b="1" u="sng" kern="1200" dirty="0" smtClean="0">
                          <a:solidFill>
                            <a:schemeClr val="tx1"/>
                          </a:solidFill>
                          <a:latin typeface="Tahoma" charset="0"/>
                          <a:ea typeface="Tahoma" charset="0"/>
                          <a:cs typeface="Tahoma" charset="0"/>
                        </a:rPr>
                        <a:t>)</a:t>
                      </a:r>
                      <a:endParaRPr lang="en-US" sz="3200" b="1" u="sng" kern="1200" dirty="0">
                        <a:solidFill>
                          <a:schemeClr val="tx1"/>
                        </a:solidFill>
                        <a:latin typeface="Tahoma" charset="0"/>
                        <a:ea typeface="Tahoma" charset="0"/>
                        <a:cs typeface="Tahoma" charset="0"/>
                      </a:endParaRPr>
                    </a:p>
                  </a:txBody>
                  <a:tcPr anchor="ctr">
                    <a:lnL w="12700" cmpd="sng">
                      <a:noFill/>
                    </a:lnL>
                    <a:lnR w="12700" cmpd="sng">
                      <a:noFill/>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4389120" rtl="0" eaLnBrk="1" latinLnBrk="0" hangingPunct="1">
                        <a:lnSpc>
                          <a:spcPct val="100000"/>
                        </a:lnSpc>
                        <a:spcBef>
                          <a:spcPts val="0"/>
                        </a:spcBef>
                        <a:spcAft>
                          <a:spcPts val="0"/>
                        </a:spcAft>
                      </a:pPr>
                      <a:r>
                        <a:rPr lang="en-US" sz="3200" b="1" u="sng" kern="1200" dirty="0" smtClean="0">
                          <a:solidFill>
                            <a:schemeClr val="tx1"/>
                          </a:solidFill>
                          <a:latin typeface="Tahoma" charset="0"/>
                          <a:ea typeface="Tahoma" charset="0"/>
                          <a:cs typeface="Tahoma" charset="0"/>
                        </a:rPr>
                        <a:t>Case 2</a:t>
                      </a:r>
                    </a:p>
                    <a:p>
                      <a:pPr marL="0" algn="ctr" defTabSz="4389120" rtl="0" eaLnBrk="1" latinLnBrk="0" hangingPunct="1">
                        <a:lnSpc>
                          <a:spcPct val="100000"/>
                        </a:lnSpc>
                        <a:spcBef>
                          <a:spcPts val="0"/>
                        </a:spcBef>
                        <a:spcAft>
                          <a:spcPts val="0"/>
                        </a:spcAft>
                      </a:pPr>
                      <a:r>
                        <a:rPr lang="en-US" sz="3200" b="1" u="sng" kern="1200" dirty="0" smtClean="0">
                          <a:solidFill>
                            <a:schemeClr val="tx1"/>
                          </a:solidFill>
                          <a:latin typeface="Tahoma" charset="0"/>
                          <a:ea typeface="Tahoma" charset="0"/>
                          <a:cs typeface="Tahoma" charset="0"/>
                        </a:rPr>
                        <a:t>Ln(sale amount)</a:t>
                      </a:r>
                      <a:endParaRPr lang="en-US" sz="3200" b="1" u="sng" kern="1200" dirty="0">
                        <a:solidFill>
                          <a:schemeClr val="tx1"/>
                        </a:solidFill>
                        <a:latin typeface="Tahoma" charset="0"/>
                        <a:ea typeface="Tahoma" charset="0"/>
                        <a:cs typeface="Tahoma" charset="0"/>
                      </a:endParaRPr>
                    </a:p>
                  </a:txBody>
                  <a:tcPr anchor="ctr">
                    <a:lnL w="12700" cmpd="sng">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1092200">
                <a:tc>
                  <a:txBody>
                    <a:bodyPr/>
                    <a:lstStyle/>
                    <a:p>
                      <a:pPr algn="l"/>
                      <a:r>
                        <a:rPr lang="en-US" sz="2800" dirty="0" smtClean="0">
                          <a:solidFill>
                            <a:schemeClr val="tx1"/>
                          </a:solidFill>
                          <a:latin typeface="Tahoma" charset="0"/>
                          <a:ea typeface="Tahoma" charset="0"/>
                          <a:cs typeface="Tahoma" charset="0"/>
                        </a:rPr>
                        <a:t>Accepted</a:t>
                      </a:r>
                      <a:endParaRPr lang="en-US" sz="2800" b="1" dirty="0">
                        <a:solidFill>
                          <a:schemeClr val="tx1"/>
                        </a:solidFill>
                        <a:latin typeface="Tahoma" charset="0"/>
                        <a:ea typeface="Tahoma" charset="0"/>
                        <a:cs typeface="Tahoma" charset="0"/>
                      </a:endParaRPr>
                    </a:p>
                  </a:txBody>
                  <a:tcPr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.4792</a:t>
                      </a:r>
                      <a:br>
                        <a:rPr lang="en-US" sz="2800" dirty="0" smtClean="0">
                          <a:solidFill>
                            <a:schemeClr val="tx1"/>
                          </a:solidFill>
                          <a:latin typeface="Tahoma" charset="0"/>
                          <a:ea typeface="Tahoma" charset="0"/>
                          <a:cs typeface="Tahoma" charset="0"/>
                        </a:rPr>
                      </a:br>
                      <a:r>
                        <a:rPr lang="en-US" sz="2400" dirty="0" smtClean="0">
                          <a:solidFill>
                            <a:schemeClr val="tx1"/>
                          </a:solidFill>
                          <a:latin typeface="Tahoma" charset="0"/>
                          <a:ea typeface="Tahoma" charset="0"/>
                          <a:cs typeface="Tahoma" charset="0"/>
                        </a:rPr>
                        <a:t>(.4996)</a:t>
                      </a:r>
                      <a:endParaRPr lang="en-US" sz="2800" b="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0.0923</a:t>
                      </a:r>
                    </a:p>
                    <a:p>
                      <a:pPr algn="ctr" fontAlgn="b"/>
                      <a:r>
                        <a:rPr lang="en-US" sz="2400" u="none" strike="noStrike" dirty="0" smtClean="0">
                          <a:solidFill>
                            <a:schemeClr val="tx1"/>
                          </a:solidFill>
                          <a:effectLst/>
                          <a:latin typeface="Tahoma" charset="0"/>
                          <a:ea typeface="Tahoma" charset="0"/>
                          <a:cs typeface="Tahoma" charset="0"/>
                        </a:rPr>
                        <a:t> </a:t>
                      </a:r>
                      <a:r>
                        <a:rPr lang="en-US" sz="2400" u="none" strike="noStrike" dirty="0">
                          <a:solidFill>
                            <a:schemeClr val="tx1"/>
                          </a:solidFill>
                          <a:effectLst/>
                          <a:latin typeface="Tahoma" charset="0"/>
                          <a:ea typeface="Tahoma" charset="0"/>
                          <a:cs typeface="Tahoma" charset="0"/>
                        </a:rPr>
                        <a:t>(3.1)</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0.0402</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2.12)</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1092200">
                <a:tc>
                  <a:txBody>
                    <a:bodyPr/>
                    <a:lstStyle/>
                    <a:p>
                      <a:pPr algn="l"/>
                      <a:r>
                        <a:rPr lang="en-US" sz="2800" dirty="0" smtClean="0">
                          <a:solidFill>
                            <a:schemeClr val="tx1"/>
                          </a:solidFill>
                          <a:latin typeface="Tahoma" charset="0"/>
                          <a:ea typeface="Tahoma" charset="0"/>
                          <a:cs typeface="Tahoma" charset="0"/>
                        </a:rPr>
                        <a:t>Age</a:t>
                      </a:r>
                      <a:endParaRPr lang="en-US" sz="2800" b="1" dirty="0">
                        <a:solidFill>
                          <a:schemeClr val="tx1"/>
                        </a:solidFill>
                        <a:latin typeface="Tahoma" charset="0"/>
                        <a:ea typeface="Tahoma" charset="0"/>
                        <a:cs typeface="Tahoma" charset="0"/>
                      </a:endParaRPr>
                    </a:p>
                  </a:txBody>
                  <a:tcPr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88.50</a:t>
                      </a:r>
                    </a:p>
                    <a:p>
                      <a:pPr algn="ctr"/>
                      <a:r>
                        <a:rPr lang="en-US" sz="2400" dirty="0" smtClean="0">
                          <a:solidFill>
                            <a:schemeClr val="tx1"/>
                          </a:solidFill>
                          <a:latin typeface="Tahoma" charset="0"/>
                          <a:ea typeface="Tahoma" charset="0"/>
                          <a:cs typeface="Tahoma" charset="0"/>
                        </a:rPr>
                        <a:t>(37.21)</a:t>
                      </a:r>
                      <a:endParaRPr lang="en-US" sz="2400" b="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400" u="none" strike="noStrike" dirty="0">
                          <a:solidFill>
                            <a:schemeClr val="tx1"/>
                          </a:solidFill>
                          <a:effectLst/>
                          <a:latin typeface="Tahoma" charset="0"/>
                          <a:ea typeface="Tahoma" charset="0"/>
                          <a:cs typeface="Tahoma" charset="0"/>
                        </a:rPr>
                        <a:t>-</a:t>
                      </a:r>
                      <a:r>
                        <a:rPr lang="en-US" sz="2800" u="none" strike="noStrike" dirty="0" smtClean="0">
                          <a:solidFill>
                            <a:schemeClr val="tx1"/>
                          </a:solidFill>
                          <a:effectLst/>
                          <a:latin typeface="Tahoma" charset="0"/>
                          <a:ea typeface="Tahoma" charset="0"/>
                          <a:cs typeface="Tahoma" charset="0"/>
                        </a:rPr>
                        <a:t>0.00288</a:t>
                      </a:r>
                    </a:p>
                    <a:p>
                      <a:pPr algn="ctr" fontAlgn="b"/>
                      <a:r>
                        <a:rPr lang="en-US" sz="2400" u="none" strike="noStrike" dirty="0" smtClean="0">
                          <a:solidFill>
                            <a:schemeClr val="tx1"/>
                          </a:solidFill>
                          <a:effectLst/>
                          <a:latin typeface="Tahoma" charset="0"/>
                          <a:ea typeface="Tahoma" charset="0"/>
                          <a:cs typeface="Tahoma" charset="0"/>
                        </a:rPr>
                        <a:t> </a:t>
                      </a:r>
                      <a:r>
                        <a:rPr lang="en-US" sz="2400" u="none" strike="noStrike" dirty="0">
                          <a:solidFill>
                            <a:schemeClr val="tx1"/>
                          </a:solidFill>
                          <a:effectLst/>
                          <a:latin typeface="Tahoma" charset="0"/>
                          <a:ea typeface="Tahoma" charset="0"/>
                          <a:cs typeface="Tahoma" charset="0"/>
                        </a:rPr>
                        <a:t>(-5.25)</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a:solidFill>
                            <a:schemeClr val="tx1"/>
                          </a:solidFill>
                          <a:effectLst/>
                          <a:latin typeface="Tahoma" charset="0"/>
                          <a:ea typeface="Tahoma" charset="0"/>
                          <a:cs typeface="Tahoma" charset="0"/>
                        </a:rPr>
                        <a:t>-</a:t>
                      </a:r>
                      <a:r>
                        <a:rPr lang="en-US" sz="2800" u="none" strike="noStrike" dirty="0" smtClean="0">
                          <a:solidFill>
                            <a:schemeClr val="tx1"/>
                          </a:solidFill>
                          <a:effectLst/>
                          <a:latin typeface="Tahoma" charset="0"/>
                          <a:ea typeface="Tahoma" charset="0"/>
                          <a:cs typeface="Tahoma" charset="0"/>
                        </a:rPr>
                        <a:t>0.00219</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-8.42)</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1092200">
                <a:tc>
                  <a:txBody>
                    <a:bodyPr/>
                    <a:lstStyle/>
                    <a:p>
                      <a:pPr algn="l"/>
                      <a:r>
                        <a:rPr lang="en-US" sz="2800" dirty="0" smtClean="0">
                          <a:solidFill>
                            <a:schemeClr val="tx1"/>
                          </a:solidFill>
                          <a:latin typeface="Tahoma" charset="0"/>
                          <a:ea typeface="Tahoma" charset="0"/>
                          <a:cs typeface="Tahoma" charset="0"/>
                        </a:rPr>
                        <a:t>Fireplace</a:t>
                      </a:r>
                      <a:endParaRPr lang="en-US" sz="2800" b="1" dirty="0">
                        <a:solidFill>
                          <a:schemeClr val="tx1"/>
                        </a:solidFill>
                        <a:latin typeface="Tahoma" charset="0"/>
                        <a:ea typeface="Tahoma" charset="0"/>
                        <a:cs typeface="Tahoma" charset="0"/>
                      </a:endParaRPr>
                    </a:p>
                  </a:txBody>
                  <a:tcPr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.2163</a:t>
                      </a:r>
                    </a:p>
                    <a:p>
                      <a:pPr algn="ctr"/>
                      <a:r>
                        <a:rPr lang="en-US" sz="2400" dirty="0" smtClean="0">
                          <a:solidFill>
                            <a:schemeClr val="tx1"/>
                          </a:solidFill>
                          <a:latin typeface="Tahoma" charset="0"/>
                          <a:ea typeface="Tahoma" charset="0"/>
                          <a:cs typeface="Tahoma" charset="0"/>
                        </a:rPr>
                        <a:t>(.4118)</a:t>
                      </a:r>
                      <a:endParaRPr lang="en-US" sz="2400" b="0" dirty="0" smtClean="0">
                        <a:solidFill>
                          <a:schemeClr val="tx1"/>
                        </a:solidFill>
                        <a:latin typeface="Tahoma" charset="0"/>
                        <a:ea typeface="Tahoma" charset="0"/>
                        <a:cs typeface="Tahoma"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0.195</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5.18)</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0.174</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9.32)</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1092200">
                <a:tc>
                  <a:txBody>
                    <a:bodyPr/>
                    <a:lstStyle/>
                    <a:p>
                      <a:pPr marL="0" marR="0" algn="l">
                        <a:spcBef>
                          <a:spcPts val="0"/>
                        </a:spcBef>
                        <a:spcAft>
                          <a:spcPts val="0"/>
                        </a:spcAft>
                      </a:pPr>
                      <a:r>
                        <a:rPr lang="en-US" sz="2800" dirty="0">
                          <a:solidFill>
                            <a:schemeClr val="tx1"/>
                          </a:solidFill>
                          <a:effectLst/>
                          <a:latin typeface="Tahoma" charset="0"/>
                          <a:ea typeface="Tahoma" charset="0"/>
                          <a:cs typeface="Tahoma" charset="0"/>
                        </a:rPr>
                        <a:t>Total rooms</a:t>
                      </a:r>
                    </a:p>
                  </a:txBody>
                  <a:tcPr marL="68580" marR="68580" marT="0" marB="0"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10.25</a:t>
                      </a:r>
                    </a:p>
                    <a:p>
                      <a:pPr algn="ctr"/>
                      <a:r>
                        <a:rPr lang="en-US" sz="2400" dirty="0" smtClean="0">
                          <a:solidFill>
                            <a:schemeClr val="tx1"/>
                          </a:solidFill>
                          <a:latin typeface="Tahoma" charset="0"/>
                          <a:ea typeface="Tahoma" charset="0"/>
                          <a:cs typeface="Tahoma" charset="0"/>
                        </a:rPr>
                        <a:t>(4.82)</a:t>
                      </a:r>
                      <a:endParaRPr lang="en-US" sz="240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a:solidFill>
                            <a:schemeClr val="tx1"/>
                          </a:solidFill>
                          <a:effectLst/>
                          <a:latin typeface="Tahoma" charset="0"/>
                          <a:ea typeface="Tahoma" charset="0"/>
                          <a:cs typeface="Tahoma" charset="0"/>
                        </a:rPr>
                        <a:t>0.0431 </a:t>
                      </a:r>
                      <a:endParaRPr lang="en-US" sz="2800" u="none" strike="noStrike" dirty="0" smtClean="0">
                        <a:solidFill>
                          <a:schemeClr val="tx1"/>
                        </a:solidFill>
                        <a:effectLst/>
                        <a:latin typeface="Tahoma" charset="0"/>
                        <a:ea typeface="Tahoma" charset="0"/>
                        <a:cs typeface="Tahoma" charset="0"/>
                      </a:endParaRP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4.57)</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0.0432</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9.79)</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1092200">
                <a:tc>
                  <a:txBody>
                    <a:bodyPr/>
                    <a:lstStyle/>
                    <a:p>
                      <a:pPr marL="0" marR="0" algn="l">
                        <a:spcBef>
                          <a:spcPts val="0"/>
                        </a:spcBef>
                        <a:spcAft>
                          <a:spcPts val="0"/>
                        </a:spcAft>
                      </a:pPr>
                      <a:r>
                        <a:rPr lang="en-US" sz="2800" dirty="0">
                          <a:solidFill>
                            <a:schemeClr val="tx1"/>
                          </a:solidFill>
                          <a:effectLst/>
                          <a:latin typeface="Tahoma" charset="0"/>
                          <a:ea typeface="Tahoma" charset="0"/>
                          <a:cs typeface="Tahoma" charset="0"/>
                        </a:rPr>
                        <a:t>Bathrooms</a:t>
                      </a:r>
                    </a:p>
                  </a:txBody>
                  <a:tcPr marL="68580" marR="68580" marT="0" marB="0"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2.287</a:t>
                      </a:r>
                    </a:p>
                    <a:p>
                      <a:pPr algn="ctr"/>
                      <a:r>
                        <a:rPr lang="en-US" sz="2400" dirty="0" smtClean="0">
                          <a:solidFill>
                            <a:schemeClr val="tx1"/>
                          </a:solidFill>
                          <a:latin typeface="Tahoma" charset="0"/>
                          <a:ea typeface="Tahoma" charset="0"/>
                          <a:cs typeface="Tahoma" charset="0"/>
                        </a:rPr>
                        <a:t>(.8168)</a:t>
                      </a:r>
                      <a:endParaRPr lang="en-US" sz="2400" b="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a:solidFill>
                            <a:schemeClr val="tx1"/>
                          </a:solidFill>
                          <a:effectLst/>
                          <a:latin typeface="Tahoma" charset="0"/>
                          <a:ea typeface="Tahoma" charset="0"/>
                          <a:cs typeface="Tahoma" charset="0"/>
                        </a:rPr>
                        <a:t>0.155 </a:t>
                      </a:r>
                      <a:endParaRPr lang="en-US" sz="2800" u="none" strike="noStrike" dirty="0" smtClean="0">
                        <a:solidFill>
                          <a:schemeClr val="tx1"/>
                        </a:solidFill>
                        <a:effectLst/>
                        <a:latin typeface="Tahoma" charset="0"/>
                        <a:ea typeface="Tahoma" charset="0"/>
                        <a:cs typeface="Tahoma" charset="0"/>
                      </a:endParaRP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1.43)</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0.124</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3.12)</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1092200">
                <a:tc>
                  <a:txBody>
                    <a:bodyPr/>
                    <a:lstStyle/>
                    <a:p>
                      <a:pPr marL="0" marR="0" algn="l">
                        <a:spcBef>
                          <a:spcPts val="0"/>
                        </a:spcBef>
                        <a:spcAft>
                          <a:spcPts val="0"/>
                        </a:spcAft>
                      </a:pPr>
                      <a:r>
                        <a:rPr lang="en-US" sz="2800" dirty="0">
                          <a:solidFill>
                            <a:schemeClr val="tx1"/>
                          </a:solidFill>
                          <a:effectLst/>
                          <a:latin typeface="Tahoma" charset="0"/>
                          <a:ea typeface="Tahoma" charset="0"/>
                          <a:cs typeface="Tahoma" charset="0"/>
                        </a:rPr>
                        <a:t>Single Family</a:t>
                      </a:r>
                    </a:p>
                  </a:txBody>
                  <a:tcPr marL="68580" marR="68580" marT="0" marB="0"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.5090</a:t>
                      </a:r>
                    </a:p>
                    <a:p>
                      <a:pPr algn="ctr"/>
                      <a:r>
                        <a:rPr lang="en-US" sz="2400" dirty="0" smtClean="0">
                          <a:solidFill>
                            <a:schemeClr val="tx1"/>
                          </a:solidFill>
                          <a:latin typeface="Tahoma" charset="0"/>
                          <a:ea typeface="Tahoma" charset="0"/>
                          <a:cs typeface="Tahoma" charset="0"/>
                        </a:rPr>
                        <a:t>(.50)</a:t>
                      </a:r>
                      <a:endParaRPr lang="en-US" sz="2400" b="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0.0968</a:t>
                      </a:r>
                    </a:p>
                    <a:p>
                      <a:pPr algn="ctr" fontAlgn="b"/>
                      <a:r>
                        <a:rPr lang="en-US" sz="2400" u="none" strike="noStrike" dirty="0" smtClean="0">
                          <a:solidFill>
                            <a:schemeClr val="tx1"/>
                          </a:solidFill>
                          <a:effectLst/>
                          <a:latin typeface="Tahoma" charset="0"/>
                          <a:ea typeface="Tahoma" charset="0"/>
                          <a:cs typeface="Tahoma" charset="0"/>
                        </a:rPr>
                        <a:t> </a:t>
                      </a:r>
                      <a:r>
                        <a:rPr lang="en-US" sz="2400" u="none" strike="noStrike" dirty="0">
                          <a:solidFill>
                            <a:schemeClr val="tx1"/>
                          </a:solidFill>
                          <a:effectLst/>
                          <a:latin typeface="Tahoma" charset="0"/>
                          <a:ea typeface="Tahoma" charset="0"/>
                          <a:cs typeface="Tahoma" charset="0"/>
                        </a:rPr>
                        <a:t>(2.66)</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smtClean="0">
                          <a:solidFill>
                            <a:schemeClr val="tx1"/>
                          </a:solidFill>
                          <a:effectLst/>
                          <a:latin typeface="Tahoma" charset="0"/>
                          <a:ea typeface="Tahoma" charset="0"/>
                          <a:cs typeface="Tahoma" charset="0"/>
                        </a:rPr>
                        <a:t>0.103</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4.37)</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1092200">
                <a:tc>
                  <a:txBody>
                    <a:bodyPr/>
                    <a:lstStyle/>
                    <a:p>
                      <a:pPr marL="0" marR="0" algn="l">
                        <a:spcBef>
                          <a:spcPts val="0"/>
                        </a:spcBef>
                        <a:spcAft>
                          <a:spcPts val="0"/>
                        </a:spcAft>
                      </a:pPr>
                      <a:r>
                        <a:rPr lang="en-US" sz="2800" dirty="0">
                          <a:solidFill>
                            <a:schemeClr val="tx1"/>
                          </a:solidFill>
                          <a:effectLst/>
                          <a:latin typeface="Tahoma" charset="0"/>
                          <a:ea typeface="Tahoma" charset="0"/>
                          <a:cs typeface="Tahoma" charset="0"/>
                        </a:rPr>
                        <a:t>Three Family</a:t>
                      </a:r>
                    </a:p>
                  </a:txBody>
                  <a:tcPr marL="68580" marR="68580" marT="0" marB="0" anchor="ctr">
                    <a:lnL w="2857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.3530</a:t>
                      </a:r>
                    </a:p>
                    <a:p>
                      <a:pPr algn="ctr"/>
                      <a:r>
                        <a:rPr lang="en-US" sz="2400" dirty="0" smtClean="0">
                          <a:solidFill>
                            <a:schemeClr val="tx1"/>
                          </a:solidFill>
                          <a:latin typeface="Tahoma" charset="0"/>
                          <a:ea typeface="Tahoma" charset="0"/>
                          <a:cs typeface="Tahoma" charset="0"/>
                        </a:rPr>
                        <a:t>(.4779)</a:t>
                      </a:r>
                      <a:endParaRPr lang="en-US" sz="2400" b="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400" u="none" strike="noStrike" dirty="0">
                          <a:solidFill>
                            <a:schemeClr val="tx1"/>
                          </a:solidFill>
                          <a:effectLst/>
                          <a:latin typeface="Tahoma" charset="0"/>
                          <a:ea typeface="Tahoma" charset="0"/>
                          <a:cs typeface="Tahoma" charset="0"/>
                        </a:rPr>
                        <a:t>-</a:t>
                      </a:r>
                      <a:r>
                        <a:rPr lang="en-US" sz="2800" u="none" strike="noStrike" dirty="0" smtClean="0">
                          <a:solidFill>
                            <a:schemeClr val="tx1"/>
                          </a:solidFill>
                          <a:effectLst/>
                          <a:latin typeface="Tahoma" charset="0"/>
                          <a:ea typeface="Tahoma" charset="0"/>
                          <a:cs typeface="Tahoma" charset="0"/>
                        </a:rPr>
                        <a:t>0.216</a:t>
                      </a:r>
                    </a:p>
                    <a:p>
                      <a:pPr algn="ctr" fontAlgn="b"/>
                      <a:r>
                        <a:rPr lang="en-US" sz="2400" u="none" strike="noStrike" dirty="0" smtClean="0">
                          <a:solidFill>
                            <a:schemeClr val="tx1"/>
                          </a:solidFill>
                          <a:effectLst/>
                          <a:latin typeface="Tahoma" charset="0"/>
                          <a:ea typeface="Tahoma" charset="0"/>
                          <a:cs typeface="Tahoma" charset="0"/>
                        </a:rPr>
                        <a:t> </a:t>
                      </a:r>
                      <a:r>
                        <a:rPr lang="en-US" sz="2400" u="none" strike="noStrike" dirty="0">
                          <a:solidFill>
                            <a:schemeClr val="tx1"/>
                          </a:solidFill>
                          <a:effectLst/>
                          <a:latin typeface="Tahoma" charset="0"/>
                          <a:ea typeface="Tahoma" charset="0"/>
                          <a:cs typeface="Tahoma" charset="0"/>
                        </a:rPr>
                        <a:t>(-2.66)</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2800" u="none" strike="noStrike" dirty="0">
                          <a:solidFill>
                            <a:schemeClr val="tx1"/>
                          </a:solidFill>
                          <a:effectLst/>
                          <a:latin typeface="Tahoma" charset="0"/>
                          <a:ea typeface="Tahoma" charset="0"/>
                          <a:cs typeface="Tahoma" charset="0"/>
                        </a:rPr>
                        <a:t>-</a:t>
                      </a:r>
                      <a:r>
                        <a:rPr lang="en-US" sz="2800" u="none" strike="noStrike" dirty="0" smtClean="0">
                          <a:solidFill>
                            <a:schemeClr val="tx1"/>
                          </a:solidFill>
                          <a:effectLst/>
                          <a:latin typeface="Tahoma" charset="0"/>
                          <a:ea typeface="Tahoma" charset="0"/>
                          <a:cs typeface="Tahoma" charset="0"/>
                        </a:rPr>
                        <a:t>0.18</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-4.37)</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934720">
                <a:tc>
                  <a:txBody>
                    <a:bodyPr/>
                    <a:lstStyle/>
                    <a:p>
                      <a:pPr marL="0" marR="0" algn="l">
                        <a:spcBef>
                          <a:spcPts val="0"/>
                        </a:spcBef>
                        <a:spcAft>
                          <a:spcPts val="0"/>
                        </a:spcAft>
                      </a:pPr>
                      <a:r>
                        <a:rPr lang="en-US" sz="2800" dirty="0">
                          <a:solidFill>
                            <a:schemeClr val="tx1"/>
                          </a:solidFill>
                          <a:effectLst/>
                          <a:latin typeface="Tahoma" charset="0"/>
                          <a:ea typeface="Tahoma" charset="0"/>
                          <a:cs typeface="Tahoma" charset="0"/>
                        </a:rPr>
                        <a:t>Assault</a:t>
                      </a:r>
                    </a:p>
                  </a:txBody>
                  <a:tcPr marL="68580" marR="68580" marT="0" marB="0" anchor="ctr">
                    <a:lnL w="28575" cap="flat" cmpd="sng" algn="ctr">
                      <a:noFill/>
                      <a:prstDash val="solid"/>
                      <a:round/>
                      <a:headEnd type="none" w="med" len="med"/>
                      <a:tailEnd type="none" w="med" len="med"/>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smtClean="0">
                          <a:solidFill>
                            <a:schemeClr val="tx1"/>
                          </a:solidFill>
                          <a:latin typeface="Tahoma" charset="0"/>
                          <a:ea typeface="Tahoma" charset="0"/>
                          <a:cs typeface="Tahoma" charset="0"/>
                        </a:rPr>
                        <a:t>8.938</a:t>
                      </a:r>
                    </a:p>
                    <a:p>
                      <a:pPr algn="ctr"/>
                      <a:r>
                        <a:rPr lang="en-US" sz="2400" dirty="0" smtClean="0">
                          <a:solidFill>
                            <a:schemeClr val="tx1"/>
                          </a:solidFill>
                          <a:latin typeface="Tahoma" charset="0"/>
                          <a:ea typeface="Tahoma" charset="0"/>
                          <a:cs typeface="Tahoma" charset="0"/>
                        </a:rPr>
                        <a:t>(3.935)</a:t>
                      </a:r>
                      <a:endParaRPr lang="en-US" sz="2400" b="0" dirty="0">
                        <a:solidFill>
                          <a:schemeClr val="tx1"/>
                        </a:solidFill>
                        <a:latin typeface="Tahoma" charset="0"/>
                        <a:ea typeface="Tahoma" charset="0"/>
                        <a:cs typeface="Tahoma" charset="0"/>
                      </a:endParaRPr>
                    </a:p>
                  </a:txBody>
                  <a:tcPr anchor="ct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400" u="none" strike="noStrike" dirty="0">
                          <a:solidFill>
                            <a:schemeClr val="tx1"/>
                          </a:solidFill>
                          <a:effectLst/>
                          <a:latin typeface="Tahoma" charset="0"/>
                          <a:ea typeface="Tahoma" charset="0"/>
                          <a:cs typeface="Tahoma" charset="0"/>
                        </a:rPr>
                        <a:t>-</a:t>
                      </a:r>
                      <a:r>
                        <a:rPr lang="en-US" sz="2800" u="none" strike="noStrike" dirty="0" smtClean="0">
                          <a:solidFill>
                            <a:schemeClr val="tx1"/>
                          </a:solidFill>
                          <a:effectLst/>
                          <a:latin typeface="Tahoma" charset="0"/>
                          <a:ea typeface="Tahoma" charset="0"/>
                          <a:cs typeface="Tahoma" charset="0"/>
                        </a:rPr>
                        <a:t>0.0359</a:t>
                      </a:r>
                    </a:p>
                    <a:p>
                      <a:pPr algn="ctr" fontAlgn="b"/>
                      <a:r>
                        <a:rPr lang="en-US" sz="2400" u="none" strike="noStrike" dirty="0" smtClean="0">
                          <a:solidFill>
                            <a:schemeClr val="tx1"/>
                          </a:solidFill>
                          <a:effectLst/>
                          <a:latin typeface="Tahoma" charset="0"/>
                          <a:ea typeface="Tahoma" charset="0"/>
                          <a:cs typeface="Tahoma" charset="0"/>
                        </a:rPr>
                        <a:t> </a:t>
                      </a:r>
                      <a:r>
                        <a:rPr lang="en-US" sz="2400" u="none" strike="noStrike" dirty="0">
                          <a:solidFill>
                            <a:schemeClr val="tx1"/>
                          </a:solidFill>
                          <a:effectLst/>
                          <a:latin typeface="Tahoma" charset="0"/>
                          <a:ea typeface="Tahoma" charset="0"/>
                          <a:cs typeface="Tahoma" charset="0"/>
                        </a:rPr>
                        <a:t>(-8.54)</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800" u="none" strike="noStrike" dirty="0">
                          <a:solidFill>
                            <a:schemeClr val="tx1"/>
                          </a:solidFill>
                          <a:effectLst/>
                          <a:latin typeface="Tahoma" charset="0"/>
                          <a:ea typeface="Tahoma" charset="0"/>
                          <a:cs typeface="Tahoma" charset="0"/>
                        </a:rPr>
                        <a:t>-</a:t>
                      </a:r>
                      <a:r>
                        <a:rPr lang="en-US" sz="2800" u="none" strike="noStrike" dirty="0" smtClean="0">
                          <a:solidFill>
                            <a:schemeClr val="tx1"/>
                          </a:solidFill>
                          <a:effectLst/>
                          <a:latin typeface="Tahoma" charset="0"/>
                          <a:ea typeface="Tahoma" charset="0"/>
                          <a:cs typeface="Tahoma" charset="0"/>
                        </a:rPr>
                        <a:t>0.0363</a:t>
                      </a:r>
                    </a:p>
                    <a:p>
                      <a:pPr algn="ctr" fontAlgn="b"/>
                      <a:r>
                        <a:rPr lang="en-US" sz="2400" u="none" strike="noStrike" dirty="0" smtClean="0">
                          <a:solidFill>
                            <a:schemeClr val="tx1"/>
                          </a:solidFill>
                          <a:effectLst/>
                          <a:latin typeface="Tahoma" charset="0"/>
                          <a:ea typeface="Tahoma" charset="0"/>
                          <a:cs typeface="Tahoma" charset="0"/>
                        </a:rPr>
                        <a:t>(</a:t>
                      </a:r>
                      <a:r>
                        <a:rPr lang="en-US" sz="2400" u="none" strike="noStrike" dirty="0">
                          <a:solidFill>
                            <a:schemeClr val="tx1"/>
                          </a:solidFill>
                          <a:effectLst/>
                          <a:latin typeface="Tahoma" charset="0"/>
                          <a:ea typeface="Tahoma" charset="0"/>
                          <a:cs typeface="Tahoma" charset="0"/>
                        </a:rPr>
                        <a:t>-13.47)</a:t>
                      </a:r>
                      <a:endParaRPr lang="en-US" sz="2400" b="0" i="0" u="none" strike="noStrike" dirty="0">
                        <a:solidFill>
                          <a:schemeClr val="tx1"/>
                        </a:solidFill>
                        <a:effectLst/>
                        <a:latin typeface="Tahoma" charset="0"/>
                        <a:ea typeface="Tahoma" charset="0"/>
                        <a:cs typeface="Tahoma" charset="0"/>
                      </a:endParaRPr>
                    </a:p>
                  </a:txBody>
                  <a:tcPr marL="12700" marR="12700" marT="12700" marB="0" anchor="ctr">
                    <a:lnL w="12700" cmpd="sng">
                      <a:noFill/>
                    </a:lnL>
                    <a:lnR w="28575" cap="flat" cmpd="sng" algn="ctr">
                      <a:noFill/>
                      <a:prstDash val="solid"/>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5" name="Rectangle 24"/>
          <p:cNvSpPr/>
          <p:nvPr/>
        </p:nvSpPr>
        <p:spPr>
          <a:xfrm>
            <a:off x="457200" y="838200"/>
            <a:ext cx="42976800" cy="3124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28668785" y="24377376"/>
            <a:ext cx="12877800" cy="7017306"/>
          </a:xfrm>
          <a:prstGeom prst="rect">
            <a:avLst/>
          </a:prstGeom>
          <a:noFill/>
        </p:spPr>
        <p:txBody>
          <a:bodyPr wrap="square" rtlCol="0">
            <a:spAutoFit/>
          </a:bodyPr>
          <a:lstStyle/>
          <a:p>
            <a:pPr>
              <a:lnSpc>
                <a:spcPct val="150000"/>
              </a:lnSpc>
              <a:spcBef>
                <a:spcPts val="1800"/>
              </a:spcBef>
              <a:spcAft>
                <a:spcPts val="600"/>
              </a:spcAft>
            </a:pPr>
            <a:r>
              <a:rPr lang="en-US" sz="3200" b="1" u="sng" dirty="0">
                <a:latin typeface="Tahoma" charset="0"/>
                <a:ea typeface="Tahoma" charset="0"/>
                <a:cs typeface="Tahoma" charset="0"/>
              </a:rPr>
              <a:t>Interpretations:</a:t>
            </a:r>
          </a:p>
          <a:p>
            <a:pPr marL="457200" indent="-457200">
              <a:spcAft>
                <a:spcPts val="300"/>
              </a:spcAft>
              <a:buFont typeface="Arial" charset="0"/>
              <a:buChar char="•"/>
            </a:pPr>
            <a:r>
              <a:rPr lang="en-US" sz="2800" dirty="0">
                <a:latin typeface="Tahoma" charset="0"/>
                <a:ea typeface="Tahoma" charset="0"/>
                <a:cs typeface="Tahoma" charset="0"/>
              </a:rPr>
              <a:t>Reject null hypothesis for all </a:t>
            </a:r>
            <a:r>
              <a:rPr lang="en-US" sz="2800" dirty="0" smtClean="0">
                <a:latin typeface="Tahoma" charset="0"/>
                <a:ea typeface="Tahoma" charset="0"/>
                <a:cs typeface="Tahoma" charset="0"/>
              </a:rPr>
              <a:t>coefficients</a:t>
            </a:r>
            <a:endParaRPr lang="en-US" sz="2800" dirty="0">
              <a:latin typeface="Tahoma" charset="0"/>
              <a:ea typeface="Tahoma" charset="0"/>
              <a:cs typeface="Tahoma" charset="0"/>
            </a:endParaRPr>
          </a:p>
          <a:p>
            <a:pPr marL="1371600" lvl="2" indent="-457200">
              <a:spcAft>
                <a:spcPts val="300"/>
              </a:spcAft>
              <a:buFont typeface="Courier New" charset="0"/>
              <a:buChar char="o"/>
            </a:pPr>
            <a:r>
              <a:rPr lang="en-US" sz="2800" dirty="0">
                <a:latin typeface="Tahoma" charset="0"/>
                <a:ea typeface="Tahoma" charset="0"/>
                <a:cs typeface="Tahoma" charset="0"/>
              </a:rPr>
              <a:t>All coefficients expected sign, year variables for first regression were not jointly significant and second regression were omitted for </a:t>
            </a:r>
            <a:r>
              <a:rPr lang="en-US" sz="2800" dirty="0" smtClean="0">
                <a:latin typeface="Tahoma" charset="0"/>
                <a:ea typeface="Tahoma" charset="0"/>
                <a:cs typeface="Tahoma" charset="0"/>
              </a:rPr>
              <a:t>space </a:t>
            </a:r>
            <a:endParaRPr lang="en-US" sz="2800" dirty="0">
              <a:latin typeface="Tahoma" charset="0"/>
              <a:ea typeface="Tahoma" charset="0"/>
              <a:cs typeface="Tahoma" charset="0"/>
            </a:endParaRPr>
          </a:p>
          <a:p>
            <a:pPr marL="457200" indent="-457200">
              <a:spcBef>
                <a:spcPts val="600"/>
              </a:spcBef>
              <a:spcAft>
                <a:spcPts val="300"/>
              </a:spcAft>
              <a:buFont typeface="Arial" charset="0"/>
              <a:buChar char="•"/>
            </a:pPr>
            <a:r>
              <a:rPr lang="en-US" sz="2800" dirty="0">
                <a:latin typeface="Tahoma" charset="0"/>
                <a:ea typeface="Tahoma" charset="0"/>
                <a:cs typeface="Tahoma" charset="0"/>
              </a:rPr>
              <a:t>Primary focus on difference between coefficient of accepted in model 1 and 2</a:t>
            </a:r>
          </a:p>
          <a:p>
            <a:pPr marL="1371600" lvl="2" indent="-457200">
              <a:spcAft>
                <a:spcPts val="300"/>
              </a:spcAft>
              <a:buFont typeface="Courier New" charset="0"/>
              <a:buChar char="o"/>
            </a:pPr>
            <a:r>
              <a:rPr lang="en-US" sz="2800" dirty="0">
                <a:latin typeface="Tahoma" charset="0"/>
                <a:ea typeface="Tahoma" charset="0"/>
                <a:cs typeface="Tahoma" charset="0"/>
              </a:rPr>
              <a:t>First regression represents sales within one year of work completion and second regression is extended time period</a:t>
            </a:r>
          </a:p>
          <a:p>
            <a:pPr marL="1371600" lvl="2" indent="-457200">
              <a:spcAft>
                <a:spcPts val="300"/>
              </a:spcAft>
              <a:buFont typeface="Courier New" charset="0"/>
              <a:buChar char="o"/>
            </a:pPr>
            <a:r>
              <a:rPr lang="en-US" sz="2800" dirty="0">
                <a:latin typeface="Tahoma" charset="0"/>
                <a:ea typeface="Tahoma" charset="0"/>
                <a:cs typeface="Tahoma" charset="0"/>
              </a:rPr>
              <a:t>Second regression represents sales within 200 meters of </a:t>
            </a:r>
            <a:r>
              <a:rPr lang="en-US" sz="2800" dirty="0" smtClean="0">
                <a:latin typeface="Tahoma" charset="0"/>
                <a:ea typeface="Tahoma" charset="0"/>
                <a:cs typeface="Tahoma" charset="0"/>
              </a:rPr>
              <a:t>applicant </a:t>
            </a:r>
            <a:r>
              <a:rPr lang="en-US" sz="2800" dirty="0">
                <a:latin typeface="Tahoma" charset="0"/>
                <a:ea typeface="Tahoma" charset="0"/>
                <a:cs typeface="Tahoma" charset="0"/>
              </a:rPr>
              <a:t>one year before </a:t>
            </a:r>
            <a:r>
              <a:rPr lang="en-US" sz="2800" dirty="0" smtClean="0">
                <a:latin typeface="Tahoma" charset="0"/>
                <a:ea typeface="Tahoma" charset="0"/>
                <a:cs typeface="Tahoma" charset="0"/>
              </a:rPr>
              <a:t>loan </a:t>
            </a:r>
            <a:r>
              <a:rPr lang="en-US" sz="2800" dirty="0">
                <a:latin typeface="Tahoma" charset="0"/>
                <a:ea typeface="Tahoma" charset="0"/>
                <a:cs typeface="Tahoma" charset="0"/>
              </a:rPr>
              <a:t>decision and all time </a:t>
            </a:r>
            <a:r>
              <a:rPr lang="en-US" sz="2800" dirty="0" smtClean="0">
                <a:latin typeface="Tahoma" charset="0"/>
                <a:ea typeface="Tahoma" charset="0"/>
                <a:cs typeface="Tahoma" charset="0"/>
              </a:rPr>
              <a:t>after.  Indicates the </a:t>
            </a:r>
            <a:r>
              <a:rPr lang="en-US" sz="2800" dirty="0">
                <a:latin typeface="Tahoma" charset="0"/>
                <a:ea typeface="Tahoma" charset="0"/>
                <a:cs typeface="Tahoma" charset="0"/>
              </a:rPr>
              <a:t>difference between accepted </a:t>
            </a:r>
            <a:r>
              <a:rPr lang="en-US" sz="2800" dirty="0" smtClean="0">
                <a:latin typeface="Tahoma" charset="0"/>
                <a:ea typeface="Tahoma" charset="0"/>
                <a:cs typeface="Tahoma" charset="0"/>
              </a:rPr>
              <a:t>and </a:t>
            </a:r>
            <a:r>
              <a:rPr lang="en-US" sz="2800" dirty="0">
                <a:latin typeface="Tahoma" charset="0"/>
                <a:ea typeface="Tahoma" charset="0"/>
                <a:cs typeface="Tahoma" charset="0"/>
              </a:rPr>
              <a:t>denied neighborhoods</a:t>
            </a:r>
          </a:p>
          <a:p>
            <a:pPr marL="1371600" lvl="2" indent="-457200">
              <a:spcAft>
                <a:spcPts val="300"/>
              </a:spcAft>
              <a:buFont typeface="Courier New" charset="0"/>
              <a:buChar char="o"/>
            </a:pPr>
            <a:r>
              <a:rPr lang="en-US" sz="2800" dirty="0">
                <a:latin typeface="Tahoma" charset="0"/>
                <a:ea typeface="Tahoma" charset="0"/>
                <a:cs typeface="Tahoma" charset="0"/>
              </a:rPr>
              <a:t>The 5.21% difference between </a:t>
            </a:r>
            <a:r>
              <a:rPr lang="el-GR" sz="2800" dirty="0">
                <a:latin typeface="Tahoma" charset="0"/>
                <a:ea typeface="Tahoma" charset="0"/>
                <a:cs typeface="Tahoma" charset="0"/>
              </a:rPr>
              <a:t>β</a:t>
            </a:r>
            <a:r>
              <a:rPr lang="en-US" sz="2800" dirty="0">
                <a:latin typeface="Tahoma" charset="0"/>
                <a:ea typeface="Tahoma" charset="0"/>
                <a:cs typeface="Tahoma" charset="0"/>
              </a:rPr>
              <a:t>1 in both </a:t>
            </a:r>
            <a:r>
              <a:rPr lang="en-US" sz="2800" dirty="0" smtClean="0">
                <a:latin typeface="Tahoma" charset="0"/>
                <a:ea typeface="Tahoma" charset="0"/>
                <a:cs typeface="Tahoma" charset="0"/>
              </a:rPr>
              <a:t>regressions represent </a:t>
            </a:r>
            <a:r>
              <a:rPr lang="en-US" sz="2800" dirty="0">
                <a:latin typeface="Tahoma" charset="0"/>
                <a:ea typeface="Tahoma" charset="0"/>
                <a:cs typeface="Tahoma" charset="0"/>
              </a:rPr>
              <a:t>the estimated </a:t>
            </a:r>
            <a:r>
              <a:rPr lang="en-US" sz="2800" dirty="0" smtClean="0">
                <a:latin typeface="Tahoma" charset="0"/>
                <a:ea typeface="Tahoma" charset="0"/>
                <a:cs typeface="Tahoma" charset="0"/>
              </a:rPr>
              <a:t>spill-over </a:t>
            </a:r>
            <a:r>
              <a:rPr lang="en-US" sz="2800" dirty="0">
                <a:latin typeface="Tahoma" charset="0"/>
                <a:ea typeface="Tahoma" charset="0"/>
                <a:cs typeface="Tahoma" charset="0"/>
              </a:rPr>
              <a:t>effect of the home improvement loans</a:t>
            </a:r>
          </a:p>
          <a:p>
            <a:pPr marL="457200" indent="-457200">
              <a:spcBef>
                <a:spcPts val="600"/>
              </a:spcBef>
              <a:spcAft>
                <a:spcPts val="300"/>
              </a:spcAft>
              <a:buFont typeface="Arial" charset="0"/>
              <a:buChar char="•"/>
            </a:pPr>
            <a:r>
              <a:rPr lang="en-US" sz="2800" dirty="0" smtClean="0">
                <a:latin typeface="Tahoma" charset="0"/>
                <a:ea typeface="Tahoma" charset="0"/>
                <a:cs typeface="Tahoma" charset="0"/>
              </a:rPr>
              <a:t>Homes </a:t>
            </a:r>
            <a:r>
              <a:rPr lang="en-US" sz="2800" dirty="0">
                <a:latin typeface="Tahoma" charset="0"/>
                <a:ea typeface="Tahoma" charset="0"/>
                <a:cs typeface="Tahoma" charset="0"/>
              </a:rPr>
              <a:t>sold within one year of a loan and </a:t>
            </a:r>
            <a:r>
              <a:rPr lang="en-US" sz="2800" dirty="0" smtClean="0">
                <a:latin typeface="Tahoma" charset="0"/>
                <a:ea typeface="Tahoma" charset="0"/>
                <a:cs typeface="Tahoma" charset="0"/>
              </a:rPr>
              <a:t>within 200 </a:t>
            </a:r>
            <a:r>
              <a:rPr lang="en-US" sz="2800" dirty="0">
                <a:latin typeface="Tahoma" charset="0"/>
                <a:ea typeface="Tahoma" charset="0"/>
                <a:cs typeface="Tahoma" charset="0"/>
              </a:rPr>
              <a:t>meters of an accepted loan were 9.23% higher than sales near denied </a:t>
            </a:r>
            <a:r>
              <a:rPr lang="en-US" sz="2800" dirty="0" smtClean="0">
                <a:latin typeface="Tahoma" charset="0"/>
                <a:ea typeface="Tahoma" charset="0"/>
                <a:cs typeface="Tahoma" charset="0"/>
              </a:rPr>
              <a:t>loans</a:t>
            </a:r>
            <a:endParaRPr lang="en-US" sz="2800" dirty="0">
              <a:latin typeface="Tahoma" charset="0"/>
              <a:ea typeface="Tahoma" charset="0"/>
              <a:cs typeface="Tahoma" charset="0"/>
            </a:endParaRPr>
          </a:p>
        </p:txBody>
      </p:sp>
      <p:sp>
        <p:nvSpPr>
          <p:cNvPr id="2" name="TextBox 1"/>
          <p:cNvSpPr txBox="1"/>
          <p:nvPr/>
        </p:nvSpPr>
        <p:spPr>
          <a:xfrm>
            <a:off x="14695714" y="5029468"/>
            <a:ext cx="12192000" cy="584776"/>
          </a:xfrm>
          <a:prstGeom prst="rect">
            <a:avLst/>
          </a:prstGeom>
          <a:noFill/>
        </p:spPr>
        <p:txBody>
          <a:bodyPr wrap="square" rtlCol="0">
            <a:spAutoFit/>
          </a:bodyPr>
          <a:lstStyle/>
          <a:p>
            <a:r>
              <a:rPr lang="en-US" sz="3200" b="1" u="sng" dirty="0">
                <a:solidFill>
                  <a:schemeClr val="dk1"/>
                </a:solidFill>
                <a:latin typeface="Tahoma" pitchFamily="34" charset="0"/>
                <a:ea typeface="Tahoma" pitchFamily="34" charset="0"/>
                <a:cs typeface="Tahoma" pitchFamily="34" charset="0"/>
              </a:rPr>
              <a:t>WCHR Accepted Loan Locations</a:t>
            </a:r>
          </a:p>
        </p:txBody>
      </p:sp>
      <p:sp>
        <p:nvSpPr>
          <p:cNvPr id="11" name="TextBox 10"/>
          <p:cNvSpPr txBox="1"/>
          <p:nvPr/>
        </p:nvSpPr>
        <p:spPr>
          <a:xfrm>
            <a:off x="28668785" y="5029468"/>
            <a:ext cx="13182600" cy="3924151"/>
          </a:xfrm>
          <a:prstGeom prst="rect">
            <a:avLst/>
          </a:prstGeom>
          <a:noFill/>
        </p:spPr>
        <p:txBody>
          <a:bodyPr wrap="square" rtlCol="0">
            <a:spAutoFit/>
          </a:bodyPr>
          <a:lstStyle/>
          <a:p>
            <a:pPr>
              <a:lnSpc>
                <a:spcPct val="150000"/>
              </a:lnSpc>
              <a:spcBef>
                <a:spcPts val="1800"/>
              </a:spcBef>
              <a:spcAft>
                <a:spcPts val="600"/>
              </a:spcAft>
            </a:pPr>
            <a:r>
              <a:rPr lang="en-US" sz="3200" b="1" u="sng" dirty="0">
                <a:latin typeface="Tahoma" charset="0"/>
                <a:ea typeface="Tahoma" charset="0"/>
                <a:cs typeface="Tahoma" charset="0"/>
              </a:rPr>
              <a:t>Comparing Groups and Time periods</a:t>
            </a:r>
          </a:p>
          <a:p>
            <a:r>
              <a:rPr lang="en-US" sz="2800" dirty="0">
                <a:latin typeface="Tahoma" charset="0"/>
                <a:ea typeface="Tahoma" charset="0"/>
                <a:cs typeface="Tahoma" charset="0"/>
              </a:rPr>
              <a:t>The cases depend on two main variables: the ranking of the quality of the loan application and the period of time for the analysis of sales prices of homes. For the time variable, Cases 1 and 3 look at only the sales within one year from completion of the work while cases 2 and 4 take into account all sales that occurred either a year before the loan decision to anytime after the loan was made. </a:t>
            </a:r>
            <a:r>
              <a:rPr lang="en-US" sz="2800" dirty="0" smtClean="0">
                <a:latin typeface="Tahoma" charset="0"/>
                <a:ea typeface="Tahoma" charset="0"/>
                <a:cs typeface="Tahoma" charset="0"/>
              </a:rPr>
              <a:t>For Credit Quality, Cases 1 and 2 use all applicants while cases 3 and 4 look at only those applicants who barely missed or made the cut.</a:t>
            </a:r>
            <a:endParaRPr lang="en-US" sz="3600" b="1" u="sng" dirty="0">
              <a:latin typeface="Tahoma" charset="0"/>
              <a:ea typeface="Tahoma" charset="0"/>
              <a:cs typeface="Tahoma"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114760235"/>
              </p:ext>
            </p:extLst>
          </p:nvPr>
        </p:nvGraphicFramePr>
        <p:xfrm>
          <a:off x="28668785" y="9412144"/>
          <a:ext cx="13716000" cy="3578301"/>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3529263"/>
                <a:gridCol w="5053263"/>
                <a:gridCol w="5133474"/>
              </a:tblGrid>
              <a:tr h="541119">
                <a:tc rowSpan="2">
                  <a:txBody>
                    <a:bodyPr/>
                    <a:lstStyle/>
                    <a:p>
                      <a:pPr marL="0" marR="0">
                        <a:spcBef>
                          <a:spcPts val="0"/>
                        </a:spcBef>
                        <a:spcAft>
                          <a:spcPts val="600"/>
                        </a:spcAft>
                      </a:pPr>
                      <a:r>
                        <a:rPr lang="en-US" sz="2400" dirty="0">
                          <a:solidFill>
                            <a:schemeClr val="bg1"/>
                          </a:solidFill>
                          <a:effectLst/>
                          <a:latin typeface="Tahoma" charset="0"/>
                          <a:ea typeface="Tahoma" charset="0"/>
                          <a:cs typeface="Tahoma" charset="0"/>
                        </a:rPr>
                        <a:t>Period of Analysis</a:t>
                      </a:r>
                    </a:p>
                  </a:txBody>
                  <a:tcPr marL="68580" marR="68580" marT="0" marB="0" anchor="ctr">
                    <a:solidFill>
                      <a:schemeClr val="accent1"/>
                    </a:solidFill>
                  </a:tcPr>
                </a:tc>
                <a:tc gridSpan="2">
                  <a:txBody>
                    <a:bodyPr/>
                    <a:lstStyle/>
                    <a:p>
                      <a:pPr marL="0" marR="0" algn="ctr">
                        <a:spcBef>
                          <a:spcPts val="0"/>
                        </a:spcBef>
                        <a:spcAft>
                          <a:spcPts val="600"/>
                        </a:spcAft>
                      </a:pPr>
                      <a:r>
                        <a:rPr lang="en-US" sz="2400" dirty="0">
                          <a:solidFill>
                            <a:schemeClr val="bg1"/>
                          </a:solidFill>
                          <a:effectLst/>
                          <a:latin typeface="Tahoma" charset="0"/>
                          <a:ea typeface="Tahoma" charset="0"/>
                          <a:cs typeface="Tahoma" charset="0"/>
                        </a:rPr>
                        <a:t>Scope of Loan Granted/Denied</a:t>
                      </a:r>
                    </a:p>
                  </a:txBody>
                  <a:tcPr marL="68580" marR="68580" marT="0" marB="0"/>
                </a:tc>
                <a:tc hMerge="1">
                  <a:txBody>
                    <a:bodyPr/>
                    <a:lstStyle/>
                    <a:p>
                      <a:endParaRPr lang="en-US"/>
                    </a:p>
                  </a:txBody>
                  <a:tcPr/>
                </a:tc>
              </a:tr>
              <a:tr h="439038">
                <a:tc vMerge="1">
                  <a:txBody>
                    <a:bodyPr/>
                    <a:lstStyle/>
                    <a:p>
                      <a:endParaRPr lang="en-US"/>
                    </a:p>
                  </a:txBody>
                  <a:tcPr/>
                </a:tc>
                <a:tc>
                  <a:txBody>
                    <a:bodyPr/>
                    <a:lstStyle/>
                    <a:p>
                      <a:pPr marL="0" marR="0">
                        <a:spcBef>
                          <a:spcPts val="0"/>
                        </a:spcBef>
                        <a:spcAft>
                          <a:spcPts val="600"/>
                        </a:spcAft>
                      </a:pPr>
                      <a:r>
                        <a:rPr lang="en-US" sz="2400" dirty="0">
                          <a:solidFill>
                            <a:schemeClr val="bg1"/>
                          </a:solidFill>
                          <a:effectLst/>
                          <a:latin typeface="Tahoma" charset="0"/>
                          <a:ea typeface="Tahoma" charset="0"/>
                          <a:cs typeface="Tahoma" charset="0"/>
                        </a:rPr>
                        <a:t>Includes All </a:t>
                      </a:r>
                      <a:r>
                        <a:rPr lang="en-US" sz="2400" dirty="0" smtClean="0">
                          <a:solidFill>
                            <a:schemeClr val="bg1"/>
                          </a:solidFill>
                          <a:effectLst/>
                          <a:latin typeface="Tahoma" charset="0"/>
                          <a:ea typeface="Tahoma" charset="0"/>
                          <a:cs typeface="Tahoma" charset="0"/>
                        </a:rPr>
                        <a:t>Applications</a:t>
                      </a:r>
                      <a:endParaRPr lang="en-US" sz="2400" dirty="0">
                        <a:solidFill>
                          <a:schemeClr val="bg1"/>
                        </a:solidFill>
                        <a:effectLst/>
                        <a:latin typeface="Tahoma" charset="0"/>
                        <a:ea typeface="Tahoma" charset="0"/>
                        <a:cs typeface="Tahoma" charset="0"/>
                      </a:endParaRPr>
                    </a:p>
                  </a:txBody>
                  <a:tcPr marL="68580" marR="68580" marT="0" marB="0" anchor="ctr">
                    <a:solidFill>
                      <a:schemeClr val="accent1"/>
                    </a:solidFill>
                  </a:tcPr>
                </a:tc>
                <a:tc>
                  <a:txBody>
                    <a:bodyPr/>
                    <a:lstStyle/>
                    <a:p>
                      <a:pPr marL="0" marR="0">
                        <a:spcBef>
                          <a:spcPts val="0"/>
                        </a:spcBef>
                        <a:spcAft>
                          <a:spcPts val="600"/>
                        </a:spcAft>
                      </a:pPr>
                      <a:r>
                        <a:rPr lang="en-US" sz="2400" dirty="0">
                          <a:solidFill>
                            <a:schemeClr val="bg1"/>
                          </a:solidFill>
                          <a:effectLst/>
                          <a:latin typeface="Tahoma" charset="0"/>
                          <a:ea typeface="Tahoma" charset="0"/>
                          <a:cs typeface="Tahoma" charset="0"/>
                        </a:rPr>
                        <a:t>Includes </a:t>
                      </a:r>
                      <a:r>
                        <a:rPr lang="en-US" sz="2400" dirty="0" smtClean="0">
                          <a:solidFill>
                            <a:schemeClr val="bg1"/>
                          </a:solidFill>
                          <a:effectLst/>
                          <a:latin typeface="Tahoma" charset="0"/>
                          <a:ea typeface="Tahoma" charset="0"/>
                          <a:cs typeface="Tahoma" charset="0"/>
                        </a:rPr>
                        <a:t>Only Marginal </a:t>
                      </a:r>
                      <a:r>
                        <a:rPr lang="en-US" sz="2400" dirty="0">
                          <a:solidFill>
                            <a:schemeClr val="bg1"/>
                          </a:solidFill>
                          <a:effectLst/>
                          <a:latin typeface="Tahoma" charset="0"/>
                          <a:ea typeface="Tahoma" charset="0"/>
                          <a:cs typeface="Tahoma" charset="0"/>
                        </a:rPr>
                        <a:t>A</a:t>
                      </a:r>
                      <a:r>
                        <a:rPr lang="en-US" sz="2400" dirty="0" smtClean="0">
                          <a:solidFill>
                            <a:schemeClr val="bg1"/>
                          </a:solidFill>
                          <a:effectLst/>
                          <a:latin typeface="Tahoma" charset="0"/>
                          <a:ea typeface="Tahoma" charset="0"/>
                          <a:cs typeface="Tahoma" charset="0"/>
                        </a:rPr>
                        <a:t>pplications </a:t>
                      </a:r>
                      <a:endParaRPr lang="en-US" sz="2400" dirty="0">
                        <a:solidFill>
                          <a:schemeClr val="bg1"/>
                        </a:solidFill>
                        <a:effectLst/>
                        <a:latin typeface="Tahoma" charset="0"/>
                        <a:ea typeface="Tahoma" charset="0"/>
                        <a:cs typeface="Tahoma" charset="0"/>
                      </a:endParaRPr>
                    </a:p>
                  </a:txBody>
                  <a:tcPr marL="68580" marR="68580" marT="0" marB="0">
                    <a:solidFill>
                      <a:schemeClr val="accent1"/>
                    </a:solidFill>
                  </a:tcPr>
                </a:tc>
              </a:tr>
              <a:tr h="1299072">
                <a:tc>
                  <a:txBody>
                    <a:bodyPr/>
                    <a:lstStyle/>
                    <a:p>
                      <a:pPr marL="0" marR="0">
                        <a:spcBef>
                          <a:spcPts val="0"/>
                        </a:spcBef>
                        <a:spcAft>
                          <a:spcPts val="600"/>
                        </a:spcAft>
                      </a:pPr>
                      <a:r>
                        <a:rPr lang="en-US" sz="2400" dirty="0">
                          <a:solidFill>
                            <a:srgbClr val="000000"/>
                          </a:solidFill>
                          <a:effectLst/>
                          <a:latin typeface="Tahoma" charset="0"/>
                          <a:ea typeface="Tahoma" charset="0"/>
                          <a:cs typeface="Tahoma" charset="0"/>
                        </a:rPr>
                        <a:t>Only sales during the effect period.</a:t>
                      </a:r>
                    </a:p>
                  </a:txBody>
                  <a:tcPr marL="68580" marR="68580" marT="0" marB="0" anchor="ctr"/>
                </a:tc>
                <a:tc>
                  <a:txBody>
                    <a:bodyPr/>
                    <a:lstStyle/>
                    <a:p>
                      <a:pPr marL="0" marR="0">
                        <a:spcBef>
                          <a:spcPts val="0"/>
                        </a:spcBef>
                        <a:spcAft>
                          <a:spcPts val="600"/>
                        </a:spcAft>
                      </a:pPr>
                      <a:r>
                        <a:rPr lang="en-US" sz="2400" b="1" dirty="0">
                          <a:solidFill>
                            <a:srgbClr val="000000"/>
                          </a:solidFill>
                          <a:effectLst/>
                          <a:latin typeface="Tahoma" charset="0"/>
                          <a:ea typeface="Tahoma" charset="0"/>
                          <a:cs typeface="Tahoma" charset="0"/>
                        </a:rPr>
                        <a:t>I</a:t>
                      </a:r>
                      <a:r>
                        <a:rPr lang="en-US" sz="2400" dirty="0">
                          <a:solidFill>
                            <a:srgbClr val="000000"/>
                          </a:solidFill>
                          <a:effectLst/>
                          <a:latin typeface="Tahoma" charset="0"/>
                          <a:ea typeface="Tahoma" charset="0"/>
                          <a:cs typeface="Tahoma" charset="0"/>
                        </a:rPr>
                        <a:t>:  Only Sales within one year of work being completed</a:t>
                      </a:r>
                    </a:p>
                  </a:txBody>
                  <a:tcPr marL="68580" marR="68580" marT="0" marB="0" anchor="ctr"/>
                </a:tc>
                <a:tc>
                  <a:txBody>
                    <a:bodyPr/>
                    <a:lstStyle/>
                    <a:p>
                      <a:pPr marL="0" marR="0">
                        <a:spcBef>
                          <a:spcPts val="0"/>
                        </a:spcBef>
                        <a:spcAft>
                          <a:spcPts val="600"/>
                        </a:spcAft>
                      </a:pPr>
                      <a:r>
                        <a:rPr lang="en-US" sz="2400" b="1" dirty="0">
                          <a:solidFill>
                            <a:srgbClr val="000000"/>
                          </a:solidFill>
                          <a:effectLst/>
                          <a:latin typeface="Tahoma" charset="0"/>
                          <a:ea typeface="Tahoma" charset="0"/>
                          <a:cs typeface="Tahoma" charset="0"/>
                        </a:rPr>
                        <a:t>III: </a:t>
                      </a:r>
                      <a:r>
                        <a:rPr lang="en-US" sz="2400" dirty="0">
                          <a:solidFill>
                            <a:srgbClr val="000000"/>
                          </a:solidFill>
                          <a:effectLst/>
                          <a:latin typeface="Tahoma" charset="0"/>
                          <a:ea typeface="Tahoma" charset="0"/>
                          <a:cs typeface="Tahoma" charset="0"/>
                        </a:rPr>
                        <a:t>Only Sales within one year of work being completed and near marginal loans</a:t>
                      </a:r>
                    </a:p>
                  </a:txBody>
                  <a:tcPr marL="68580" marR="68580" marT="0" marB="0" anchor="ctr"/>
                </a:tc>
              </a:tr>
              <a:tr h="1299072">
                <a:tc>
                  <a:txBody>
                    <a:bodyPr/>
                    <a:lstStyle/>
                    <a:p>
                      <a:pPr marL="0" marR="0">
                        <a:spcBef>
                          <a:spcPts val="0"/>
                        </a:spcBef>
                        <a:spcAft>
                          <a:spcPts val="600"/>
                        </a:spcAft>
                      </a:pPr>
                      <a:r>
                        <a:rPr lang="en-US" sz="2400" dirty="0">
                          <a:solidFill>
                            <a:srgbClr val="000000"/>
                          </a:solidFill>
                          <a:effectLst/>
                          <a:latin typeface="Tahoma" charset="0"/>
                          <a:ea typeface="Tahoma" charset="0"/>
                          <a:cs typeface="Tahoma" charset="0"/>
                        </a:rPr>
                        <a:t>Includes sales prior to the period when loans were/were not made</a:t>
                      </a:r>
                    </a:p>
                  </a:txBody>
                  <a:tcPr marL="68580" marR="68580" marT="0" marB="0" anchor="ctr"/>
                </a:tc>
                <a:tc>
                  <a:txBody>
                    <a:bodyPr/>
                    <a:lstStyle/>
                    <a:p>
                      <a:pPr marL="0" marR="0">
                        <a:spcBef>
                          <a:spcPts val="0"/>
                        </a:spcBef>
                        <a:spcAft>
                          <a:spcPts val="600"/>
                        </a:spcAft>
                      </a:pPr>
                      <a:r>
                        <a:rPr lang="en-US" sz="2400" b="1" dirty="0">
                          <a:solidFill>
                            <a:srgbClr val="000000"/>
                          </a:solidFill>
                          <a:effectLst/>
                          <a:latin typeface="Tahoma" charset="0"/>
                          <a:ea typeface="Tahoma" charset="0"/>
                          <a:cs typeface="Tahoma" charset="0"/>
                        </a:rPr>
                        <a:t>II: </a:t>
                      </a:r>
                      <a:r>
                        <a:rPr lang="en-US" sz="2400" dirty="0">
                          <a:solidFill>
                            <a:srgbClr val="000000"/>
                          </a:solidFill>
                          <a:effectLst/>
                          <a:latin typeface="Tahoma" charset="0"/>
                          <a:ea typeface="Tahoma" charset="0"/>
                          <a:cs typeface="Tahoma" charset="0"/>
                        </a:rPr>
                        <a:t>Only sales that occurred one year before loan decision or anytime after the decision.</a:t>
                      </a:r>
                    </a:p>
                  </a:txBody>
                  <a:tcPr marL="68580" marR="68580" marT="0" marB="0" anchor="ctr"/>
                </a:tc>
                <a:tc>
                  <a:txBody>
                    <a:bodyPr/>
                    <a:lstStyle/>
                    <a:p>
                      <a:pPr marL="0" marR="0">
                        <a:spcBef>
                          <a:spcPts val="0"/>
                        </a:spcBef>
                        <a:spcAft>
                          <a:spcPts val="600"/>
                        </a:spcAft>
                      </a:pPr>
                      <a:r>
                        <a:rPr lang="en-US" sz="2400" b="1" dirty="0">
                          <a:solidFill>
                            <a:srgbClr val="000000"/>
                          </a:solidFill>
                          <a:effectLst/>
                          <a:latin typeface="Tahoma" charset="0"/>
                          <a:ea typeface="Tahoma" charset="0"/>
                          <a:cs typeface="Tahoma" charset="0"/>
                        </a:rPr>
                        <a:t>IV: </a:t>
                      </a:r>
                      <a:r>
                        <a:rPr lang="en-US" sz="2400" dirty="0">
                          <a:solidFill>
                            <a:srgbClr val="000000"/>
                          </a:solidFill>
                          <a:effectLst/>
                          <a:latin typeface="Tahoma" charset="0"/>
                          <a:ea typeface="Tahoma" charset="0"/>
                          <a:cs typeface="Tahoma" charset="0"/>
                        </a:rPr>
                        <a:t>Only sales that occurred one year before loan decision or anytime after the decision and are marginal.</a:t>
                      </a:r>
                    </a:p>
                  </a:txBody>
                  <a:tcPr marL="68580" marR="68580" marT="0" marB="0" anchor="ctr"/>
                </a:tc>
              </a:tr>
            </a:tbl>
          </a:graphicData>
        </a:graphic>
      </p:graphicFrame>
      <p:sp>
        <p:nvSpPr>
          <p:cNvPr id="21" name="Rectangle 20"/>
          <p:cNvSpPr/>
          <p:nvPr/>
        </p:nvSpPr>
        <p:spPr>
          <a:xfrm>
            <a:off x="14695714" y="20994722"/>
            <a:ext cx="13258800" cy="2816156"/>
          </a:xfrm>
          <a:prstGeom prst="rect">
            <a:avLst/>
          </a:prstGeom>
        </p:spPr>
        <p:txBody>
          <a:bodyPr wrap="square">
            <a:spAutoFit/>
          </a:bodyPr>
          <a:lstStyle/>
          <a:p>
            <a:pPr>
              <a:spcAft>
                <a:spcPts val="600"/>
              </a:spcAft>
            </a:pPr>
            <a:r>
              <a:rPr lang="en-US" sz="3200" b="1" u="sng" dirty="0">
                <a:latin typeface="Tahoma" charset="0"/>
                <a:ea typeface="Tahoma" charset="0"/>
                <a:cs typeface="Tahoma" charset="0"/>
              </a:rPr>
              <a:t>Preliminary Statistics</a:t>
            </a:r>
          </a:p>
          <a:p>
            <a:pPr marL="457200" indent="-457200">
              <a:buFont typeface="Arial" panose="020B0604020202020204" pitchFamily="34" charset="0"/>
              <a:buChar char="•"/>
            </a:pPr>
            <a:r>
              <a:rPr lang="en-US" sz="2800" dirty="0">
                <a:latin typeface="Tahoma" charset="0"/>
                <a:ea typeface="Tahoma" charset="0"/>
                <a:cs typeface="Tahoma" charset="0"/>
              </a:rPr>
              <a:t>Total Accepted: </a:t>
            </a:r>
            <a:r>
              <a:rPr lang="en-US" sz="2800" b="1" dirty="0">
                <a:latin typeface="Tahoma" charset="0"/>
                <a:ea typeface="Tahoma" charset="0"/>
                <a:cs typeface="Tahoma" charset="0"/>
              </a:rPr>
              <a:t>97</a:t>
            </a:r>
          </a:p>
          <a:p>
            <a:pPr marL="457200" indent="-457200">
              <a:buFont typeface="Arial" panose="020B0604020202020204" pitchFamily="34" charset="0"/>
              <a:buChar char="•"/>
            </a:pPr>
            <a:r>
              <a:rPr lang="en-US" sz="2800" dirty="0">
                <a:latin typeface="Tahoma" charset="0"/>
                <a:ea typeface="Tahoma" charset="0"/>
                <a:cs typeface="Tahoma" charset="0"/>
              </a:rPr>
              <a:t>Total Denied: </a:t>
            </a:r>
            <a:r>
              <a:rPr lang="en-US" sz="2800" b="1" dirty="0">
                <a:latin typeface="Tahoma" charset="0"/>
                <a:ea typeface="Tahoma" charset="0"/>
                <a:cs typeface="Tahoma" charset="0"/>
              </a:rPr>
              <a:t>95</a:t>
            </a:r>
          </a:p>
          <a:p>
            <a:pPr marL="457200" indent="-457200">
              <a:buFont typeface="Arial" panose="020B0604020202020204" pitchFamily="34" charset="0"/>
              <a:buChar char="•"/>
            </a:pPr>
            <a:r>
              <a:rPr lang="en-US" sz="2800" dirty="0">
                <a:latin typeface="Tahoma" charset="0"/>
                <a:ea typeface="Tahoma" charset="0"/>
                <a:cs typeface="Tahoma" charset="0"/>
              </a:rPr>
              <a:t>Declined Loans Foreclosed On: </a:t>
            </a:r>
            <a:r>
              <a:rPr lang="en-US" sz="2800" b="1" dirty="0">
                <a:latin typeface="Tahoma" charset="0"/>
                <a:ea typeface="Tahoma" charset="0"/>
                <a:cs typeface="Tahoma" charset="0"/>
              </a:rPr>
              <a:t>12.5%</a:t>
            </a:r>
          </a:p>
          <a:p>
            <a:pPr marL="457200" indent="-457200">
              <a:buFont typeface="Arial" panose="020B0604020202020204" pitchFamily="34" charset="0"/>
              <a:buChar char="•"/>
            </a:pPr>
            <a:r>
              <a:rPr lang="en-US" sz="2800" dirty="0">
                <a:latin typeface="Tahoma" charset="0"/>
                <a:ea typeface="Tahoma" charset="0"/>
                <a:cs typeface="Tahoma" charset="0"/>
              </a:rPr>
              <a:t>Denied Applicants able to get a different Mortgage: </a:t>
            </a:r>
            <a:r>
              <a:rPr lang="en-US" sz="2800" b="1" dirty="0">
                <a:latin typeface="Tahoma" charset="0"/>
                <a:ea typeface="Tahoma" charset="0"/>
                <a:cs typeface="Tahoma" charset="0"/>
              </a:rPr>
              <a:t>13</a:t>
            </a:r>
          </a:p>
          <a:p>
            <a:pPr marL="457200" indent="-457200">
              <a:buFont typeface="Arial" panose="020B0604020202020204" pitchFamily="34" charset="0"/>
              <a:buChar char="•"/>
            </a:pPr>
            <a:r>
              <a:rPr lang="en-US" sz="2800" dirty="0">
                <a:latin typeface="Tahoma" charset="0"/>
                <a:ea typeface="Tahoma" charset="0"/>
                <a:cs typeface="Tahoma" charset="0"/>
              </a:rPr>
              <a:t>Average Time from Denial to New Mortgage: </a:t>
            </a:r>
            <a:r>
              <a:rPr lang="en-US" sz="2800" b="1" dirty="0">
                <a:latin typeface="Tahoma" charset="0"/>
                <a:ea typeface="Tahoma" charset="0"/>
                <a:cs typeface="Tahoma" charset="0"/>
              </a:rPr>
              <a:t>675 </a:t>
            </a:r>
            <a:r>
              <a:rPr lang="en-US" sz="2800" b="1" dirty="0" smtClean="0">
                <a:latin typeface="Tahoma" charset="0"/>
                <a:ea typeface="Tahoma" charset="0"/>
                <a:cs typeface="Tahoma" charset="0"/>
              </a:rPr>
              <a:t>days</a:t>
            </a:r>
            <a:endParaRPr lang="en-US" sz="2800" b="1" dirty="0">
              <a:latin typeface="Tahoma" charset="0"/>
              <a:ea typeface="Tahoma" charset="0"/>
              <a:cs typeface="Tahoma" charset="0"/>
            </a:endParaRPr>
          </a:p>
        </p:txBody>
      </p:sp>
      <p:sp>
        <p:nvSpPr>
          <p:cNvPr id="3" name="Rectangle 2"/>
          <p:cNvSpPr/>
          <p:nvPr/>
        </p:nvSpPr>
        <p:spPr>
          <a:xfrm>
            <a:off x="1066800" y="17120804"/>
            <a:ext cx="13106400" cy="15065663"/>
          </a:xfrm>
          <a:prstGeom prst="rect">
            <a:avLst/>
          </a:prstGeom>
        </p:spPr>
        <p:txBody>
          <a:bodyPr wrap="square">
            <a:spAutoFit/>
          </a:bodyPr>
          <a:lstStyle/>
          <a:p>
            <a:pPr>
              <a:spcAft>
                <a:spcPts val="600"/>
              </a:spcAft>
            </a:pPr>
            <a:r>
              <a:rPr lang="en-US" sz="3200" b="1" u="sng" dirty="0">
                <a:latin typeface="Tahoma" pitchFamily="34" charset="0"/>
                <a:ea typeface="Tahoma" pitchFamily="34" charset="0"/>
                <a:cs typeface="Tahoma" pitchFamily="34" charset="0"/>
              </a:rPr>
              <a:t>Loan Program</a:t>
            </a:r>
          </a:p>
          <a:p>
            <a:r>
              <a:rPr lang="en-US" sz="2800" dirty="0">
                <a:latin typeface="Tahoma" charset="0"/>
                <a:ea typeface="Tahoma" charset="0"/>
                <a:cs typeface="Tahoma" charset="0"/>
              </a:rPr>
              <a:t>Over the last few </a:t>
            </a:r>
            <a:r>
              <a:rPr lang="en-US" sz="2800" dirty="0" smtClean="0">
                <a:latin typeface="Tahoma" charset="0"/>
                <a:ea typeface="Tahoma" charset="0"/>
                <a:cs typeface="Tahoma" charset="0"/>
              </a:rPr>
              <a:t>years, Worcester </a:t>
            </a:r>
            <a:r>
              <a:rPr lang="en-US" sz="2800" dirty="0">
                <a:latin typeface="Tahoma" charset="0"/>
                <a:ea typeface="Tahoma" charset="0"/>
                <a:cs typeface="Tahoma" charset="0"/>
              </a:rPr>
              <a:t>Community Housing Resources, </a:t>
            </a:r>
            <a:r>
              <a:rPr lang="en-US" sz="2800" dirty="0" err="1" smtClean="0">
                <a:latin typeface="Tahoma" charset="0"/>
                <a:ea typeface="Tahoma" charset="0"/>
                <a:cs typeface="Tahoma" charset="0"/>
              </a:rPr>
              <a:t>Inc</a:t>
            </a:r>
            <a:r>
              <a:rPr lang="en-US" sz="2800" dirty="0" smtClean="0">
                <a:latin typeface="Tahoma" charset="0"/>
                <a:ea typeface="Tahoma" charset="0"/>
                <a:cs typeface="Tahoma" charset="0"/>
              </a:rPr>
              <a:t>,</a:t>
            </a:r>
            <a:r>
              <a:rPr lang="en-US" sz="2800" dirty="0">
                <a:latin typeface="Tahoma" charset="0"/>
                <a:ea typeface="Tahoma" charset="0"/>
                <a:cs typeface="Tahoma" charset="0"/>
              </a:rPr>
              <a:t> a local </a:t>
            </a:r>
            <a:r>
              <a:rPr lang="en-US" sz="2800" dirty="0" smtClean="0">
                <a:latin typeface="Tahoma" charset="0"/>
                <a:ea typeface="Tahoma" charset="0"/>
                <a:cs typeface="Tahoma" charset="0"/>
              </a:rPr>
              <a:t>CDFI, conducted </a:t>
            </a:r>
            <a:r>
              <a:rPr lang="en-US" sz="2800" dirty="0">
                <a:latin typeface="Tahoma" charset="0"/>
                <a:ea typeface="Tahoma" charset="0"/>
                <a:cs typeface="Tahoma" charset="0"/>
              </a:rPr>
              <a:t>a new type of </a:t>
            </a:r>
            <a:r>
              <a:rPr lang="en-US" sz="2800" b="1" dirty="0">
                <a:latin typeface="Tahoma" charset="0"/>
                <a:ea typeface="Tahoma" charset="0"/>
                <a:cs typeface="Tahoma" charset="0"/>
              </a:rPr>
              <a:t>home improvement loan </a:t>
            </a:r>
            <a:r>
              <a:rPr lang="en-US" sz="2800" dirty="0">
                <a:latin typeface="Tahoma" charset="0"/>
                <a:ea typeface="Tahoma" charset="0"/>
                <a:cs typeface="Tahoma" charset="0"/>
              </a:rPr>
              <a:t>program with the aim of helping low and middle income home owners. Many of the applicants for these loans are facing </a:t>
            </a:r>
            <a:r>
              <a:rPr lang="en-US" sz="2800" dirty="0" smtClean="0">
                <a:latin typeface="Tahoma" charset="0"/>
                <a:ea typeface="Tahoma" charset="0"/>
                <a:cs typeface="Tahoma" charset="0"/>
              </a:rPr>
              <a:t>increasing repair </a:t>
            </a:r>
            <a:r>
              <a:rPr lang="en-US" sz="2800" dirty="0">
                <a:latin typeface="Tahoma" charset="0"/>
                <a:ea typeface="Tahoma" charset="0"/>
                <a:cs typeface="Tahoma" charset="0"/>
              </a:rPr>
              <a:t>costs or </a:t>
            </a:r>
            <a:r>
              <a:rPr lang="en-US" sz="2800" dirty="0" smtClean="0">
                <a:latin typeface="Tahoma" charset="0"/>
                <a:ea typeface="Tahoma" charset="0"/>
                <a:cs typeface="Tahoma" charset="0"/>
              </a:rPr>
              <a:t>foreclosure </a:t>
            </a:r>
            <a:r>
              <a:rPr lang="en-US" sz="2800" dirty="0">
                <a:latin typeface="Tahoma" charset="0"/>
                <a:ea typeface="Tahoma" charset="0"/>
                <a:cs typeface="Tahoma" charset="0"/>
              </a:rPr>
              <a:t>if these problems related to housing code violations are not fixed. Homes that are </a:t>
            </a:r>
            <a:r>
              <a:rPr lang="en-US" sz="2800" dirty="0" smtClean="0">
                <a:latin typeface="Tahoma" charset="0"/>
                <a:ea typeface="Tahoma" charset="0"/>
                <a:cs typeface="Tahoma" charset="0"/>
              </a:rPr>
              <a:t>visibly in </a:t>
            </a:r>
            <a:r>
              <a:rPr lang="en-US" sz="2800" dirty="0">
                <a:latin typeface="Tahoma" charset="0"/>
                <a:ea typeface="Tahoma" charset="0"/>
                <a:cs typeface="Tahoma" charset="0"/>
              </a:rPr>
              <a:t>disrepair may have a negative effect on the sales price of surrounding homes and can prompt neighborhood decline</a:t>
            </a:r>
            <a:r>
              <a:rPr lang="en-US" sz="2800" dirty="0" smtClean="0">
                <a:latin typeface="Tahoma" charset="0"/>
                <a:ea typeface="Tahoma" charset="0"/>
                <a:cs typeface="Tahoma" charset="0"/>
              </a:rPr>
              <a:t>.</a:t>
            </a:r>
            <a:endParaRPr lang="en-US" sz="3200" b="1" u="sng" dirty="0">
              <a:latin typeface="Arial"/>
              <a:ea typeface="Tahoma" pitchFamily="34" charset="0"/>
              <a:cs typeface="Arial"/>
            </a:endParaRPr>
          </a:p>
          <a:p>
            <a:pPr>
              <a:spcBef>
                <a:spcPts val="1800"/>
              </a:spcBef>
              <a:spcAft>
                <a:spcPts val="600"/>
              </a:spcAft>
            </a:pPr>
            <a:r>
              <a:rPr lang="en-US" sz="3200" b="1" u="sng" dirty="0">
                <a:latin typeface="Tahoma" charset="0"/>
                <a:ea typeface="Tahoma" charset="0"/>
                <a:cs typeface="Tahoma" charset="0"/>
              </a:rPr>
              <a:t>Rules of Home Improvement Loans</a:t>
            </a:r>
          </a:p>
          <a:p>
            <a:pPr marL="457200" indent="-457200">
              <a:buFont typeface="Arial" panose="020B0604020202020204" pitchFamily="34" charset="0"/>
              <a:buChar char="•"/>
            </a:pPr>
            <a:r>
              <a:rPr lang="en-US" sz="2800" dirty="0">
                <a:latin typeface="Tahoma" charset="0"/>
                <a:ea typeface="Tahoma" charset="0"/>
                <a:cs typeface="Tahoma" charset="0"/>
              </a:rPr>
              <a:t>Loan-to-Value Ratio Below 120% Factoring in Newest Mortgage</a:t>
            </a:r>
          </a:p>
          <a:p>
            <a:pPr marL="457200" indent="-457200">
              <a:buFont typeface="Arial" panose="020B0604020202020204" pitchFamily="34" charset="0"/>
              <a:buChar char="•"/>
            </a:pPr>
            <a:r>
              <a:rPr lang="en-US" sz="2800" dirty="0">
                <a:latin typeface="Tahoma" charset="0"/>
                <a:ea typeface="Tahoma" charset="0"/>
                <a:cs typeface="Tahoma" charset="0"/>
              </a:rPr>
              <a:t>Applicant Below 120% of Area Median Income</a:t>
            </a:r>
          </a:p>
          <a:p>
            <a:pPr marL="457200" indent="-457200">
              <a:buFont typeface="Arial" panose="020B0604020202020204" pitchFamily="34" charset="0"/>
              <a:buChar char="•"/>
            </a:pPr>
            <a:r>
              <a:rPr lang="en-US" sz="2800" dirty="0">
                <a:latin typeface="Tahoma" charset="0"/>
                <a:ea typeface="Tahoma" charset="0"/>
                <a:cs typeface="Tahoma" charset="0"/>
              </a:rPr>
              <a:t>Nature of Repairs Must be Vital, No Vanity Work</a:t>
            </a:r>
          </a:p>
          <a:p>
            <a:pPr marL="457200" indent="-457200">
              <a:buFont typeface="Arial" panose="020B0604020202020204" pitchFamily="34" charset="0"/>
              <a:buChar char="•"/>
            </a:pPr>
            <a:r>
              <a:rPr lang="en-US" sz="2800" dirty="0">
                <a:latin typeface="Tahoma" charset="0"/>
                <a:ea typeface="Tahoma" charset="0"/>
                <a:cs typeface="Tahoma" charset="0"/>
              </a:rPr>
              <a:t>Funds Must Be Spent on Repairs</a:t>
            </a:r>
          </a:p>
          <a:p>
            <a:pPr marL="457200" indent="-457200">
              <a:buFont typeface="Arial" panose="020B0604020202020204" pitchFamily="34" charset="0"/>
              <a:buChar char="•"/>
            </a:pPr>
            <a:r>
              <a:rPr lang="en-US" sz="2800" dirty="0">
                <a:latin typeface="Tahoma" charset="0"/>
                <a:ea typeface="Tahoma" charset="0"/>
                <a:cs typeface="Tahoma" charset="0"/>
              </a:rPr>
              <a:t>Only Trusted Contractors are Used </a:t>
            </a:r>
          </a:p>
          <a:p>
            <a:pPr marL="457200" indent="-457200">
              <a:buFont typeface="Arial" panose="020B0604020202020204" pitchFamily="34" charset="0"/>
              <a:buChar char="•"/>
            </a:pPr>
            <a:r>
              <a:rPr lang="en-US" sz="2800" dirty="0">
                <a:latin typeface="Tahoma" charset="0"/>
                <a:ea typeface="Tahoma" charset="0"/>
                <a:cs typeface="Tahoma" charset="0"/>
              </a:rPr>
              <a:t>WCHR Sends its Own Representative to Ensure the Work is Done Well</a:t>
            </a:r>
          </a:p>
          <a:p>
            <a:pPr>
              <a:spcBef>
                <a:spcPts val="1800"/>
              </a:spcBef>
              <a:spcAft>
                <a:spcPts val="600"/>
              </a:spcAft>
            </a:pPr>
            <a:r>
              <a:rPr lang="en-US" sz="3200" b="1" u="sng" dirty="0">
                <a:latin typeface="Tahoma" charset="0"/>
                <a:ea typeface="Tahoma" charset="0"/>
                <a:cs typeface="Tahoma" charset="0"/>
              </a:rPr>
              <a:t>Comparing Accepted Loans vs. Denied Loans</a:t>
            </a:r>
          </a:p>
          <a:p>
            <a:r>
              <a:rPr lang="en-US" sz="2800" dirty="0">
                <a:latin typeface="Tahoma" charset="0"/>
                <a:ea typeface="Tahoma" charset="0"/>
                <a:cs typeface="Tahoma" charset="0"/>
              </a:rPr>
              <a:t>This thesis will be comparing the effects of loans with those of applicants that were denied. Denied loans are used to control the type of homeowner used to compare the effects of the loans because it constrains the target groups to those effected by similar homeowners or landlords. It also ensures a comparison between homes In similar home repair situations and social classes. Below are what the expected effects of getting a loan are compared to those with denied.</a:t>
            </a:r>
          </a:p>
          <a:p>
            <a:pPr>
              <a:spcBef>
                <a:spcPts val="1800"/>
              </a:spcBef>
              <a:spcAft>
                <a:spcPts val="600"/>
              </a:spcAft>
            </a:pPr>
            <a:r>
              <a:rPr lang="en-US" sz="3200" b="1" u="sng" dirty="0">
                <a:latin typeface="Tahoma" charset="0"/>
                <a:ea typeface="Tahoma" charset="0"/>
                <a:cs typeface="Tahoma" charset="0"/>
              </a:rPr>
              <a:t>Accepted</a:t>
            </a:r>
          </a:p>
          <a:p>
            <a:pPr marL="457200" indent="-457200">
              <a:buFont typeface="Arial" panose="020B0604020202020204" pitchFamily="34" charset="0"/>
              <a:buChar char="•"/>
            </a:pPr>
            <a:r>
              <a:rPr lang="en-US" sz="2800" dirty="0">
                <a:latin typeface="Tahoma" charset="0"/>
                <a:ea typeface="Tahoma" charset="0"/>
                <a:cs typeface="Tahoma" charset="0"/>
              </a:rPr>
              <a:t>Property Will Maintain Value</a:t>
            </a:r>
          </a:p>
          <a:p>
            <a:pPr marL="457200" indent="-457200">
              <a:buFont typeface="Arial" panose="020B0604020202020204" pitchFamily="34" charset="0"/>
              <a:buChar char="•"/>
            </a:pPr>
            <a:r>
              <a:rPr lang="en-US" sz="2800" dirty="0">
                <a:latin typeface="Tahoma" charset="0"/>
                <a:ea typeface="Tahoma" charset="0"/>
                <a:cs typeface="Tahoma" charset="0"/>
              </a:rPr>
              <a:t>No Long-Term Negative Effects to Neighborhood</a:t>
            </a:r>
          </a:p>
          <a:p>
            <a:pPr marL="457200" indent="-457200">
              <a:buFont typeface="Arial" panose="020B0604020202020204" pitchFamily="34" charset="0"/>
              <a:buChar char="•"/>
            </a:pPr>
            <a:r>
              <a:rPr lang="en-US" sz="2800" dirty="0">
                <a:latin typeface="Tahoma" charset="0"/>
                <a:ea typeface="Tahoma" charset="0"/>
                <a:cs typeface="Tahoma" charset="0"/>
              </a:rPr>
              <a:t>No Further Action Needed on Home</a:t>
            </a:r>
            <a:endParaRPr lang="en-US" sz="3600" b="1" u="sng" dirty="0">
              <a:latin typeface="Tahoma" charset="0"/>
              <a:ea typeface="Tahoma" charset="0"/>
              <a:cs typeface="Tahoma" charset="0"/>
            </a:endParaRPr>
          </a:p>
          <a:p>
            <a:pPr>
              <a:spcBef>
                <a:spcPts val="1800"/>
              </a:spcBef>
              <a:spcAft>
                <a:spcPts val="600"/>
              </a:spcAft>
            </a:pPr>
            <a:r>
              <a:rPr lang="en-US" sz="3200" b="1" u="sng" dirty="0">
                <a:latin typeface="Tahoma" charset="0"/>
                <a:ea typeface="Tahoma" charset="0"/>
                <a:cs typeface="Tahoma" charset="0"/>
              </a:rPr>
              <a:t>Denied</a:t>
            </a:r>
          </a:p>
          <a:p>
            <a:pPr marL="457200" indent="-457200">
              <a:buFont typeface="Arial" panose="020B0604020202020204" pitchFamily="34" charset="0"/>
              <a:buChar char="•"/>
            </a:pPr>
            <a:r>
              <a:rPr lang="en-US" sz="2800" dirty="0">
                <a:latin typeface="Tahoma" charset="0"/>
                <a:ea typeface="Tahoma" charset="0"/>
                <a:cs typeface="Tahoma" charset="0"/>
              </a:rPr>
              <a:t>Property Value Will Decline</a:t>
            </a:r>
          </a:p>
          <a:p>
            <a:pPr marL="457200" indent="-457200">
              <a:buFont typeface="Arial" panose="020B0604020202020204" pitchFamily="34" charset="0"/>
              <a:buChar char="•"/>
            </a:pPr>
            <a:r>
              <a:rPr lang="en-US" sz="2800" dirty="0">
                <a:latin typeface="Tahoma" charset="0"/>
                <a:ea typeface="Tahoma" charset="0"/>
                <a:cs typeface="Tahoma" charset="0"/>
              </a:rPr>
              <a:t>Surrounding Area Will Also See Decreasing Values</a:t>
            </a:r>
          </a:p>
          <a:p>
            <a:pPr marL="457200" indent="-457200">
              <a:buFont typeface="Arial" panose="020B0604020202020204" pitchFamily="34" charset="0"/>
              <a:buChar char="•"/>
            </a:pPr>
            <a:r>
              <a:rPr lang="en-US" sz="2800" dirty="0">
                <a:latin typeface="Tahoma" charset="0"/>
                <a:ea typeface="Tahoma" charset="0"/>
                <a:cs typeface="Tahoma" charset="0"/>
              </a:rPr>
              <a:t>Municipal Liens and Foreclosure Possible</a:t>
            </a:r>
          </a:p>
          <a:p>
            <a:pPr marL="457200" indent="-457200">
              <a:buFont typeface="Arial" panose="020B0604020202020204" pitchFamily="34" charset="0"/>
              <a:buChar char="•"/>
            </a:pPr>
            <a:r>
              <a:rPr lang="en-US" sz="2800" dirty="0">
                <a:latin typeface="Tahoma" charset="0"/>
                <a:ea typeface="Tahoma" charset="0"/>
                <a:cs typeface="Tahoma" charset="0"/>
              </a:rPr>
              <a:t>Higher Risk of </a:t>
            </a:r>
            <a:r>
              <a:rPr lang="en-US" sz="2800" dirty="0" smtClean="0">
                <a:latin typeface="Tahoma" charset="0"/>
                <a:ea typeface="Tahoma" charset="0"/>
                <a:cs typeface="Tahoma" charset="0"/>
              </a:rPr>
              <a:t>Abandonment</a:t>
            </a:r>
            <a:endParaRPr lang="en-US" sz="2800" dirty="0">
              <a:latin typeface="Tahoma" charset="0"/>
              <a:ea typeface="Tahoma" charset="0"/>
              <a:cs typeface="Tahoma" charset="0"/>
            </a:endParaRPr>
          </a:p>
        </p:txBody>
      </p:sp>
      <p:graphicFrame>
        <p:nvGraphicFramePr>
          <p:cNvPr id="19" name="Chart 18"/>
          <p:cNvGraphicFramePr/>
          <p:nvPr>
            <p:extLst>
              <p:ext uri="{D42A27DB-BD31-4B8C-83A1-F6EECF244321}">
                <p14:modId xmlns:p14="http://schemas.microsoft.com/office/powerpoint/2010/main" val="1545032460"/>
              </p:ext>
            </p:extLst>
          </p:nvPr>
        </p:nvGraphicFramePr>
        <p:xfrm>
          <a:off x="1023257" y="10574259"/>
          <a:ext cx="12268200" cy="624840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1"/>
          <p:cNvSpPr>
            <a:spLocks noChangeArrowheads="1"/>
          </p:cNvSpPr>
          <p:nvPr/>
        </p:nvSpPr>
        <p:spPr bwMode="auto">
          <a:xfrm>
            <a:off x="0" y="0"/>
            <a:ext cx="43891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days </a:t>
            </a:r>
          </a:p>
        </p:txBody>
      </p:sp>
      <p:pic>
        <p:nvPicPr>
          <p:cNvPr id="9" name="Picture 8" descr="Map.png"/>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14180385" y="5698689"/>
            <a:ext cx="14013615" cy="15332511"/>
          </a:xfrm>
          <a:prstGeom prst="rect">
            <a:avLst/>
          </a:prstGeom>
          <a:ln>
            <a:noFill/>
          </a:ln>
          <a:effectLst>
            <a:outerShdw blurRad="292100" dist="139700" dir="2700000" algn="tl" rotWithShape="0">
              <a:srgbClr val="333333">
                <a:alpha val="65000"/>
              </a:srgbClr>
            </a:outerShdw>
          </a:effectLst>
        </p:spPr>
      </p:pic>
      <p:pic>
        <p:nvPicPr>
          <p:cNvPr id="10" name="Picture 9" descr="map1.png"/>
          <p:cNvPicPr>
            <a:picLocks noChangeAspect="1"/>
          </p:cNvPicPr>
          <p:nvPr/>
        </p:nvPicPr>
        <p:blipFill rotWithShape="1">
          <a:blip r:embed="rId6">
            <a:extLst>
              <a:ext uri="{28A0092B-C50C-407E-A947-70E740481C1C}">
                <a14:useLocalDpi xmlns:a14="http://schemas.microsoft.com/office/drawing/2010/main" val="0"/>
              </a:ext>
            </a:extLst>
          </a:blip>
          <a:srcRect/>
          <a:stretch/>
        </p:blipFill>
        <p:spPr>
          <a:xfrm>
            <a:off x="14706600" y="5833349"/>
            <a:ext cx="4190807" cy="4740910"/>
          </a:xfrm>
          <a:prstGeom prst="rect">
            <a:avLst/>
          </a:prstGeom>
          <a:effectLst/>
        </p:spPr>
      </p:pic>
      <p:pic>
        <p:nvPicPr>
          <p:cNvPr id="15" name="Picture 14" descr="north-arrow-orienteering-hi.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146000" y="6852819"/>
            <a:ext cx="1367935" cy="1979211"/>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202550399"/>
              </p:ext>
            </p:extLst>
          </p:nvPr>
        </p:nvGraphicFramePr>
        <p:xfrm>
          <a:off x="14695714" y="24285535"/>
          <a:ext cx="13171716" cy="7444144"/>
        </p:xfrm>
        <a:graphic>
          <a:graphicData uri="http://schemas.openxmlformats.org/drawingml/2006/table">
            <a:tbl>
              <a:tblPr/>
              <a:tblGrid>
                <a:gridCol w="2220686"/>
                <a:gridCol w="4365172"/>
                <a:gridCol w="3292929"/>
                <a:gridCol w="3292929"/>
              </a:tblGrid>
              <a:tr h="860465">
                <a:tc gridSpan="4">
                  <a:txBody>
                    <a:bodyPr/>
                    <a:lstStyle/>
                    <a:p>
                      <a:pPr>
                        <a:spcAft>
                          <a:spcPts val="600"/>
                        </a:spcAft>
                      </a:pPr>
                      <a:r>
                        <a:rPr lang="en-US" sz="3200" b="1" u="sng" dirty="0" smtClean="0">
                          <a:latin typeface="Tahoma" charset="0"/>
                          <a:ea typeface="Tahoma" charset="0"/>
                          <a:cs typeface="Tahoma" charset="0"/>
                        </a:rPr>
                        <a:t>Regression Models</a:t>
                      </a:r>
                      <a:endParaRPr lang="en-US" sz="3200" b="1" u="sng"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sz="3200" dirty="0">
                        <a:latin typeface="Tahoma" charset="0"/>
                        <a:ea typeface="Tahoma" charset="0"/>
                        <a:cs typeface="Tahoma" charset="0"/>
                      </a:endParaRPr>
                    </a:p>
                  </a:txBody>
                  <a:tcPr/>
                </a:tc>
                <a:tc hMerge="1">
                  <a:txBody>
                    <a:bodyPr/>
                    <a:lstStyle/>
                    <a:p>
                      <a:endParaRPr lang="en-US" sz="3200" dirty="0">
                        <a:latin typeface="Tahoma" charset="0"/>
                        <a:ea typeface="Tahoma" charset="0"/>
                        <a:cs typeface="Tahoma" charset="0"/>
                      </a:endParaRPr>
                    </a:p>
                  </a:txBody>
                  <a:tcPr/>
                </a:tc>
              </a:tr>
              <a:tr h="914400">
                <a:tc gridSpan="4">
                  <a:txBody>
                    <a:bodyPr/>
                    <a:lstStyle/>
                    <a:p>
                      <a:pPr marL="0" marR="0" indent="0" algn="l" defTabSz="4389120" rtl="0" eaLnBrk="1" fontAlgn="auto" latinLnBrk="0" hangingPunct="1">
                        <a:lnSpc>
                          <a:spcPct val="100000"/>
                        </a:lnSpc>
                        <a:spcBef>
                          <a:spcPts val="600"/>
                        </a:spcBef>
                        <a:spcAft>
                          <a:spcPts val="1200"/>
                        </a:spcAft>
                        <a:buClrTx/>
                        <a:buSzTx/>
                        <a:buFontTx/>
                        <a:buNone/>
                        <a:tabLst/>
                        <a:defRPr/>
                      </a:pPr>
                      <a:r>
                        <a:rPr lang="en-US" sz="2800" dirty="0" smtClean="0">
                          <a:latin typeface="Tahoma" charset="0"/>
                          <a:ea typeface="Tahoma" charset="0"/>
                          <a:cs typeface="Tahoma" charset="0"/>
                        </a:rPr>
                        <a:t>ln(</a:t>
                      </a:r>
                      <a:r>
                        <a:rPr lang="en-US" sz="2800" dirty="0" err="1" smtClean="0">
                          <a:latin typeface="Tahoma" charset="0"/>
                          <a:ea typeface="Tahoma" charset="0"/>
                          <a:cs typeface="Tahoma" charset="0"/>
                        </a:rPr>
                        <a:t>Saleprice</a:t>
                      </a:r>
                      <a:r>
                        <a:rPr lang="en-US" sz="2800" dirty="0" smtClean="0">
                          <a:latin typeface="Tahoma" charset="0"/>
                          <a:ea typeface="Tahoma" charset="0"/>
                          <a:cs typeface="Tahoma" charset="0"/>
                        </a:rPr>
                        <a:t>) = </a:t>
                      </a:r>
                      <a:r>
                        <a:rPr lang="el-GR" sz="2800" dirty="0" smtClean="0">
                          <a:latin typeface="Tahoma" charset="0"/>
                          <a:ea typeface="Tahoma" charset="0"/>
                          <a:cs typeface="Tahoma" charset="0"/>
                        </a:rPr>
                        <a:t>α</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1</a:t>
                      </a:r>
                      <a:r>
                        <a:rPr lang="en-US" sz="2800" dirty="0" smtClean="0">
                          <a:latin typeface="Tahoma" charset="0"/>
                          <a:ea typeface="Tahoma" charset="0"/>
                          <a:cs typeface="Tahoma" charset="0"/>
                        </a:rPr>
                        <a:t>(accepted) +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2</a:t>
                      </a:r>
                      <a:r>
                        <a:rPr lang="en-US" sz="2800" dirty="0" smtClean="0">
                          <a:latin typeface="Tahoma" charset="0"/>
                          <a:ea typeface="Tahoma" charset="0"/>
                          <a:cs typeface="Tahoma" charset="0"/>
                        </a:rPr>
                        <a:t>(assault) + ∑</a:t>
                      </a:r>
                      <a:r>
                        <a:rPr lang="en-US" sz="2800" baseline="30000" dirty="0" smtClean="0">
                          <a:latin typeface="Tahoma" charset="0"/>
                          <a:ea typeface="Tahoma" charset="0"/>
                          <a:cs typeface="Tahoma" charset="0"/>
                        </a:rPr>
                        <a:t>i</a:t>
                      </a:r>
                      <a:r>
                        <a:rPr lang="en-US" sz="2800" baseline="-25000" dirty="0" smtClean="0">
                          <a:latin typeface="Tahoma" charset="0"/>
                          <a:ea typeface="Tahoma" charset="0"/>
                          <a:cs typeface="Tahoma" charset="0"/>
                        </a:rPr>
                        <a:t>2</a:t>
                      </a:r>
                      <a:r>
                        <a:rPr lang="en-US" sz="2800" dirty="0" smtClean="0">
                          <a:latin typeface="Tahoma" charset="0"/>
                          <a:ea typeface="Tahoma" charset="0"/>
                          <a:cs typeface="Tahoma" charset="0"/>
                        </a:rPr>
                        <a:t>(</a:t>
                      </a:r>
                      <a:r>
                        <a:rPr lang="el-GR" sz="2800" dirty="0" smtClean="0">
                          <a:latin typeface="Tahoma" charset="0"/>
                          <a:ea typeface="Tahoma" charset="0"/>
                          <a:cs typeface="Tahoma" charset="0"/>
                        </a:rPr>
                        <a:t>β</a:t>
                      </a:r>
                      <a:r>
                        <a:rPr lang="en-US" sz="2800" baseline="-25000" dirty="0" err="1" smtClean="0">
                          <a:latin typeface="Tahoma" charset="0"/>
                          <a:ea typeface="Tahoma" charset="0"/>
                          <a:cs typeface="Tahoma" charset="0"/>
                        </a:rPr>
                        <a:t>i</a:t>
                      </a:r>
                      <a:r>
                        <a:rPr lang="en-US" sz="2800" dirty="0" err="1" smtClean="0">
                          <a:latin typeface="Tahoma" charset="0"/>
                          <a:ea typeface="Tahoma" charset="0"/>
                          <a:cs typeface="Tahoma" charset="0"/>
                        </a:rPr>
                        <a:t>x</a:t>
                      </a:r>
                      <a:r>
                        <a:rPr lang="en-US" sz="2800" baseline="-25000" dirty="0" err="1" smtClean="0">
                          <a:latin typeface="Tahoma" charset="0"/>
                          <a:ea typeface="Tahoma" charset="0"/>
                          <a:cs typeface="Tahoma" charset="0"/>
                        </a:rPr>
                        <a:t>i</a:t>
                      </a:r>
                      <a:r>
                        <a:rPr lang="en-US" sz="2800" dirty="0" smtClean="0">
                          <a:latin typeface="Tahoma" charset="0"/>
                          <a:ea typeface="Tahoma" charset="0"/>
                          <a:cs typeface="Tahoma" charset="0"/>
                        </a:rPr>
                        <a:t>) + ∑</a:t>
                      </a:r>
                      <a:r>
                        <a:rPr lang="en-US" sz="2800" baseline="30000" dirty="0" smtClean="0">
                          <a:latin typeface="Tahoma" charset="0"/>
                          <a:ea typeface="Tahoma" charset="0"/>
                          <a:cs typeface="Tahoma" charset="0"/>
                        </a:rPr>
                        <a:t>i</a:t>
                      </a:r>
                      <a:r>
                        <a:rPr lang="en-US" sz="2800" baseline="-25000" dirty="0" smtClean="0">
                          <a:latin typeface="Tahoma" charset="0"/>
                          <a:ea typeface="Tahoma" charset="0"/>
                          <a:cs typeface="Tahoma" charset="0"/>
                        </a:rPr>
                        <a:t>3</a:t>
                      </a:r>
                      <a:r>
                        <a:rPr lang="en-US" sz="2800" dirty="0" smtClean="0">
                          <a:latin typeface="Tahoma" charset="0"/>
                          <a:ea typeface="Tahoma" charset="0"/>
                          <a:cs typeface="Tahoma" charset="0"/>
                        </a:rPr>
                        <a:t>(</a:t>
                      </a:r>
                      <a:r>
                        <a:rPr lang="el-GR" sz="2800" dirty="0" smtClean="0">
                          <a:latin typeface="Tahoma" charset="0"/>
                          <a:ea typeface="Tahoma" charset="0"/>
                          <a:cs typeface="Tahoma" charset="0"/>
                        </a:rPr>
                        <a:t>δ</a:t>
                      </a:r>
                      <a:r>
                        <a:rPr lang="en-US" sz="2800" baseline="-25000" dirty="0" err="1" smtClean="0">
                          <a:latin typeface="Tahoma" charset="0"/>
                          <a:ea typeface="Tahoma" charset="0"/>
                          <a:cs typeface="Tahoma" charset="0"/>
                        </a:rPr>
                        <a:t>i</a:t>
                      </a:r>
                      <a:r>
                        <a:rPr lang="en-US" sz="2800" dirty="0" err="1" smtClean="0">
                          <a:latin typeface="Tahoma" charset="0"/>
                          <a:ea typeface="Tahoma" charset="0"/>
                          <a:cs typeface="Tahoma" charset="0"/>
                        </a:rPr>
                        <a:t>x</a:t>
                      </a:r>
                      <a:r>
                        <a:rPr lang="en-US" sz="2800" baseline="-25000" dirty="0" err="1" smtClean="0">
                          <a:latin typeface="Tahoma" charset="0"/>
                          <a:ea typeface="Tahoma" charset="0"/>
                          <a:cs typeface="Tahoma" charset="0"/>
                        </a:rPr>
                        <a:t>i</a:t>
                      </a:r>
                      <a:r>
                        <a:rPr lang="en-US" sz="2800" dirty="0" smtClean="0">
                          <a:latin typeface="Tahoma" charset="0"/>
                          <a:ea typeface="Tahoma" charset="0"/>
                          <a:cs typeface="Tahoma" charset="0"/>
                        </a:rPr>
                        <a:t>)+</a:t>
                      </a:r>
                      <a:r>
                        <a:rPr lang="el-GR" sz="2800" dirty="0" smtClean="0">
                          <a:latin typeface="Tahoma" charset="0"/>
                          <a:ea typeface="Tahoma" charset="0"/>
                          <a:cs typeface="Tahoma" charset="0"/>
                        </a:rPr>
                        <a:t>ε</a:t>
                      </a:r>
                      <a:r>
                        <a:rPr lang="en-US" sz="2800" baseline="-25000" dirty="0" err="1" smtClean="0">
                          <a:latin typeface="Tahoma" charset="0"/>
                          <a:ea typeface="Tahoma" charset="0"/>
                          <a:cs typeface="Tahoma" charset="0"/>
                        </a:rPr>
                        <a:t>ij</a:t>
                      </a:r>
                      <a:endParaRPr lang="en-US" sz="2800" dirty="0" smtClean="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sz="3200" dirty="0">
                        <a:latin typeface="Tahoma" charset="0"/>
                        <a:ea typeface="Tahoma" charset="0"/>
                        <a:cs typeface="Tahoma" charset="0"/>
                      </a:endParaRPr>
                    </a:p>
                  </a:txBody>
                  <a:tcPr/>
                </a:tc>
                <a:tc hMerge="1">
                  <a:txBody>
                    <a:bodyPr/>
                    <a:lstStyle/>
                    <a:p>
                      <a:endParaRPr lang="en-US" sz="3200" dirty="0">
                        <a:latin typeface="Tahoma" charset="0"/>
                        <a:ea typeface="Tahoma" charset="0"/>
                        <a:cs typeface="Tahoma" charset="0"/>
                      </a:endParaRPr>
                    </a:p>
                  </a:txBody>
                  <a:tcPr/>
                </a:tc>
              </a:tr>
              <a:tr h="479561">
                <a:tc gridSpan="4">
                  <a:txBody>
                    <a:bodyPr/>
                    <a:lstStyle/>
                    <a:p>
                      <a:pPr marL="0" marR="0" indent="0" algn="l" defTabSz="4389120" rtl="0" eaLnBrk="1" fontAlgn="auto" latinLnBrk="0" hangingPunct="1">
                        <a:lnSpc>
                          <a:spcPct val="100000"/>
                        </a:lnSpc>
                        <a:spcBef>
                          <a:spcPts val="0"/>
                        </a:spcBef>
                        <a:spcAft>
                          <a:spcPts val="0"/>
                        </a:spcAft>
                        <a:buClrTx/>
                        <a:buSzTx/>
                        <a:buFontTx/>
                        <a:buNone/>
                        <a:tabLst/>
                        <a:defRPr/>
                      </a:pPr>
                      <a:r>
                        <a:rPr lang="en-US" sz="2800" dirty="0" smtClean="0">
                          <a:latin typeface="Tahoma" charset="0"/>
                          <a:ea typeface="Tahoma" charset="0"/>
                          <a:cs typeface="Tahoma" charset="0"/>
                        </a:rPr>
                        <a:t>Hypothesis: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sz="3200" dirty="0">
                        <a:latin typeface="Tahoma" charset="0"/>
                        <a:ea typeface="Tahoma" charset="0"/>
                        <a:cs typeface="Tahoma" charset="0"/>
                      </a:endParaRPr>
                    </a:p>
                  </a:txBody>
                  <a:tcPr/>
                </a:tc>
                <a:tc hMerge="1">
                  <a:txBody>
                    <a:bodyPr/>
                    <a:lstStyle/>
                    <a:p>
                      <a:endParaRPr lang="en-US" sz="3200" dirty="0">
                        <a:latin typeface="Tahoma" charset="0"/>
                        <a:ea typeface="Tahoma" charset="0"/>
                        <a:cs typeface="Tahoma" charset="0"/>
                      </a:endParaRPr>
                    </a:p>
                  </a:txBody>
                  <a:tcPr/>
                </a:tc>
              </a:tr>
              <a:tr h="929640">
                <a:tc>
                  <a:txBody>
                    <a:bodyPr/>
                    <a:lstStyle/>
                    <a:p>
                      <a:endParaRPr lang="en-US" sz="28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2800" dirty="0" smtClean="0">
                          <a:latin typeface="Tahoma" charset="0"/>
                          <a:ea typeface="Tahoma" charset="0"/>
                          <a:cs typeface="Tahoma" charset="0"/>
                        </a:rPr>
                        <a:t>H</a:t>
                      </a:r>
                      <a:r>
                        <a:rPr lang="en-US" sz="2800" baseline="-25000" dirty="0" smtClean="0">
                          <a:latin typeface="Tahoma" charset="0"/>
                          <a:ea typeface="Tahoma" charset="0"/>
                          <a:cs typeface="Tahoma" charset="0"/>
                        </a:rPr>
                        <a:t>0</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1</a:t>
                      </a:r>
                      <a:r>
                        <a:rPr lang="en-US" sz="2800" dirty="0" smtClean="0">
                          <a:latin typeface="Tahoma" charset="0"/>
                          <a:ea typeface="Tahoma" charset="0"/>
                          <a:cs typeface="Tahoma" charset="0"/>
                        </a:rPr>
                        <a:t> </a:t>
                      </a:r>
                      <a:r>
                        <a:rPr lang="en-US" sz="2800" u="sng" dirty="0" smtClean="0">
                          <a:latin typeface="Tahoma" charset="0"/>
                          <a:ea typeface="Tahoma" charset="0"/>
                          <a:cs typeface="Tahoma" charset="0"/>
                        </a:rPr>
                        <a:t>&lt;</a:t>
                      </a:r>
                      <a:r>
                        <a:rPr lang="en-US" sz="2800" dirty="0" smtClean="0">
                          <a:latin typeface="Tahoma" charset="0"/>
                          <a:ea typeface="Tahoma" charset="0"/>
                          <a:cs typeface="Tahoma" charset="0"/>
                        </a:rPr>
                        <a:t> 0</a:t>
                      </a:r>
                      <a:endParaRPr lang="en-US" sz="28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1" indent="0" algn="l" defTabSz="4389120" rtl="0" eaLnBrk="1" fontAlgn="auto" latinLnBrk="0" hangingPunct="1">
                        <a:lnSpc>
                          <a:spcPct val="100000"/>
                        </a:lnSpc>
                        <a:spcBef>
                          <a:spcPts val="0"/>
                        </a:spcBef>
                        <a:spcAft>
                          <a:spcPts val="0"/>
                        </a:spcAft>
                        <a:buClrTx/>
                        <a:buSzTx/>
                        <a:buFontTx/>
                        <a:buNone/>
                        <a:tabLst/>
                        <a:defRPr/>
                      </a:pPr>
                      <a:r>
                        <a:rPr lang="en-US" sz="2800" dirty="0" smtClean="0">
                          <a:latin typeface="Tahoma" charset="0"/>
                          <a:ea typeface="Tahoma" charset="0"/>
                          <a:cs typeface="Tahoma" charset="0"/>
                        </a:rPr>
                        <a:t>H</a:t>
                      </a:r>
                      <a:r>
                        <a:rPr lang="en-US" sz="2800" baseline="-25000" dirty="0" smtClean="0">
                          <a:latin typeface="Tahoma" charset="0"/>
                          <a:ea typeface="Tahoma" charset="0"/>
                          <a:cs typeface="Tahoma" charset="0"/>
                        </a:rPr>
                        <a:t>a</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1</a:t>
                      </a:r>
                      <a:r>
                        <a:rPr lang="en-US" sz="2800" dirty="0" smtClean="0">
                          <a:latin typeface="Tahoma" charset="0"/>
                          <a:ea typeface="Tahoma" charset="0"/>
                          <a:cs typeface="Tahoma" charset="0"/>
                        </a:rPr>
                        <a:t>&gt; 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32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1295400">
                <a:tc gridSpan="4">
                  <a:txBody>
                    <a:bodyPr/>
                    <a:lstStyle/>
                    <a:p>
                      <a:pPr marL="0" marR="0" indent="0" algn="l" defTabSz="4389120" rtl="0" eaLnBrk="1" fontAlgn="auto" latinLnBrk="0" hangingPunct="1">
                        <a:lnSpc>
                          <a:spcPct val="100000"/>
                        </a:lnSpc>
                        <a:spcBef>
                          <a:spcPts val="0"/>
                        </a:spcBef>
                        <a:spcAft>
                          <a:spcPts val="0"/>
                        </a:spcAft>
                        <a:buClrTx/>
                        <a:buSzTx/>
                        <a:buFontTx/>
                        <a:buNone/>
                        <a:tabLst/>
                        <a:defRPr/>
                      </a:pPr>
                      <a:r>
                        <a:rPr lang="en-US" sz="2800" dirty="0" smtClean="0">
                          <a:latin typeface="Tahoma" charset="0"/>
                          <a:ea typeface="Tahoma" charset="0"/>
                          <a:cs typeface="Tahoma" charset="0"/>
                        </a:rPr>
                        <a:t>ln(</a:t>
                      </a:r>
                      <a:r>
                        <a:rPr lang="en-US" sz="2800" dirty="0" err="1" smtClean="0">
                          <a:latin typeface="Tahoma" charset="0"/>
                          <a:ea typeface="Tahoma" charset="0"/>
                          <a:cs typeface="Tahoma" charset="0"/>
                        </a:rPr>
                        <a:t>Saleprice</a:t>
                      </a:r>
                      <a:r>
                        <a:rPr lang="en-US" sz="2800" dirty="0" smtClean="0">
                          <a:latin typeface="Tahoma" charset="0"/>
                          <a:ea typeface="Tahoma" charset="0"/>
                          <a:cs typeface="Tahoma" charset="0"/>
                        </a:rPr>
                        <a:t>) = </a:t>
                      </a:r>
                      <a:r>
                        <a:rPr lang="el-GR" sz="2800" dirty="0" smtClean="0">
                          <a:latin typeface="Tahoma" charset="0"/>
                          <a:ea typeface="Tahoma" charset="0"/>
                          <a:cs typeface="Tahoma" charset="0"/>
                        </a:rPr>
                        <a:t>α</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1</a:t>
                      </a:r>
                      <a:r>
                        <a:rPr lang="en-US" sz="2800" dirty="0" smtClean="0">
                          <a:latin typeface="Tahoma" charset="0"/>
                          <a:ea typeface="Tahoma" charset="0"/>
                          <a:cs typeface="Tahoma" charset="0"/>
                        </a:rPr>
                        <a:t>(accepted*Loan Amount) +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2</a:t>
                      </a:r>
                      <a:r>
                        <a:rPr lang="en-US" sz="2800" dirty="0" smtClean="0">
                          <a:latin typeface="Tahoma" charset="0"/>
                          <a:ea typeface="Tahoma" charset="0"/>
                          <a:cs typeface="Tahoma" charset="0"/>
                        </a:rPr>
                        <a:t>(accepted*Loan Amount)</a:t>
                      </a:r>
                      <a:r>
                        <a:rPr lang="en-US" sz="2800" baseline="30000" dirty="0" smtClean="0">
                          <a:latin typeface="Tahoma" charset="0"/>
                          <a:ea typeface="Tahoma" charset="0"/>
                          <a:cs typeface="Tahoma" charset="0"/>
                        </a:rPr>
                        <a:t>2</a:t>
                      </a:r>
                      <a:r>
                        <a:rPr lang="en-US" sz="2800" dirty="0" smtClean="0">
                          <a:latin typeface="Tahoma" charset="0"/>
                          <a:ea typeface="Tahoma" charset="0"/>
                          <a:cs typeface="Tahoma" charset="0"/>
                        </a:rPr>
                        <a:t> +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3</a:t>
                      </a:r>
                      <a:r>
                        <a:rPr lang="en-US" sz="2800" dirty="0" smtClean="0">
                          <a:latin typeface="Tahoma" charset="0"/>
                          <a:ea typeface="Tahoma" charset="0"/>
                          <a:cs typeface="Tahoma" charset="0"/>
                        </a:rPr>
                        <a:t>(assault) + ∑</a:t>
                      </a:r>
                      <a:r>
                        <a:rPr lang="en-US" sz="2800" baseline="30000" dirty="0" smtClean="0">
                          <a:latin typeface="Tahoma" charset="0"/>
                          <a:ea typeface="Tahoma" charset="0"/>
                          <a:cs typeface="Tahoma" charset="0"/>
                        </a:rPr>
                        <a:t>i</a:t>
                      </a:r>
                      <a:r>
                        <a:rPr lang="en-US" sz="2800" baseline="-25000" dirty="0" smtClean="0">
                          <a:latin typeface="Tahoma" charset="0"/>
                          <a:ea typeface="Tahoma" charset="0"/>
                          <a:cs typeface="Tahoma" charset="0"/>
                        </a:rPr>
                        <a:t>4</a:t>
                      </a:r>
                      <a:r>
                        <a:rPr lang="en-US" sz="2800" dirty="0" smtClean="0">
                          <a:latin typeface="Tahoma" charset="0"/>
                          <a:ea typeface="Tahoma" charset="0"/>
                          <a:cs typeface="Tahoma" charset="0"/>
                        </a:rPr>
                        <a:t>(</a:t>
                      </a:r>
                      <a:r>
                        <a:rPr lang="el-GR" sz="2800" dirty="0" smtClean="0">
                          <a:latin typeface="Tahoma" charset="0"/>
                          <a:ea typeface="Tahoma" charset="0"/>
                          <a:cs typeface="Tahoma" charset="0"/>
                        </a:rPr>
                        <a:t>β</a:t>
                      </a:r>
                      <a:r>
                        <a:rPr lang="en-US" sz="2800" baseline="-25000" dirty="0" err="1" smtClean="0">
                          <a:latin typeface="Tahoma" charset="0"/>
                          <a:ea typeface="Tahoma" charset="0"/>
                          <a:cs typeface="Tahoma" charset="0"/>
                        </a:rPr>
                        <a:t>i</a:t>
                      </a:r>
                      <a:r>
                        <a:rPr lang="en-US" sz="2800" dirty="0" err="1" smtClean="0">
                          <a:latin typeface="Tahoma" charset="0"/>
                          <a:ea typeface="Tahoma" charset="0"/>
                          <a:cs typeface="Tahoma" charset="0"/>
                        </a:rPr>
                        <a:t>x</a:t>
                      </a:r>
                      <a:r>
                        <a:rPr lang="en-US" sz="2800" baseline="-25000" dirty="0" err="1" smtClean="0">
                          <a:latin typeface="Tahoma" charset="0"/>
                          <a:ea typeface="Tahoma" charset="0"/>
                          <a:cs typeface="Tahoma" charset="0"/>
                        </a:rPr>
                        <a:t>i</a:t>
                      </a:r>
                      <a:r>
                        <a:rPr lang="en-US" sz="2800" dirty="0" smtClean="0">
                          <a:latin typeface="Tahoma" charset="0"/>
                          <a:ea typeface="Tahoma" charset="0"/>
                          <a:cs typeface="Tahoma" charset="0"/>
                        </a:rPr>
                        <a:t>) + ∑</a:t>
                      </a:r>
                      <a:r>
                        <a:rPr lang="en-US" sz="2800" baseline="30000" dirty="0" smtClean="0">
                          <a:latin typeface="Tahoma" charset="0"/>
                          <a:ea typeface="Tahoma" charset="0"/>
                          <a:cs typeface="Tahoma" charset="0"/>
                        </a:rPr>
                        <a:t>i</a:t>
                      </a:r>
                      <a:r>
                        <a:rPr lang="en-US" sz="2800" baseline="-25000" dirty="0" smtClean="0">
                          <a:latin typeface="Tahoma" charset="0"/>
                          <a:ea typeface="Tahoma" charset="0"/>
                          <a:cs typeface="Tahoma" charset="0"/>
                        </a:rPr>
                        <a:t>3</a:t>
                      </a:r>
                      <a:r>
                        <a:rPr lang="en-US" sz="2800" dirty="0" smtClean="0">
                          <a:latin typeface="Tahoma" charset="0"/>
                          <a:ea typeface="Tahoma" charset="0"/>
                          <a:cs typeface="Tahoma" charset="0"/>
                        </a:rPr>
                        <a:t>(</a:t>
                      </a:r>
                      <a:r>
                        <a:rPr lang="el-GR" sz="2800" dirty="0" smtClean="0">
                          <a:latin typeface="Tahoma" charset="0"/>
                          <a:ea typeface="Tahoma" charset="0"/>
                          <a:cs typeface="Tahoma" charset="0"/>
                        </a:rPr>
                        <a:t>δ</a:t>
                      </a:r>
                      <a:r>
                        <a:rPr lang="en-US" sz="2800" baseline="-25000" dirty="0" err="1" smtClean="0">
                          <a:latin typeface="Tahoma" charset="0"/>
                          <a:ea typeface="Tahoma" charset="0"/>
                          <a:cs typeface="Tahoma" charset="0"/>
                        </a:rPr>
                        <a:t>i</a:t>
                      </a:r>
                      <a:r>
                        <a:rPr lang="en-US" sz="2800" dirty="0" err="1" smtClean="0">
                          <a:latin typeface="Tahoma" charset="0"/>
                          <a:ea typeface="Tahoma" charset="0"/>
                          <a:cs typeface="Tahoma" charset="0"/>
                        </a:rPr>
                        <a:t>x</a:t>
                      </a:r>
                      <a:r>
                        <a:rPr lang="en-US" sz="2800" baseline="-25000" dirty="0" err="1" smtClean="0">
                          <a:latin typeface="Tahoma" charset="0"/>
                          <a:ea typeface="Tahoma" charset="0"/>
                          <a:cs typeface="Tahoma" charset="0"/>
                        </a:rPr>
                        <a:t>i</a:t>
                      </a:r>
                      <a:r>
                        <a:rPr lang="en-US" sz="2800" dirty="0" smtClean="0">
                          <a:latin typeface="Tahoma" charset="0"/>
                          <a:ea typeface="Tahoma" charset="0"/>
                          <a:cs typeface="Tahoma" charset="0"/>
                        </a:rPr>
                        <a:t>)+</a:t>
                      </a:r>
                      <a:r>
                        <a:rPr lang="el-GR" sz="2800" dirty="0" smtClean="0">
                          <a:latin typeface="Tahoma" charset="0"/>
                          <a:ea typeface="Tahoma" charset="0"/>
                          <a:cs typeface="Tahoma" charset="0"/>
                        </a:rPr>
                        <a:t>ε</a:t>
                      </a:r>
                      <a:r>
                        <a:rPr lang="en-US" sz="2800" baseline="-25000" dirty="0" err="1" smtClean="0">
                          <a:latin typeface="Tahoma" charset="0"/>
                          <a:ea typeface="Tahoma" charset="0"/>
                          <a:cs typeface="Tahoma" charset="0"/>
                        </a:rPr>
                        <a:t>ij</a:t>
                      </a:r>
                      <a:endParaRPr lang="en-US" sz="2800" baseline="-25000" dirty="0" smtClean="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a:p>
                  </a:txBody>
                  <a:tcPr/>
                </a:tc>
                <a:tc hMerge="1">
                  <a:txBody>
                    <a:bodyPr/>
                    <a:lstStyle/>
                    <a:p>
                      <a:pPr marL="0" marR="0" lvl="1" indent="0" algn="l" defTabSz="4389120" rtl="0" eaLnBrk="1" fontAlgn="auto" latinLnBrk="0" hangingPunct="1">
                        <a:lnSpc>
                          <a:spcPct val="100000"/>
                        </a:lnSpc>
                        <a:spcBef>
                          <a:spcPts val="0"/>
                        </a:spcBef>
                        <a:spcAft>
                          <a:spcPts val="0"/>
                        </a:spcAft>
                        <a:buClrTx/>
                        <a:buSzTx/>
                        <a:buFontTx/>
                        <a:buNone/>
                        <a:tabLst/>
                        <a:defRPr/>
                      </a:pPr>
                      <a:endParaRPr lang="en-US" sz="2800" smtClean="0">
                        <a:latin typeface="Tahoma" charset="0"/>
                        <a:ea typeface="Tahoma" charset="0"/>
                        <a:cs typeface="Tahoma" charset="0"/>
                      </a:endParaRPr>
                    </a:p>
                  </a:txBody>
                  <a:tcPr/>
                </a:tc>
                <a:tc hMerge="1">
                  <a:txBody>
                    <a:bodyPr/>
                    <a:lstStyle/>
                    <a:p>
                      <a:endParaRPr lang="en-US" sz="3200" dirty="0">
                        <a:latin typeface="Tahoma" charset="0"/>
                        <a:ea typeface="Tahoma" charset="0"/>
                        <a:cs typeface="Tahoma" charset="0"/>
                      </a:endParaRPr>
                    </a:p>
                  </a:txBody>
                  <a:tcPr/>
                </a:tc>
              </a:tr>
              <a:tr h="479561">
                <a:tc gridSpan="4">
                  <a:txBody>
                    <a:bodyPr/>
                    <a:lstStyle/>
                    <a:p>
                      <a:pPr marL="0" marR="0" indent="0" algn="l" defTabSz="4389120" rtl="0" eaLnBrk="1" fontAlgn="auto" latinLnBrk="0" hangingPunct="1">
                        <a:lnSpc>
                          <a:spcPct val="100000"/>
                        </a:lnSpc>
                        <a:spcBef>
                          <a:spcPts val="0"/>
                        </a:spcBef>
                        <a:spcAft>
                          <a:spcPts val="0"/>
                        </a:spcAft>
                        <a:buClrTx/>
                        <a:buSzTx/>
                        <a:buFontTx/>
                        <a:buNone/>
                        <a:tabLst/>
                        <a:defRPr/>
                      </a:pPr>
                      <a:r>
                        <a:rPr lang="en-US" sz="2800" dirty="0" smtClean="0">
                          <a:latin typeface="Tahoma" charset="0"/>
                          <a:ea typeface="Tahoma" charset="0"/>
                          <a:cs typeface="Tahoma" charset="0"/>
                        </a:rPr>
                        <a:t>Hypothesis: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a:p>
                  </a:txBody>
                  <a:tcPr/>
                </a:tc>
                <a:tc hMerge="1">
                  <a:txBody>
                    <a:bodyPr/>
                    <a:lstStyle/>
                    <a:p>
                      <a:pPr marL="0" marR="0" lvl="1" indent="0" algn="l" defTabSz="4389120" rtl="0" eaLnBrk="1" fontAlgn="auto" latinLnBrk="0" hangingPunct="1">
                        <a:lnSpc>
                          <a:spcPct val="100000"/>
                        </a:lnSpc>
                        <a:spcBef>
                          <a:spcPts val="0"/>
                        </a:spcBef>
                        <a:spcAft>
                          <a:spcPts val="0"/>
                        </a:spcAft>
                        <a:buClrTx/>
                        <a:buSzTx/>
                        <a:buFontTx/>
                        <a:buNone/>
                        <a:tabLst/>
                        <a:defRPr/>
                      </a:pPr>
                      <a:endParaRPr lang="en-US" sz="2800" dirty="0" smtClean="0">
                        <a:latin typeface="Tahoma" charset="0"/>
                        <a:ea typeface="Tahoma" charset="0"/>
                        <a:cs typeface="Tahoma" charset="0"/>
                      </a:endParaRPr>
                    </a:p>
                  </a:txBody>
                  <a:tcPr/>
                </a:tc>
                <a:tc hMerge="1">
                  <a:txBody>
                    <a:bodyPr/>
                    <a:lstStyle/>
                    <a:p>
                      <a:endParaRPr lang="en-US" sz="3200" dirty="0">
                        <a:latin typeface="Tahoma" charset="0"/>
                        <a:ea typeface="Tahoma" charset="0"/>
                        <a:cs typeface="Tahoma" charset="0"/>
                      </a:endParaRPr>
                    </a:p>
                  </a:txBody>
                  <a:tcPr/>
                </a:tc>
              </a:tr>
              <a:tr h="479561">
                <a:tc>
                  <a:txBody>
                    <a:bodyPr/>
                    <a:lstStyle/>
                    <a:p>
                      <a:endParaRPr lang="en-US" sz="28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2800" dirty="0" smtClean="0">
                          <a:latin typeface="Tahoma" charset="0"/>
                          <a:ea typeface="Tahoma" charset="0"/>
                          <a:cs typeface="Tahoma" charset="0"/>
                        </a:rPr>
                        <a:t>H</a:t>
                      </a:r>
                      <a:r>
                        <a:rPr lang="en-US" sz="2800" baseline="-25000" dirty="0" smtClean="0">
                          <a:latin typeface="Tahoma" charset="0"/>
                          <a:ea typeface="Tahoma" charset="0"/>
                          <a:cs typeface="Tahoma" charset="0"/>
                        </a:rPr>
                        <a:t>0</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1</a:t>
                      </a:r>
                      <a:r>
                        <a:rPr lang="en-US" sz="2800" dirty="0" smtClean="0">
                          <a:latin typeface="Tahoma" charset="0"/>
                          <a:ea typeface="Tahoma" charset="0"/>
                          <a:cs typeface="Tahoma" charset="0"/>
                        </a:rPr>
                        <a:t> </a:t>
                      </a:r>
                      <a:r>
                        <a:rPr lang="en-US" sz="2800" u="sng" dirty="0" smtClean="0">
                          <a:latin typeface="Tahoma" charset="0"/>
                          <a:ea typeface="Tahoma" charset="0"/>
                          <a:cs typeface="Tahoma" charset="0"/>
                        </a:rPr>
                        <a:t>&lt;</a:t>
                      </a:r>
                      <a:r>
                        <a:rPr lang="en-US" sz="2800" dirty="0" smtClean="0">
                          <a:latin typeface="Tahoma" charset="0"/>
                          <a:ea typeface="Tahoma" charset="0"/>
                          <a:cs typeface="Tahoma" charset="0"/>
                        </a:rPr>
                        <a:t> 0</a:t>
                      </a:r>
                      <a:endParaRPr lang="en-US" sz="28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1" indent="0" algn="l" defTabSz="4389120" rtl="0" eaLnBrk="1" fontAlgn="auto" latinLnBrk="0" hangingPunct="1">
                        <a:lnSpc>
                          <a:spcPct val="100000"/>
                        </a:lnSpc>
                        <a:spcBef>
                          <a:spcPts val="0"/>
                        </a:spcBef>
                        <a:spcAft>
                          <a:spcPts val="0"/>
                        </a:spcAft>
                        <a:buClrTx/>
                        <a:buSzTx/>
                        <a:buFontTx/>
                        <a:buNone/>
                        <a:tabLst/>
                        <a:defRPr/>
                      </a:pPr>
                      <a:r>
                        <a:rPr lang="en-US" sz="2800" dirty="0" smtClean="0">
                          <a:latin typeface="Tahoma" charset="0"/>
                          <a:ea typeface="Tahoma" charset="0"/>
                          <a:cs typeface="Tahoma" charset="0"/>
                        </a:rPr>
                        <a:t>H</a:t>
                      </a:r>
                      <a:r>
                        <a:rPr lang="en-US" sz="2800" baseline="-25000" dirty="0" smtClean="0">
                          <a:latin typeface="Tahoma" charset="0"/>
                          <a:ea typeface="Tahoma" charset="0"/>
                          <a:cs typeface="Tahoma" charset="0"/>
                        </a:rPr>
                        <a:t>a</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1</a:t>
                      </a:r>
                      <a:r>
                        <a:rPr lang="en-US" sz="2800" dirty="0" smtClean="0">
                          <a:latin typeface="Tahoma" charset="0"/>
                          <a:ea typeface="Tahoma" charset="0"/>
                          <a:cs typeface="Tahoma" charset="0"/>
                        </a:rPr>
                        <a:t>&gt; 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32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883920">
                <a:tc>
                  <a:txBody>
                    <a:bodyPr/>
                    <a:lstStyle/>
                    <a:p>
                      <a:endParaRPr lang="en-US" sz="28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2800" dirty="0" smtClean="0">
                          <a:latin typeface="Tahoma" charset="0"/>
                          <a:ea typeface="Tahoma" charset="0"/>
                          <a:cs typeface="Tahoma" charset="0"/>
                        </a:rPr>
                        <a:t>H</a:t>
                      </a:r>
                      <a:r>
                        <a:rPr lang="en-US" sz="2800" baseline="-25000" dirty="0" smtClean="0">
                          <a:latin typeface="Tahoma" charset="0"/>
                          <a:ea typeface="Tahoma" charset="0"/>
                          <a:cs typeface="Tahoma" charset="0"/>
                        </a:rPr>
                        <a:t>0</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2</a:t>
                      </a:r>
                      <a:r>
                        <a:rPr lang="en-US" sz="2800" dirty="0" smtClean="0">
                          <a:latin typeface="Tahoma" charset="0"/>
                          <a:ea typeface="Tahoma" charset="0"/>
                          <a:cs typeface="Tahoma" charset="0"/>
                        </a:rPr>
                        <a:t> </a:t>
                      </a:r>
                      <a:r>
                        <a:rPr lang="en-US" sz="2800" u="sng" dirty="0" smtClean="0">
                          <a:latin typeface="Tahoma" charset="0"/>
                          <a:ea typeface="Tahoma" charset="0"/>
                          <a:cs typeface="Tahoma" charset="0"/>
                        </a:rPr>
                        <a:t>&gt;</a:t>
                      </a:r>
                      <a:r>
                        <a:rPr lang="en-US" sz="2800" dirty="0" smtClean="0">
                          <a:latin typeface="Tahoma" charset="0"/>
                          <a:ea typeface="Tahoma" charset="0"/>
                          <a:cs typeface="Tahoma" charset="0"/>
                        </a:rPr>
                        <a:t> 0</a:t>
                      </a:r>
                      <a:endParaRPr lang="en-US" sz="28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1" indent="0" algn="l" defTabSz="4389120" rtl="0" eaLnBrk="1" fontAlgn="auto" latinLnBrk="0" hangingPunct="1">
                        <a:lnSpc>
                          <a:spcPct val="100000"/>
                        </a:lnSpc>
                        <a:spcBef>
                          <a:spcPts val="0"/>
                        </a:spcBef>
                        <a:spcAft>
                          <a:spcPts val="0"/>
                        </a:spcAft>
                        <a:buClrTx/>
                        <a:buSzTx/>
                        <a:buFontTx/>
                        <a:buNone/>
                        <a:tabLst/>
                        <a:defRPr/>
                      </a:pPr>
                      <a:r>
                        <a:rPr lang="en-US" sz="2800" dirty="0" smtClean="0">
                          <a:latin typeface="Tahoma" charset="0"/>
                          <a:ea typeface="Tahoma" charset="0"/>
                          <a:cs typeface="Tahoma" charset="0"/>
                        </a:rPr>
                        <a:t>H</a:t>
                      </a:r>
                      <a:r>
                        <a:rPr lang="en-US" sz="2800" baseline="-25000" dirty="0" smtClean="0">
                          <a:latin typeface="Tahoma" charset="0"/>
                          <a:ea typeface="Tahoma" charset="0"/>
                          <a:cs typeface="Tahoma" charset="0"/>
                        </a:rPr>
                        <a:t>a</a:t>
                      </a:r>
                      <a:r>
                        <a:rPr lang="en-US" sz="2800" dirty="0" smtClean="0">
                          <a:latin typeface="Tahoma" charset="0"/>
                          <a:ea typeface="Tahoma" charset="0"/>
                          <a:cs typeface="Tahoma" charset="0"/>
                        </a:rPr>
                        <a:t>: </a:t>
                      </a: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2</a:t>
                      </a:r>
                      <a:r>
                        <a:rPr lang="en-US" sz="2800" dirty="0" smtClean="0">
                          <a:latin typeface="Tahoma" charset="0"/>
                          <a:ea typeface="Tahoma" charset="0"/>
                          <a:cs typeface="Tahoma" charset="0"/>
                        </a:rPr>
                        <a:t>&lt; 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3200" dirty="0">
                        <a:latin typeface="Tahoma" charset="0"/>
                        <a:ea typeface="Tahoma" charset="0"/>
                        <a:cs typeface="Tahoma"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479561">
                <a:tc gridSpan="4">
                  <a:txBody>
                    <a:bodyPr/>
                    <a:lstStyle/>
                    <a:p>
                      <a:pPr marL="0" marR="0" indent="0" algn="l" defTabSz="4389120" rtl="0" eaLnBrk="1" fontAlgn="auto" latinLnBrk="0" hangingPunct="1">
                        <a:lnSpc>
                          <a:spcPct val="100000"/>
                        </a:lnSpc>
                        <a:spcBef>
                          <a:spcPts val="0"/>
                        </a:spcBef>
                        <a:spcAft>
                          <a:spcPts val="0"/>
                        </a:spcAft>
                        <a:buClrTx/>
                        <a:buSzTx/>
                        <a:buFontTx/>
                        <a:buNone/>
                        <a:tabLst/>
                        <a:defRPr/>
                      </a:pPr>
                      <a:r>
                        <a:rPr lang="el-GR" sz="2800" dirty="0" smtClean="0">
                          <a:latin typeface="Tahoma" charset="0"/>
                          <a:ea typeface="Tahoma" charset="0"/>
                          <a:cs typeface="Tahoma" charset="0"/>
                        </a:rPr>
                        <a:t>β</a:t>
                      </a:r>
                      <a:r>
                        <a:rPr lang="en-US" sz="2800" baseline="-25000" dirty="0" smtClean="0">
                          <a:latin typeface="Tahoma" charset="0"/>
                          <a:ea typeface="Tahoma" charset="0"/>
                          <a:cs typeface="Tahoma" charset="0"/>
                        </a:rPr>
                        <a:t>4-I</a:t>
                      </a:r>
                      <a:r>
                        <a:rPr lang="en-US" sz="2800" dirty="0" smtClean="0">
                          <a:latin typeface="Tahoma" charset="0"/>
                          <a:ea typeface="Tahoma" charset="0"/>
                          <a:cs typeface="Tahoma" charset="0"/>
                        </a:rPr>
                        <a:t> and </a:t>
                      </a:r>
                      <a:r>
                        <a:rPr lang="el-GR" sz="2800" dirty="0" smtClean="0">
                          <a:latin typeface="Tahoma" charset="0"/>
                          <a:ea typeface="Tahoma" charset="0"/>
                          <a:cs typeface="Tahoma" charset="0"/>
                        </a:rPr>
                        <a:t>δ</a:t>
                      </a:r>
                      <a:r>
                        <a:rPr lang="en-US" sz="2800" baseline="-25000" dirty="0" smtClean="0">
                          <a:latin typeface="Tahoma" charset="0"/>
                          <a:ea typeface="Tahoma" charset="0"/>
                          <a:cs typeface="Tahoma" charset="0"/>
                        </a:rPr>
                        <a:t>3-I</a:t>
                      </a:r>
                      <a:r>
                        <a:rPr lang="en-US" sz="2800" dirty="0" smtClean="0">
                          <a:latin typeface="Tahoma" charset="0"/>
                          <a:ea typeface="Tahoma" charset="0"/>
                          <a:cs typeface="Tahoma" charset="0"/>
                        </a:rPr>
                        <a:t> are additional variables associated with hedonic regressions such  as number of rooms and type of home.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a:p>
                  </a:txBody>
                  <a:tcPr/>
                </a:tc>
                <a:tc hMerge="1">
                  <a:txBody>
                    <a:bodyPr/>
                    <a:lstStyle/>
                    <a:p>
                      <a:pPr marL="0" marR="0" lvl="1" indent="0" algn="l" defTabSz="4389120" rtl="0" eaLnBrk="1" fontAlgn="auto" latinLnBrk="0" hangingPunct="1">
                        <a:lnSpc>
                          <a:spcPct val="100000"/>
                        </a:lnSpc>
                        <a:spcBef>
                          <a:spcPts val="0"/>
                        </a:spcBef>
                        <a:spcAft>
                          <a:spcPts val="0"/>
                        </a:spcAft>
                        <a:buClrTx/>
                        <a:buSzTx/>
                        <a:buFontTx/>
                        <a:buNone/>
                        <a:tabLst/>
                        <a:defRPr/>
                      </a:pPr>
                      <a:endParaRPr lang="en-US" sz="2800" smtClean="0">
                        <a:latin typeface="Tahoma" charset="0"/>
                        <a:ea typeface="Tahoma" charset="0"/>
                        <a:cs typeface="Tahoma" charset="0"/>
                      </a:endParaRPr>
                    </a:p>
                  </a:txBody>
                  <a:tcPr/>
                </a:tc>
                <a:tc hMerge="1">
                  <a:txBody>
                    <a:bodyPr/>
                    <a:lstStyle/>
                    <a:p>
                      <a:endParaRPr lang="en-US" sz="3200" dirty="0">
                        <a:latin typeface="Tahoma" charset="0"/>
                        <a:ea typeface="Tahoma" charset="0"/>
                        <a:cs typeface="Tahoma" charset="0"/>
                      </a:endParaRP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840</TotalTime>
  <Words>1090</Words>
  <Application>Microsoft Macintosh PowerPoint</Application>
  <PresentationFormat>Custom</PresentationFormat>
  <Paragraphs>129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Clark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drourke</dc:creator>
  <cp:lastModifiedBy>Joseph Biasi</cp:lastModifiedBy>
  <cp:revision>77</cp:revision>
  <dcterms:created xsi:type="dcterms:W3CDTF">2012-05-15T17:03:21Z</dcterms:created>
  <dcterms:modified xsi:type="dcterms:W3CDTF">2015-04-19T21:29:56Z</dcterms:modified>
</cp:coreProperties>
</file>