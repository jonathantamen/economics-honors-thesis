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32918400" cy="21945600"/>
  <p:notesSz cx="6858000" cy="9144000"/>
  <p:defaultTextStyle>
    <a:defPPr>
      <a:defRPr lang="en-US"/>
    </a:defPPr>
    <a:lvl1pPr marL="0" algn="l" defTabSz="3135020" rtl="0" eaLnBrk="1" latinLnBrk="0" hangingPunct="1">
      <a:defRPr sz="6200" kern="1200">
        <a:solidFill>
          <a:schemeClr val="tx1"/>
        </a:solidFill>
        <a:latin typeface="+mn-lt"/>
        <a:ea typeface="+mn-ea"/>
        <a:cs typeface="+mn-cs"/>
      </a:defRPr>
    </a:lvl1pPr>
    <a:lvl2pPr marL="1567510" algn="l" defTabSz="3135020" rtl="0" eaLnBrk="1" latinLnBrk="0" hangingPunct="1">
      <a:defRPr sz="6200" kern="1200">
        <a:solidFill>
          <a:schemeClr val="tx1"/>
        </a:solidFill>
        <a:latin typeface="+mn-lt"/>
        <a:ea typeface="+mn-ea"/>
        <a:cs typeface="+mn-cs"/>
      </a:defRPr>
    </a:lvl2pPr>
    <a:lvl3pPr marL="3135020" algn="l" defTabSz="3135020" rtl="0" eaLnBrk="1" latinLnBrk="0" hangingPunct="1">
      <a:defRPr sz="6200" kern="1200">
        <a:solidFill>
          <a:schemeClr val="tx1"/>
        </a:solidFill>
        <a:latin typeface="+mn-lt"/>
        <a:ea typeface="+mn-ea"/>
        <a:cs typeface="+mn-cs"/>
      </a:defRPr>
    </a:lvl3pPr>
    <a:lvl4pPr marL="4702531" algn="l" defTabSz="3135020" rtl="0" eaLnBrk="1" latinLnBrk="0" hangingPunct="1">
      <a:defRPr sz="6200" kern="1200">
        <a:solidFill>
          <a:schemeClr val="tx1"/>
        </a:solidFill>
        <a:latin typeface="+mn-lt"/>
        <a:ea typeface="+mn-ea"/>
        <a:cs typeface="+mn-cs"/>
      </a:defRPr>
    </a:lvl4pPr>
    <a:lvl5pPr marL="6270041" algn="l" defTabSz="3135020" rtl="0" eaLnBrk="1" latinLnBrk="0" hangingPunct="1">
      <a:defRPr sz="6200" kern="1200">
        <a:solidFill>
          <a:schemeClr val="tx1"/>
        </a:solidFill>
        <a:latin typeface="+mn-lt"/>
        <a:ea typeface="+mn-ea"/>
        <a:cs typeface="+mn-cs"/>
      </a:defRPr>
    </a:lvl5pPr>
    <a:lvl6pPr marL="7837551" algn="l" defTabSz="3135020" rtl="0" eaLnBrk="1" latinLnBrk="0" hangingPunct="1">
      <a:defRPr sz="6200" kern="1200">
        <a:solidFill>
          <a:schemeClr val="tx1"/>
        </a:solidFill>
        <a:latin typeface="+mn-lt"/>
        <a:ea typeface="+mn-ea"/>
        <a:cs typeface="+mn-cs"/>
      </a:defRPr>
    </a:lvl6pPr>
    <a:lvl7pPr marL="9405061" algn="l" defTabSz="3135020" rtl="0" eaLnBrk="1" latinLnBrk="0" hangingPunct="1">
      <a:defRPr sz="6200" kern="1200">
        <a:solidFill>
          <a:schemeClr val="tx1"/>
        </a:solidFill>
        <a:latin typeface="+mn-lt"/>
        <a:ea typeface="+mn-ea"/>
        <a:cs typeface="+mn-cs"/>
      </a:defRPr>
    </a:lvl7pPr>
    <a:lvl8pPr marL="10972571" algn="l" defTabSz="3135020" rtl="0" eaLnBrk="1" latinLnBrk="0" hangingPunct="1">
      <a:defRPr sz="6200" kern="1200">
        <a:solidFill>
          <a:schemeClr val="tx1"/>
        </a:solidFill>
        <a:latin typeface="+mn-lt"/>
        <a:ea typeface="+mn-ea"/>
        <a:cs typeface="+mn-cs"/>
      </a:defRPr>
    </a:lvl8pPr>
    <a:lvl9pPr marL="12540082" algn="l" defTabSz="3135020" rtl="0" eaLnBrk="1" latinLnBrk="0" hangingPunct="1">
      <a:defRPr sz="62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6912">
          <p15:clr>
            <a:srgbClr val="A4A3A4"/>
          </p15:clr>
        </p15:guide>
        <p15:guide id="2" pos="103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30" d="100"/>
          <a:sy n="30" d="100"/>
        </p:scale>
        <p:origin x="-252" y="372"/>
      </p:cViewPr>
      <p:guideLst>
        <p:guide orient="horz" pos="6912"/>
        <p:guide pos="1036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5987B24-2D22-43A0-84D3-1291F09EEB89}" type="datetimeFigureOut">
              <a:rPr lang="en-US" smtClean="0"/>
              <a:pPr/>
              <a:t>24-Apr-16</a:t>
            </a:fld>
            <a:endParaRPr lang="en-US"/>
          </a:p>
        </p:txBody>
      </p:sp>
      <p:sp>
        <p:nvSpPr>
          <p:cNvPr id="4" name="Slide Image Placeholder 3"/>
          <p:cNvSpPr>
            <a:spLocks noGrp="1" noRot="1" noChangeAspect="1"/>
          </p:cNvSpPr>
          <p:nvPr>
            <p:ph type="sldImg" idx="2"/>
          </p:nvPr>
        </p:nvSpPr>
        <p:spPr>
          <a:xfrm>
            <a:off x="857250" y="685800"/>
            <a:ext cx="51435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8FB2A3F-B59A-46E1-B43E-240BB07F7CBA}" type="slidenum">
              <a:rPr lang="en-US" smtClean="0"/>
              <a:pPr/>
              <a:t>‹#›</a:t>
            </a:fld>
            <a:endParaRPr lang="en-US"/>
          </a:p>
        </p:txBody>
      </p:sp>
    </p:spTree>
    <p:extLst>
      <p:ext uri="{BB962C8B-B14F-4D97-AF65-F5344CB8AC3E}">
        <p14:creationId xmlns:p14="http://schemas.microsoft.com/office/powerpoint/2010/main" val="4024676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08FB2A3F-B59A-46E1-B43E-240BB07F7CBA}" type="slidenum">
              <a:rPr lang="en-US" smtClean="0"/>
              <a:pPr/>
              <a:t>1</a:t>
            </a:fld>
            <a:endParaRPr lang="en-US"/>
          </a:p>
        </p:txBody>
      </p:sp>
    </p:spTree>
    <p:extLst>
      <p:ext uri="{BB962C8B-B14F-4D97-AF65-F5344CB8AC3E}">
        <p14:creationId xmlns:p14="http://schemas.microsoft.com/office/powerpoint/2010/main" val="24044608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6817362"/>
            <a:ext cx="27980640" cy="4704080"/>
          </a:xfrm>
        </p:spPr>
        <p:txBody>
          <a:bodyPr/>
          <a:lstStyle/>
          <a:p>
            <a:r>
              <a:rPr lang="en-US" smtClean="0"/>
              <a:t>Click to edit Master title style</a:t>
            </a:r>
            <a:endParaRPr lang="en-US"/>
          </a:p>
        </p:txBody>
      </p:sp>
      <p:sp>
        <p:nvSpPr>
          <p:cNvPr id="3" name="Subtitle 2"/>
          <p:cNvSpPr>
            <a:spLocks noGrp="1"/>
          </p:cNvSpPr>
          <p:nvPr>
            <p:ph type="subTitle" idx="1"/>
          </p:nvPr>
        </p:nvSpPr>
        <p:spPr>
          <a:xfrm>
            <a:off x="4937760" y="12435840"/>
            <a:ext cx="23042880" cy="5608320"/>
          </a:xfrm>
        </p:spPr>
        <p:txBody>
          <a:bodyPr/>
          <a:lstStyle>
            <a:lvl1pPr marL="0" indent="0" algn="ctr">
              <a:buNone/>
              <a:defRPr>
                <a:solidFill>
                  <a:schemeClr val="tx1">
                    <a:tint val="75000"/>
                  </a:schemeClr>
                </a:solidFill>
              </a:defRPr>
            </a:lvl1pPr>
            <a:lvl2pPr marL="1567510" indent="0" algn="ctr">
              <a:buNone/>
              <a:defRPr>
                <a:solidFill>
                  <a:schemeClr val="tx1">
                    <a:tint val="75000"/>
                  </a:schemeClr>
                </a:solidFill>
              </a:defRPr>
            </a:lvl2pPr>
            <a:lvl3pPr marL="3135020" indent="0" algn="ctr">
              <a:buNone/>
              <a:defRPr>
                <a:solidFill>
                  <a:schemeClr val="tx1">
                    <a:tint val="75000"/>
                  </a:schemeClr>
                </a:solidFill>
              </a:defRPr>
            </a:lvl3pPr>
            <a:lvl4pPr marL="4702531" indent="0" algn="ctr">
              <a:buNone/>
              <a:defRPr>
                <a:solidFill>
                  <a:schemeClr val="tx1">
                    <a:tint val="75000"/>
                  </a:schemeClr>
                </a:solidFill>
              </a:defRPr>
            </a:lvl4pPr>
            <a:lvl5pPr marL="6270041" indent="0" algn="ctr">
              <a:buNone/>
              <a:defRPr>
                <a:solidFill>
                  <a:schemeClr val="tx1">
                    <a:tint val="75000"/>
                  </a:schemeClr>
                </a:solidFill>
              </a:defRPr>
            </a:lvl5pPr>
            <a:lvl6pPr marL="7837551" indent="0" algn="ctr">
              <a:buNone/>
              <a:defRPr>
                <a:solidFill>
                  <a:schemeClr val="tx1">
                    <a:tint val="75000"/>
                  </a:schemeClr>
                </a:solidFill>
              </a:defRPr>
            </a:lvl6pPr>
            <a:lvl7pPr marL="9405061" indent="0" algn="ctr">
              <a:buNone/>
              <a:defRPr>
                <a:solidFill>
                  <a:schemeClr val="tx1">
                    <a:tint val="75000"/>
                  </a:schemeClr>
                </a:solidFill>
              </a:defRPr>
            </a:lvl7pPr>
            <a:lvl8pPr marL="10972571" indent="0" algn="ctr">
              <a:buNone/>
              <a:defRPr>
                <a:solidFill>
                  <a:schemeClr val="tx1">
                    <a:tint val="75000"/>
                  </a:schemeClr>
                </a:solidFill>
              </a:defRPr>
            </a:lvl8pPr>
            <a:lvl9pPr marL="12540082"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1BC8750-4104-40B6-A7B2-375D28920A76}" type="datetimeFigureOut">
              <a:rPr lang="en-US" smtClean="0"/>
              <a:pPr/>
              <a:t>24-Apr-16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1D0EEB-14FD-465C-97F2-440B4344092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1BC8750-4104-40B6-A7B2-375D28920A76}" type="datetimeFigureOut">
              <a:rPr lang="en-US" smtClean="0"/>
              <a:pPr/>
              <a:t>24-Apr-16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1D0EEB-14FD-465C-97F2-440B4344092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7" y="14102082"/>
            <a:ext cx="27980640" cy="4358640"/>
          </a:xfrm>
        </p:spPr>
        <p:txBody>
          <a:bodyPr anchor="t"/>
          <a:lstStyle>
            <a:lvl1pPr algn="l">
              <a:defRPr sz="13700" b="1" cap="all"/>
            </a:lvl1pPr>
          </a:lstStyle>
          <a:p>
            <a:r>
              <a:rPr lang="en-US" smtClean="0"/>
              <a:t>Click to edit Master title style</a:t>
            </a:r>
            <a:endParaRPr lang="en-US"/>
          </a:p>
        </p:txBody>
      </p:sp>
      <p:sp>
        <p:nvSpPr>
          <p:cNvPr id="3" name="Text Placeholder 2"/>
          <p:cNvSpPr>
            <a:spLocks noGrp="1"/>
          </p:cNvSpPr>
          <p:nvPr>
            <p:ph type="body" idx="1"/>
          </p:nvPr>
        </p:nvSpPr>
        <p:spPr>
          <a:xfrm>
            <a:off x="2600327" y="9301483"/>
            <a:ext cx="27980640" cy="4800598"/>
          </a:xfrm>
        </p:spPr>
        <p:txBody>
          <a:bodyPr anchor="b"/>
          <a:lstStyle>
            <a:lvl1pPr marL="0" indent="0">
              <a:buNone/>
              <a:defRPr sz="6900">
                <a:solidFill>
                  <a:schemeClr val="tx1">
                    <a:tint val="75000"/>
                  </a:schemeClr>
                </a:solidFill>
              </a:defRPr>
            </a:lvl1pPr>
            <a:lvl2pPr marL="1567510" indent="0">
              <a:buNone/>
              <a:defRPr sz="6200">
                <a:solidFill>
                  <a:schemeClr val="tx1">
                    <a:tint val="75000"/>
                  </a:schemeClr>
                </a:solidFill>
              </a:defRPr>
            </a:lvl2pPr>
            <a:lvl3pPr marL="3135020" indent="0">
              <a:buNone/>
              <a:defRPr sz="5500">
                <a:solidFill>
                  <a:schemeClr val="tx1">
                    <a:tint val="75000"/>
                  </a:schemeClr>
                </a:solidFill>
              </a:defRPr>
            </a:lvl3pPr>
            <a:lvl4pPr marL="4702531" indent="0">
              <a:buNone/>
              <a:defRPr sz="4800">
                <a:solidFill>
                  <a:schemeClr val="tx1">
                    <a:tint val="75000"/>
                  </a:schemeClr>
                </a:solidFill>
              </a:defRPr>
            </a:lvl4pPr>
            <a:lvl5pPr marL="6270041" indent="0">
              <a:buNone/>
              <a:defRPr sz="4800">
                <a:solidFill>
                  <a:schemeClr val="tx1">
                    <a:tint val="75000"/>
                  </a:schemeClr>
                </a:solidFill>
              </a:defRPr>
            </a:lvl5pPr>
            <a:lvl6pPr marL="7837551" indent="0">
              <a:buNone/>
              <a:defRPr sz="4800">
                <a:solidFill>
                  <a:schemeClr val="tx1">
                    <a:tint val="75000"/>
                  </a:schemeClr>
                </a:solidFill>
              </a:defRPr>
            </a:lvl6pPr>
            <a:lvl7pPr marL="9405061" indent="0">
              <a:buNone/>
              <a:defRPr sz="4800">
                <a:solidFill>
                  <a:schemeClr val="tx1">
                    <a:tint val="75000"/>
                  </a:schemeClr>
                </a:solidFill>
              </a:defRPr>
            </a:lvl7pPr>
            <a:lvl8pPr marL="10972571" indent="0">
              <a:buNone/>
              <a:defRPr sz="4800">
                <a:solidFill>
                  <a:schemeClr val="tx1">
                    <a:tint val="75000"/>
                  </a:schemeClr>
                </a:solidFill>
              </a:defRPr>
            </a:lvl8pPr>
            <a:lvl9pPr marL="12540082" indent="0">
              <a:buNone/>
              <a:defRPr sz="48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1BC8750-4104-40B6-A7B2-375D28920A76}" type="datetimeFigureOut">
              <a:rPr lang="en-US" smtClean="0"/>
              <a:pPr/>
              <a:t>24-Apr-16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1D0EEB-14FD-465C-97F2-440B4344092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645920" y="5120641"/>
            <a:ext cx="14538960" cy="14483082"/>
          </a:xfrm>
        </p:spPr>
        <p:txBody>
          <a:bodyPr/>
          <a:lstStyle>
            <a:lvl1pPr>
              <a:defRPr sz="9600"/>
            </a:lvl1pPr>
            <a:lvl2pPr>
              <a:defRPr sz="8200"/>
            </a:lvl2pPr>
            <a:lvl3pPr>
              <a:defRPr sz="6900"/>
            </a:lvl3pPr>
            <a:lvl4pPr>
              <a:defRPr sz="6200"/>
            </a:lvl4pPr>
            <a:lvl5pPr>
              <a:defRPr sz="6200"/>
            </a:lvl5pPr>
            <a:lvl6pPr>
              <a:defRPr sz="6200"/>
            </a:lvl6pPr>
            <a:lvl7pPr>
              <a:defRPr sz="6200"/>
            </a:lvl7pPr>
            <a:lvl8pPr>
              <a:defRPr sz="6200"/>
            </a:lvl8pPr>
            <a:lvl9pPr>
              <a:defRPr sz="6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16733520" y="5120641"/>
            <a:ext cx="14538960" cy="14483082"/>
          </a:xfrm>
        </p:spPr>
        <p:txBody>
          <a:bodyPr/>
          <a:lstStyle>
            <a:lvl1pPr>
              <a:defRPr sz="9600"/>
            </a:lvl1pPr>
            <a:lvl2pPr>
              <a:defRPr sz="8200"/>
            </a:lvl2pPr>
            <a:lvl3pPr>
              <a:defRPr sz="6900"/>
            </a:lvl3pPr>
            <a:lvl4pPr>
              <a:defRPr sz="6200"/>
            </a:lvl4pPr>
            <a:lvl5pPr>
              <a:defRPr sz="6200"/>
            </a:lvl5pPr>
            <a:lvl6pPr>
              <a:defRPr sz="6200"/>
            </a:lvl6pPr>
            <a:lvl7pPr>
              <a:defRPr sz="6200"/>
            </a:lvl7pPr>
            <a:lvl8pPr>
              <a:defRPr sz="6200"/>
            </a:lvl8pPr>
            <a:lvl9pPr>
              <a:defRPr sz="6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1BC8750-4104-40B6-A7B2-375D28920A76}" type="datetimeFigureOut">
              <a:rPr lang="en-US" smtClean="0"/>
              <a:pPr/>
              <a:t>24-Apr-16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1D0EEB-14FD-465C-97F2-440B4344092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645920" y="4912362"/>
            <a:ext cx="14544677" cy="2047238"/>
          </a:xfrm>
        </p:spPr>
        <p:txBody>
          <a:bodyPr anchor="b"/>
          <a:lstStyle>
            <a:lvl1pPr marL="0" indent="0">
              <a:buNone/>
              <a:defRPr sz="8200" b="1"/>
            </a:lvl1pPr>
            <a:lvl2pPr marL="1567510" indent="0">
              <a:buNone/>
              <a:defRPr sz="6900" b="1"/>
            </a:lvl2pPr>
            <a:lvl3pPr marL="3135020" indent="0">
              <a:buNone/>
              <a:defRPr sz="6200" b="1"/>
            </a:lvl3pPr>
            <a:lvl4pPr marL="4702531" indent="0">
              <a:buNone/>
              <a:defRPr sz="5500" b="1"/>
            </a:lvl4pPr>
            <a:lvl5pPr marL="6270041" indent="0">
              <a:buNone/>
              <a:defRPr sz="5500" b="1"/>
            </a:lvl5pPr>
            <a:lvl6pPr marL="7837551" indent="0">
              <a:buNone/>
              <a:defRPr sz="5500" b="1"/>
            </a:lvl6pPr>
            <a:lvl7pPr marL="9405061" indent="0">
              <a:buNone/>
              <a:defRPr sz="5500" b="1"/>
            </a:lvl7pPr>
            <a:lvl8pPr marL="10972571" indent="0">
              <a:buNone/>
              <a:defRPr sz="5500" b="1"/>
            </a:lvl8pPr>
            <a:lvl9pPr marL="12540082" indent="0">
              <a:buNone/>
              <a:defRPr sz="5500" b="1"/>
            </a:lvl9pPr>
          </a:lstStyle>
          <a:p>
            <a:pPr lvl="0"/>
            <a:r>
              <a:rPr lang="en-US" smtClean="0"/>
              <a:t>Click to edit Master text styles</a:t>
            </a:r>
          </a:p>
        </p:txBody>
      </p:sp>
      <p:sp>
        <p:nvSpPr>
          <p:cNvPr id="4" name="Content Placeholder 3"/>
          <p:cNvSpPr>
            <a:spLocks noGrp="1"/>
          </p:cNvSpPr>
          <p:nvPr>
            <p:ph sz="half" idx="2"/>
          </p:nvPr>
        </p:nvSpPr>
        <p:spPr>
          <a:xfrm>
            <a:off x="1645920" y="6959600"/>
            <a:ext cx="14544677" cy="12644122"/>
          </a:xfrm>
        </p:spPr>
        <p:txBody>
          <a:bodyPr/>
          <a:lstStyle>
            <a:lvl1pPr>
              <a:defRPr sz="8200"/>
            </a:lvl1pPr>
            <a:lvl2pPr>
              <a:defRPr sz="6900"/>
            </a:lvl2pPr>
            <a:lvl3pPr>
              <a:defRPr sz="6200"/>
            </a:lvl3pPr>
            <a:lvl4pPr>
              <a:defRPr sz="5500"/>
            </a:lvl4pPr>
            <a:lvl5pPr>
              <a:defRPr sz="5500"/>
            </a:lvl5pPr>
            <a:lvl6pPr>
              <a:defRPr sz="5500"/>
            </a:lvl6pPr>
            <a:lvl7pPr>
              <a:defRPr sz="5500"/>
            </a:lvl7pPr>
            <a:lvl8pPr>
              <a:defRPr sz="5500"/>
            </a:lvl8pPr>
            <a:lvl9pPr>
              <a:defRPr sz="5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16722092" y="4912362"/>
            <a:ext cx="14550390" cy="2047238"/>
          </a:xfrm>
        </p:spPr>
        <p:txBody>
          <a:bodyPr anchor="b"/>
          <a:lstStyle>
            <a:lvl1pPr marL="0" indent="0">
              <a:buNone/>
              <a:defRPr sz="8200" b="1"/>
            </a:lvl1pPr>
            <a:lvl2pPr marL="1567510" indent="0">
              <a:buNone/>
              <a:defRPr sz="6900" b="1"/>
            </a:lvl2pPr>
            <a:lvl3pPr marL="3135020" indent="0">
              <a:buNone/>
              <a:defRPr sz="6200" b="1"/>
            </a:lvl3pPr>
            <a:lvl4pPr marL="4702531" indent="0">
              <a:buNone/>
              <a:defRPr sz="5500" b="1"/>
            </a:lvl4pPr>
            <a:lvl5pPr marL="6270041" indent="0">
              <a:buNone/>
              <a:defRPr sz="5500" b="1"/>
            </a:lvl5pPr>
            <a:lvl6pPr marL="7837551" indent="0">
              <a:buNone/>
              <a:defRPr sz="5500" b="1"/>
            </a:lvl6pPr>
            <a:lvl7pPr marL="9405061" indent="0">
              <a:buNone/>
              <a:defRPr sz="5500" b="1"/>
            </a:lvl7pPr>
            <a:lvl8pPr marL="10972571" indent="0">
              <a:buNone/>
              <a:defRPr sz="5500" b="1"/>
            </a:lvl8pPr>
            <a:lvl9pPr marL="12540082" indent="0">
              <a:buNone/>
              <a:defRPr sz="5500" b="1"/>
            </a:lvl9pPr>
          </a:lstStyle>
          <a:p>
            <a:pPr lvl="0"/>
            <a:r>
              <a:rPr lang="en-US" smtClean="0"/>
              <a:t>Click to edit Master text styles</a:t>
            </a:r>
          </a:p>
        </p:txBody>
      </p:sp>
      <p:sp>
        <p:nvSpPr>
          <p:cNvPr id="6" name="Content Placeholder 5"/>
          <p:cNvSpPr>
            <a:spLocks noGrp="1"/>
          </p:cNvSpPr>
          <p:nvPr>
            <p:ph sz="quarter" idx="4"/>
          </p:nvPr>
        </p:nvSpPr>
        <p:spPr>
          <a:xfrm>
            <a:off x="16722092" y="6959600"/>
            <a:ext cx="14550390" cy="12644122"/>
          </a:xfrm>
        </p:spPr>
        <p:txBody>
          <a:bodyPr/>
          <a:lstStyle>
            <a:lvl1pPr>
              <a:defRPr sz="8200"/>
            </a:lvl1pPr>
            <a:lvl2pPr>
              <a:defRPr sz="6900"/>
            </a:lvl2pPr>
            <a:lvl3pPr>
              <a:defRPr sz="6200"/>
            </a:lvl3pPr>
            <a:lvl4pPr>
              <a:defRPr sz="5500"/>
            </a:lvl4pPr>
            <a:lvl5pPr>
              <a:defRPr sz="5500"/>
            </a:lvl5pPr>
            <a:lvl6pPr>
              <a:defRPr sz="5500"/>
            </a:lvl6pPr>
            <a:lvl7pPr>
              <a:defRPr sz="5500"/>
            </a:lvl7pPr>
            <a:lvl8pPr>
              <a:defRPr sz="5500"/>
            </a:lvl8pPr>
            <a:lvl9pPr>
              <a:defRPr sz="5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1BC8750-4104-40B6-A7B2-375D28920A76}" type="datetimeFigureOut">
              <a:rPr lang="en-US" smtClean="0"/>
              <a:pPr/>
              <a:t>24-Apr-16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1D0EEB-14FD-465C-97F2-440B4344092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1BC8750-4104-40B6-A7B2-375D28920A76}" type="datetimeFigureOut">
              <a:rPr lang="en-US" smtClean="0"/>
              <a:pPr/>
              <a:t>24-Apr-16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1D0EEB-14FD-465C-97F2-440B4344092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BC8750-4104-40B6-A7B2-375D28920A76}" type="datetimeFigureOut">
              <a:rPr lang="en-US" smtClean="0"/>
              <a:pPr/>
              <a:t>24-Apr-16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1D0EEB-14FD-465C-97F2-440B4344092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922" y="873760"/>
            <a:ext cx="10829927" cy="3718560"/>
          </a:xfrm>
        </p:spPr>
        <p:txBody>
          <a:bodyPr anchor="b"/>
          <a:lstStyle>
            <a:lvl1pPr algn="l">
              <a:defRPr sz="6900" b="1"/>
            </a:lvl1pPr>
          </a:lstStyle>
          <a:p>
            <a:r>
              <a:rPr lang="en-US" smtClean="0"/>
              <a:t>Click to edit Master title style</a:t>
            </a:r>
            <a:endParaRPr lang="en-US"/>
          </a:p>
        </p:txBody>
      </p:sp>
      <p:sp>
        <p:nvSpPr>
          <p:cNvPr id="3" name="Content Placeholder 2"/>
          <p:cNvSpPr>
            <a:spLocks noGrp="1"/>
          </p:cNvSpPr>
          <p:nvPr>
            <p:ph idx="1"/>
          </p:nvPr>
        </p:nvSpPr>
        <p:spPr>
          <a:xfrm>
            <a:off x="12870180" y="873761"/>
            <a:ext cx="18402300" cy="18729962"/>
          </a:xfrm>
        </p:spPr>
        <p:txBody>
          <a:bodyPr/>
          <a:lstStyle>
            <a:lvl1pPr>
              <a:defRPr sz="11000"/>
            </a:lvl1pPr>
            <a:lvl2pPr>
              <a:defRPr sz="9600"/>
            </a:lvl2pPr>
            <a:lvl3pPr>
              <a:defRPr sz="8200"/>
            </a:lvl3pPr>
            <a:lvl4pPr>
              <a:defRPr sz="6900"/>
            </a:lvl4pPr>
            <a:lvl5pPr>
              <a:defRPr sz="6900"/>
            </a:lvl5pPr>
            <a:lvl6pPr>
              <a:defRPr sz="6900"/>
            </a:lvl6pPr>
            <a:lvl7pPr>
              <a:defRPr sz="6900"/>
            </a:lvl7pPr>
            <a:lvl8pPr>
              <a:defRPr sz="6900"/>
            </a:lvl8pPr>
            <a:lvl9pPr>
              <a:defRPr sz="6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1645922" y="4592321"/>
            <a:ext cx="10829927" cy="15011402"/>
          </a:xfrm>
        </p:spPr>
        <p:txBody>
          <a:bodyPr/>
          <a:lstStyle>
            <a:lvl1pPr marL="0" indent="0">
              <a:buNone/>
              <a:defRPr sz="4800"/>
            </a:lvl1pPr>
            <a:lvl2pPr marL="1567510" indent="0">
              <a:buNone/>
              <a:defRPr sz="4100"/>
            </a:lvl2pPr>
            <a:lvl3pPr marL="3135020" indent="0">
              <a:buNone/>
              <a:defRPr sz="3400"/>
            </a:lvl3pPr>
            <a:lvl4pPr marL="4702531" indent="0">
              <a:buNone/>
              <a:defRPr sz="3100"/>
            </a:lvl4pPr>
            <a:lvl5pPr marL="6270041" indent="0">
              <a:buNone/>
              <a:defRPr sz="3100"/>
            </a:lvl5pPr>
            <a:lvl6pPr marL="7837551" indent="0">
              <a:buNone/>
              <a:defRPr sz="3100"/>
            </a:lvl6pPr>
            <a:lvl7pPr marL="9405061" indent="0">
              <a:buNone/>
              <a:defRPr sz="3100"/>
            </a:lvl7pPr>
            <a:lvl8pPr marL="10972571" indent="0">
              <a:buNone/>
              <a:defRPr sz="3100"/>
            </a:lvl8pPr>
            <a:lvl9pPr marL="12540082" indent="0">
              <a:buNone/>
              <a:defRPr sz="31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1BC8750-4104-40B6-A7B2-375D28920A76}" type="datetimeFigureOut">
              <a:rPr lang="en-US" smtClean="0"/>
              <a:pPr/>
              <a:t>24-Apr-16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1D0EEB-14FD-465C-97F2-440B4344092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2237" y="15361920"/>
            <a:ext cx="19751040" cy="1813562"/>
          </a:xfrm>
        </p:spPr>
        <p:txBody>
          <a:bodyPr anchor="b"/>
          <a:lstStyle>
            <a:lvl1pPr algn="l">
              <a:defRPr sz="6900" b="1"/>
            </a:lvl1pPr>
          </a:lstStyle>
          <a:p>
            <a:r>
              <a:rPr lang="en-US" smtClean="0"/>
              <a:t>Click to edit Master title style</a:t>
            </a:r>
            <a:endParaRPr lang="en-US"/>
          </a:p>
        </p:txBody>
      </p:sp>
      <p:sp>
        <p:nvSpPr>
          <p:cNvPr id="3" name="Picture Placeholder 2"/>
          <p:cNvSpPr>
            <a:spLocks noGrp="1"/>
          </p:cNvSpPr>
          <p:nvPr>
            <p:ph type="pic" idx="1"/>
          </p:nvPr>
        </p:nvSpPr>
        <p:spPr>
          <a:xfrm>
            <a:off x="6452237" y="1960880"/>
            <a:ext cx="19751040" cy="13167360"/>
          </a:xfrm>
        </p:spPr>
        <p:txBody>
          <a:bodyPr/>
          <a:lstStyle>
            <a:lvl1pPr marL="0" indent="0">
              <a:buNone/>
              <a:defRPr sz="11000"/>
            </a:lvl1pPr>
            <a:lvl2pPr marL="1567510" indent="0">
              <a:buNone/>
              <a:defRPr sz="9600"/>
            </a:lvl2pPr>
            <a:lvl3pPr marL="3135020" indent="0">
              <a:buNone/>
              <a:defRPr sz="8200"/>
            </a:lvl3pPr>
            <a:lvl4pPr marL="4702531" indent="0">
              <a:buNone/>
              <a:defRPr sz="6900"/>
            </a:lvl4pPr>
            <a:lvl5pPr marL="6270041" indent="0">
              <a:buNone/>
              <a:defRPr sz="6900"/>
            </a:lvl5pPr>
            <a:lvl6pPr marL="7837551" indent="0">
              <a:buNone/>
              <a:defRPr sz="6900"/>
            </a:lvl6pPr>
            <a:lvl7pPr marL="9405061" indent="0">
              <a:buNone/>
              <a:defRPr sz="6900"/>
            </a:lvl7pPr>
            <a:lvl8pPr marL="10972571" indent="0">
              <a:buNone/>
              <a:defRPr sz="6900"/>
            </a:lvl8pPr>
            <a:lvl9pPr marL="12540082" indent="0">
              <a:buNone/>
              <a:defRPr sz="6900"/>
            </a:lvl9pPr>
          </a:lstStyle>
          <a:p>
            <a:endParaRPr lang="en-US"/>
          </a:p>
        </p:txBody>
      </p:sp>
      <p:sp>
        <p:nvSpPr>
          <p:cNvPr id="4" name="Text Placeholder 3"/>
          <p:cNvSpPr>
            <a:spLocks noGrp="1"/>
          </p:cNvSpPr>
          <p:nvPr>
            <p:ph type="body" sz="half" idx="2"/>
          </p:nvPr>
        </p:nvSpPr>
        <p:spPr>
          <a:xfrm>
            <a:off x="6452237" y="17175482"/>
            <a:ext cx="19751040" cy="2575558"/>
          </a:xfrm>
        </p:spPr>
        <p:txBody>
          <a:bodyPr/>
          <a:lstStyle>
            <a:lvl1pPr marL="0" indent="0">
              <a:buNone/>
              <a:defRPr sz="4800"/>
            </a:lvl1pPr>
            <a:lvl2pPr marL="1567510" indent="0">
              <a:buNone/>
              <a:defRPr sz="4100"/>
            </a:lvl2pPr>
            <a:lvl3pPr marL="3135020" indent="0">
              <a:buNone/>
              <a:defRPr sz="3400"/>
            </a:lvl3pPr>
            <a:lvl4pPr marL="4702531" indent="0">
              <a:buNone/>
              <a:defRPr sz="3100"/>
            </a:lvl4pPr>
            <a:lvl5pPr marL="6270041" indent="0">
              <a:buNone/>
              <a:defRPr sz="3100"/>
            </a:lvl5pPr>
            <a:lvl6pPr marL="7837551" indent="0">
              <a:buNone/>
              <a:defRPr sz="3100"/>
            </a:lvl6pPr>
            <a:lvl7pPr marL="9405061" indent="0">
              <a:buNone/>
              <a:defRPr sz="3100"/>
            </a:lvl7pPr>
            <a:lvl8pPr marL="10972571" indent="0">
              <a:buNone/>
              <a:defRPr sz="3100"/>
            </a:lvl8pPr>
            <a:lvl9pPr marL="12540082" indent="0">
              <a:buNone/>
              <a:defRPr sz="31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1BC8750-4104-40B6-A7B2-375D28920A76}" type="datetimeFigureOut">
              <a:rPr lang="en-US" smtClean="0"/>
              <a:pPr/>
              <a:t>24-Apr-16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1D0EEB-14FD-465C-97F2-440B4344092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1BC8750-4104-40B6-A7B2-375D28920A76}" type="datetimeFigureOut">
              <a:rPr lang="en-US" smtClean="0"/>
              <a:pPr/>
              <a:t>24-Apr-16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1D0EEB-14FD-465C-97F2-440B4344092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865840" y="878843"/>
            <a:ext cx="7406640" cy="1872488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645920" y="878843"/>
            <a:ext cx="21671280" cy="1872488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1BC8750-4104-40B6-A7B2-375D28920A76}" type="datetimeFigureOut">
              <a:rPr lang="en-US" smtClean="0"/>
              <a:pPr/>
              <a:t>24-Apr-16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1D0EEB-14FD-465C-97F2-440B4344092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45920" y="878842"/>
            <a:ext cx="29626560" cy="3657600"/>
          </a:xfrm>
          <a:prstGeom prst="rect">
            <a:avLst/>
          </a:prstGeom>
        </p:spPr>
        <p:txBody>
          <a:bodyPr vert="horz" lIns="313502" tIns="156751" rIns="313502" bIns="156751"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1645920" y="5120641"/>
            <a:ext cx="29626560" cy="14483082"/>
          </a:xfrm>
          <a:prstGeom prst="rect">
            <a:avLst/>
          </a:prstGeom>
        </p:spPr>
        <p:txBody>
          <a:bodyPr vert="horz" lIns="313502" tIns="156751" rIns="313502" bIns="15675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1645920" y="20340322"/>
            <a:ext cx="7680960" cy="1168400"/>
          </a:xfrm>
          <a:prstGeom prst="rect">
            <a:avLst/>
          </a:prstGeom>
        </p:spPr>
        <p:txBody>
          <a:bodyPr vert="horz" lIns="313502" tIns="156751" rIns="313502" bIns="156751" rtlCol="0" anchor="ctr"/>
          <a:lstStyle>
            <a:lvl1pPr algn="l">
              <a:defRPr sz="4100">
                <a:solidFill>
                  <a:schemeClr val="tx1">
                    <a:tint val="75000"/>
                  </a:schemeClr>
                </a:solidFill>
              </a:defRPr>
            </a:lvl1pPr>
          </a:lstStyle>
          <a:p>
            <a:fld id="{41BC8750-4104-40B6-A7B2-375D28920A76}" type="datetimeFigureOut">
              <a:rPr lang="en-US" smtClean="0"/>
              <a:pPr/>
              <a:t>24-Apr-16</a:t>
            </a:fld>
            <a:endParaRPr lang="en-US"/>
          </a:p>
        </p:txBody>
      </p:sp>
      <p:sp>
        <p:nvSpPr>
          <p:cNvPr id="5" name="Footer Placeholder 4"/>
          <p:cNvSpPr>
            <a:spLocks noGrp="1"/>
          </p:cNvSpPr>
          <p:nvPr>
            <p:ph type="ftr" sz="quarter" idx="3"/>
          </p:nvPr>
        </p:nvSpPr>
        <p:spPr>
          <a:xfrm>
            <a:off x="11247120" y="20340322"/>
            <a:ext cx="10424160" cy="1168400"/>
          </a:xfrm>
          <a:prstGeom prst="rect">
            <a:avLst/>
          </a:prstGeom>
        </p:spPr>
        <p:txBody>
          <a:bodyPr vert="horz" lIns="313502" tIns="156751" rIns="313502" bIns="156751" rtlCol="0" anchor="ctr"/>
          <a:lstStyle>
            <a:lvl1pPr algn="ctr">
              <a:defRPr sz="41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3591520" y="20340322"/>
            <a:ext cx="7680960" cy="1168400"/>
          </a:xfrm>
          <a:prstGeom prst="rect">
            <a:avLst/>
          </a:prstGeom>
        </p:spPr>
        <p:txBody>
          <a:bodyPr vert="horz" lIns="313502" tIns="156751" rIns="313502" bIns="156751" rtlCol="0" anchor="ctr"/>
          <a:lstStyle>
            <a:lvl1pPr algn="r">
              <a:defRPr sz="4100">
                <a:solidFill>
                  <a:schemeClr val="tx1">
                    <a:tint val="75000"/>
                  </a:schemeClr>
                </a:solidFill>
              </a:defRPr>
            </a:lvl1pPr>
          </a:lstStyle>
          <a:p>
            <a:fld id="{A01D0EEB-14FD-465C-97F2-440B4344092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135020" rtl="0" eaLnBrk="1" latinLnBrk="0" hangingPunct="1">
        <a:spcBef>
          <a:spcPct val="0"/>
        </a:spcBef>
        <a:buNone/>
        <a:defRPr sz="15100" kern="1200">
          <a:solidFill>
            <a:schemeClr val="tx1"/>
          </a:solidFill>
          <a:latin typeface="+mj-lt"/>
          <a:ea typeface="+mj-ea"/>
          <a:cs typeface="+mj-cs"/>
        </a:defRPr>
      </a:lvl1pPr>
    </p:titleStyle>
    <p:bodyStyle>
      <a:lvl1pPr marL="1175633" indent="-1175633" algn="l" defTabSz="3135020" rtl="0" eaLnBrk="1" latinLnBrk="0" hangingPunct="1">
        <a:spcBef>
          <a:spcPct val="20000"/>
        </a:spcBef>
        <a:buFont typeface="Arial" pitchFamily="34" charset="0"/>
        <a:buChar char="•"/>
        <a:defRPr sz="11000" kern="1200">
          <a:solidFill>
            <a:schemeClr val="tx1"/>
          </a:solidFill>
          <a:latin typeface="+mn-lt"/>
          <a:ea typeface="+mn-ea"/>
          <a:cs typeface="+mn-cs"/>
        </a:defRPr>
      </a:lvl1pPr>
      <a:lvl2pPr marL="2547204" indent="-979694" algn="l" defTabSz="3135020" rtl="0" eaLnBrk="1" latinLnBrk="0" hangingPunct="1">
        <a:spcBef>
          <a:spcPct val="20000"/>
        </a:spcBef>
        <a:buFont typeface="Arial" pitchFamily="34" charset="0"/>
        <a:buChar char="–"/>
        <a:defRPr sz="9600" kern="1200">
          <a:solidFill>
            <a:schemeClr val="tx1"/>
          </a:solidFill>
          <a:latin typeface="+mn-lt"/>
          <a:ea typeface="+mn-ea"/>
          <a:cs typeface="+mn-cs"/>
        </a:defRPr>
      </a:lvl2pPr>
      <a:lvl3pPr marL="3918776" indent="-783755" algn="l" defTabSz="3135020" rtl="0" eaLnBrk="1" latinLnBrk="0" hangingPunct="1">
        <a:spcBef>
          <a:spcPct val="20000"/>
        </a:spcBef>
        <a:buFont typeface="Arial" pitchFamily="34" charset="0"/>
        <a:buChar char="•"/>
        <a:defRPr sz="8200" kern="1200">
          <a:solidFill>
            <a:schemeClr val="tx1"/>
          </a:solidFill>
          <a:latin typeface="+mn-lt"/>
          <a:ea typeface="+mn-ea"/>
          <a:cs typeface="+mn-cs"/>
        </a:defRPr>
      </a:lvl3pPr>
      <a:lvl4pPr marL="5486286" indent="-783755" algn="l" defTabSz="3135020" rtl="0" eaLnBrk="1" latinLnBrk="0" hangingPunct="1">
        <a:spcBef>
          <a:spcPct val="20000"/>
        </a:spcBef>
        <a:buFont typeface="Arial" pitchFamily="34" charset="0"/>
        <a:buChar char="–"/>
        <a:defRPr sz="6900" kern="1200">
          <a:solidFill>
            <a:schemeClr val="tx1"/>
          </a:solidFill>
          <a:latin typeface="+mn-lt"/>
          <a:ea typeface="+mn-ea"/>
          <a:cs typeface="+mn-cs"/>
        </a:defRPr>
      </a:lvl4pPr>
      <a:lvl5pPr marL="7053796" indent="-783755" algn="l" defTabSz="3135020" rtl="0" eaLnBrk="1" latinLnBrk="0" hangingPunct="1">
        <a:spcBef>
          <a:spcPct val="20000"/>
        </a:spcBef>
        <a:buFont typeface="Arial" pitchFamily="34" charset="0"/>
        <a:buChar char="»"/>
        <a:defRPr sz="6900" kern="1200">
          <a:solidFill>
            <a:schemeClr val="tx1"/>
          </a:solidFill>
          <a:latin typeface="+mn-lt"/>
          <a:ea typeface="+mn-ea"/>
          <a:cs typeface="+mn-cs"/>
        </a:defRPr>
      </a:lvl5pPr>
      <a:lvl6pPr marL="8621306" indent="-783755" algn="l" defTabSz="3135020" rtl="0" eaLnBrk="1" latinLnBrk="0" hangingPunct="1">
        <a:spcBef>
          <a:spcPct val="20000"/>
        </a:spcBef>
        <a:buFont typeface="Arial" pitchFamily="34" charset="0"/>
        <a:buChar char="•"/>
        <a:defRPr sz="6900" kern="1200">
          <a:solidFill>
            <a:schemeClr val="tx1"/>
          </a:solidFill>
          <a:latin typeface="+mn-lt"/>
          <a:ea typeface="+mn-ea"/>
          <a:cs typeface="+mn-cs"/>
        </a:defRPr>
      </a:lvl6pPr>
      <a:lvl7pPr marL="10188816" indent="-783755" algn="l" defTabSz="3135020" rtl="0" eaLnBrk="1" latinLnBrk="0" hangingPunct="1">
        <a:spcBef>
          <a:spcPct val="20000"/>
        </a:spcBef>
        <a:buFont typeface="Arial" pitchFamily="34" charset="0"/>
        <a:buChar char="•"/>
        <a:defRPr sz="6900" kern="1200">
          <a:solidFill>
            <a:schemeClr val="tx1"/>
          </a:solidFill>
          <a:latin typeface="+mn-lt"/>
          <a:ea typeface="+mn-ea"/>
          <a:cs typeface="+mn-cs"/>
        </a:defRPr>
      </a:lvl7pPr>
      <a:lvl8pPr marL="11756327" indent="-783755" algn="l" defTabSz="3135020" rtl="0" eaLnBrk="1" latinLnBrk="0" hangingPunct="1">
        <a:spcBef>
          <a:spcPct val="20000"/>
        </a:spcBef>
        <a:buFont typeface="Arial" pitchFamily="34" charset="0"/>
        <a:buChar char="•"/>
        <a:defRPr sz="6900" kern="1200">
          <a:solidFill>
            <a:schemeClr val="tx1"/>
          </a:solidFill>
          <a:latin typeface="+mn-lt"/>
          <a:ea typeface="+mn-ea"/>
          <a:cs typeface="+mn-cs"/>
        </a:defRPr>
      </a:lvl8pPr>
      <a:lvl9pPr marL="13323837" indent="-783755" algn="l" defTabSz="3135020" rtl="0" eaLnBrk="1" latinLnBrk="0" hangingPunct="1">
        <a:spcBef>
          <a:spcPct val="20000"/>
        </a:spcBef>
        <a:buFont typeface="Arial" pitchFamily="34" charset="0"/>
        <a:buChar char="•"/>
        <a:defRPr sz="6900" kern="1200">
          <a:solidFill>
            <a:schemeClr val="tx1"/>
          </a:solidFill>
          <a:latin typeface="+mn-lt"/>
          <a:ea typeface="+mn-ea"/>
          <a:cs typeface="+mn-cs"/>
        </a:defRPr>
      </a:lvl9pPr>
    </p:bodyStyle>
    <p:otherStyle>
      <a:defPPr>
        <a:defRPr lang="en-US"/>
      </a:defPPr>
      <a:lvl1pPr marL="0" algn="l" defTabSz="3135020" rtl="0" eaLnBrk="1" latinLnBrk="0" hangingPunct="1">
        <a:defRPr sz="6200" kern="1200">
          <a:solidFill>
            <a:schemeClr val="tx1"/>
          </a:solidFill>
          <a:latin typeface="+mn-lt"/>
          <a:ea typeface="+mn-ea"/>
          <a:cs typeface="+mn-cs"/>
        </a:defRPr>
      </a:lvl1pPr>
      <a:lvl2pPr marL="1567510" algn="l" defTabSz="3135020" rtl="0" eaLnBrk="1" latinLnBrk="0" hangingPunct="1">
        <a:defRPr sz="6200" kern="1200">
          <a:solidFill>
            <a:schemeClr val="tx1"/>
          </a:solidFill>
          <a:latin typeface="+mn-lt"/>
          <a:ea typeface="+mn-ea"/>
          <a:cs typeface="+mn-cs"/>
        </a:defRPr>
      </a:lvl2pPr>
      <a:lvl3pPr marL="3135020" algn="l" defTabSz="3135020" rtl="0" eaLnBrk="1" latinLnBrk="0" hangingPunct="1">
        <a:defRPr sz="6200" kern="1200">
          <a:solidFill>
            <a:schemeClr val="tx1"/>
          </a:solidFill>
          <a:latin typeface="+mn-lt"/>
          <a:ea typeface="+mn-ea"/>
          <a:cs typeface="+mn-cs"/>
        </a:defRPr>
      </a:lvl3pPr>
      <a:lvl4pPr marL="4702531" algn="l" defTabSz="3135020" rtl="0" eaLnBrk="1" latinLnBrk="0" hangingPunct="1">
        <a:defRPr sz="6200" kern="1200">
          <a:solidFill>
            <a:schemeClr val="tx1"/>
          </a:solidFill>
          <a:latin typeface="+mn-lt"/>
          <a:ea typeface="+mn-ea"/>
          <a:cs typeface="+mn-cs"/>
        </a:defRPr>
      </a:lvl4pPr>
      <a:lvl5pPr marL="6270041" algn="l" defTabSz="3135020" rtl="0" eaLnBrk="1" latinLnBrk="0" hangingPunct="1">
        <a:defRPr sz="6200" kern="1200">
          <a:solidFill>
            <a:schemeClr val="tx1"/>
          </a:solidFill>
          <a:latin typeface="+mn-lt"/>
          <a:ea typeface="+mn-ea"/>
          <a:cs typeface="+mn-cs"/>
        </a:defRPr>
      </a:lvl5pPr>
      <a:lvl6pPr marL="7837551" algn="l" defTabSz="3135020" rtl="0" eaLnBrk="1" latinLnBrk="0" hangingPunct="1">
        <a:defRPr sz="6200" kern="1200">
          <a:solidFill>
            <a:schemeClr val="tx1"/>
          </a:solidFill>
          <a:latin typeface="+mn-lt"/>
          <a:ea typeface="+mn-ea"/>
          <a:cs typeface="+mn-cs"/>
        </a:defRPr>
      </a:lvl6pPr>
      <a:lvl7pPr marL="9405061" algn="l" defTabSz="3135020" rtl="0" eaLnBrk="1" latinLnBrk="0" hangingPunct="1">
        <a:defRPr sz="6200" kern="1200">
          <a:solidFill>
            <a:schemeClr val="tx1"/>
          </a:solidFill>
          <a:latin typeface="+mn-lt"/>
          <a:ea typeface="+mn-ea"/>
          <a:cs typeface="+mn-cs"/>
        </a:defRPr>
      </a:lvl7pPr>
      <a:lvl8pPr marL="10972571" algn="l" defTabSz="3135020" rtl="0" eaLnBrk="1" latinLnBrk="0" hangingPunct="1">
        <a:defRPr sz="6200" kern="1200">
          <a:solidFill>
            <a:schemeClr val="tx1"/>
          </a:solidFill>
          <a:latin typeface="+mn-lt"/>
          <a:ea typeface="+mn-ea"/>
          <a:cs typeface="+mn-cs"/>
        </a:defRPr>
      </a:lvl8pPr>
      <a:lvl9pPr marL="12540082" algn="l" defTabSz="3135020" rtl="0" eaLnBrk="1" latinLnBrk="0" hangingPunct="1">
        <a:defRPr sz="6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image" Target="../media/image1.png"/><Relationship Id="rId7" Type="http://schemas.openxmlformats.org/officeDocument/2006/relationships/image" Target="../media/image5.emf"/><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emf"/><Relationship Id="rId4" Type="http://schemas.openxmlformats.org/officeDocument/2006/relationships/image" Target="../media/image2.png"/><Relationship Id="rId9" Type="http://schemas.openxmlformats.org/officeDocument/2006/relationships/image" Target="../media/image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533400"/>
            <a:ext cx="32156400" cy="3048000"/>
          </a:xfrm>
          <a:prstGeom prst="rect">
            <a:avLst/>
          </a:prstGeom>
          <a:solidFill>
            <a:srgbClr val="F8F8F8"/>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IN" sz="6800" dirty="0">
                <a:latin typeface="Tahoma" pitchFamily="34" charset="0"/>
                <a:ea typeface="Tahoma" pitchFamily="34" charset="0"/>
                <a:cs typeface="Tahoma" pitchFamily="34" charset="0"/>
              </a:rPr>
              <a:t>Does Oil Drive the Bull and Bear?: </a:t>
            </a:r>
          </a:p>
          <a:p>
            <a:pPr algn="ctr"/>
            <a:r>
              <a:rPr lang="en-IN" sz="6800" dirty="0">
                <a:latin typeface="Tahoma" pitchFamily="34" charset="0"/>
                <a:ea typeface="Tahoma" pitchFamily="34" charset="0"/>
                <a:cs typeface="Tahoma" pitchFamily="34" charset="0"/>
              </a:rPr>
              <a:t>An </a:t>
            </a:r>
            <a:r>
              <a:rPr lang="en-IN" sz="6800" dirty="0" smtClean="0">
                <a:latin typeface="Tahoma" pitchFamily="34" charset="0"/>
                <a:ea typeface="Tahoma" pitchFamily="34" charset="0"/>
                <a:cs typeface="Tahoma" pitchFamily="34" charset="0"/>
              </a:rPr>
              <a:t>Industry-Level </a:t>
            </a:r>
            <a:r>
              <a:rPr lang="en-IN" sz="6800" dirty="0">
                <a:latin typeface="Tahoma" pitchFamily="34" charset="0"/>
                <a:ea typeface="Tahoma" pitchFamily="34" charset="0"/>
                <a:cs typeface="Tahoma" pitchFamily="34" charset="0"/>
              </a:rPr>
              <a:t>Analysis Across Oil Importers and Exporters</a:t>
            </a:r>
          </a:p>
          <a:p>
            <a:pPr algn="ctr"/>
            <a:r>
              <a:rPr lang="en-US" sz="5800" dirty="0" smtClean="0">
                <a:latin typeface="Tahoma" pitchFamily="34" charset="0"/>
                <a:ea typeface="Tahoma" pitchFamily="34" charset="0"/>
                <a:cs typeface="Tahoma" pitchFamily="34" charset="0"/>
              </a:rPr>
              <a:t>Rahul </a:t>
            </a:r>
            <a:r>
              <a:rPr lang="en-US" sz="5800" dirty="0" err="1" smtClean="0">
                <a:latin typeface="Tahoma" pitchFamily="34" charset="0"/>
                <a:ea typeface="Tahoma" pitchFamily="34" charset="0"/>
                <a:cs typeface="Tahoma" pitchFamily="34" charset="0"/>
              </a:rPr>
              <a:t>Dutt</a:t>
            </a:r>
            <a:r>
              <a:rPr lang="en-US" sz="5800" dirty="0" smtClean="0">
                <a:latin typeface="Tahoma" pitchFamily="34" charset="0"/>
                <a:ea typeface="Tahoma" pitchFamily="34" charset="0"/>
                <a:cs typeface="Tahoma" pitchFamily="34" charset="0"/>
              </a:rPr>
              <a:t> ‘16 – (Sponsor: Professor David </a:t>
            </a:r>
            <a:r>
              <a:rPr lang="en-US" sz="5800" dirty="0" err="1" smtClean="0">
                <a:latin typeface="Tahoma" pitchFamily="34" charset="0"/>
                <a:ea typeface="Tahoma" pitchFamily="34" charset="0"/>
                <a:cs typeface="Tahoma" pitchFamily="34" charset="0"/>
              </a:rPr>
              <a:t>Cuberes</a:t>
            </a:r>
            <a:r>
              <a:rPr lang="en-US" sz="5800" dirty="0" smtClean="0">
                <a:latin typeface="Tahoma" pitchFamily="34" charset="0"/>
                <a:ea typeface="Tahoma" pitchFamily="34" charset="0"/>
                <a:cs typeface="Tahoma" pitchFamily="34" charset="0"/>
              </a:rPr>
              <a:t>)</a:t>
            </a:r>
          </a:p>
        </p:txBody>
      </p:sp>
      <p:sp>
        <p:nvSpPr>
          <p:cNvPr id="5" name="Rectangle 4"/>
          <p:cNvSpPr/>
          <p:nvPr/>
        </p:nvSpPr>
        <p:spPr>
          <a:xfrm>
            <a:off x="762000" y="4038600"/>
            <a:ext cx="9448800" cy="44196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t"/>
          <a:lstStyle/>
          <a:p>
            <a:pPr algn="ctr">
              <a:lnSpc>
                <a:spcPct val="150000"/>
              </a:lnSpc>
            </a:pPr>
            <a:r>
              <a:rPr lang="en-IN" sz="3400" dirty="0" smtClean="0">
                <a:latin typeface="Tahoma" pitchFamily="34" charset="0"/>
                <a:ea typeface="Tahoma" pitchFamily="34" charset="0"/>
                <a:cs typeface="Tahoma" pitchFamily="34" charset="0"/>
              </a:rPr>
              <a:t>Background</a:t>
            </a:r>
          </a:p>
          <a:p>
            <a:pPr lvl="0" algn="just"/>
            <a:r>
              <a:rPr lang="en-US" sz="2400" dirty="0" smtClean="0">
                <a:solidFill>
                  <a:prstClr val="black"/>
                </a:solidFill>
                <a:latin typeface="Tahoma" pitchFamily="34" charset="0"/>
                <a:ea typeface="Tahoma" pitchFamily="34" charset="0"/>
                <a:cs typeface="Tahoma" pitchFamily="34" charset="0"/>
              </a:rPr>
              <a:t>As shown by the graph below </a:t>
            </a:r>
            <a:r>
              <a:rPr lang="en-US" sz="2400" dirty="0">
                <a:solidFill>
                  <a:prstClr val="black"/>
                </a:solidFill>
                <a:latin typeface="Tahoma" pitchFamily="34" charset="0"/>
                <a:ea typeface="Tahoma" pitchFamily="34" charset="0"/>
                <a:cs typeface="Tahoma" pitchFamily="34" charset="0"/>
              </a:rPr>
              <a:t>o</a:t>
            </a:r>
            <a:r>
              <a:rPr lang="en-US" sz="2400" dirty="0" smtClean="0">
                <a:solidFill>
                  <a:prstClr val="black"/>
                </a:solidFill>
                <a:latin typeface="Tahoma" pitchFamily="34" charset="0"/>
                <a:ea typeface="Tahoma" pitchFamily="34" charset="0"/>
                <a:cs typeface="Tahoma" pitchFamily="34" charset="0"/>
              </a:rPr>
              <a:t>il markets and financials markets move together, though oil is much more volatile. </a:t>
            </a:r>
            <a:r>
              <a:rPr lang="en-US" sz="2400" dirty="0" smtClean="0">
                <a:solidFill>
                  <a:prstClr val="black"/>
                </a:solidFill>
                <a:latin typeface="Tahoma" pitchFamily="34" charset="0"/>
                <a:ea typeface="Tahoma" pitchFamily="34" charset="0"/>
                <a:cs typeface="Tahoma" pitchFamily="34" charset="0"/>
              </a:rPr>
              <a:t>Oil prices are said to influence the stock market in two ways. Firstly, if oil is taken as an input, higher oil prices leads higher costs to the producer and as a result decreases profit and their cash flow, which leads to lower stock price. This shows a negative relationship. We can see this today with low oil prices and high stock market valuations.  On the other hand, high oil prices indicate that the economy is doing well, and the high demand pushes up the stock price as well. This implies that is has a positive relationship. We see evidence of this at the peak of the Housing Bubble where stock prices were soaring along with record high oil prices (as seen in graph). </a:t>
            </a:r>
            <a:endParaRPr lang="en-IN" sz="3400" dirty="0" smtClean="0">
              <a:latin typeface="Tahoma" pitchFamily="34" charset="0"/>
              <a:ea typeface="Tahoma" pitchFamily="34" charset="0"/>
              <a:cs typeface="Tahoma" pitchFamily="34" charset="0"/>
            </a:endParaRPr>
          </a:p>
        </p:txBody>
      </p:sp>
      <p:sp>
        <p:nvSpPr>
          <p:cNvPr id="8" name="Rectangle 7"/>
          <p:cNvSpPr/>
          <p:nvPr/>
        </p:nvSpPr>
        <p:spPr>
          <a:xfrm>
            <a:off x="21714702" y="4267200"/>
            <a:ext cx="10363200" cy="38862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t"/>
          <a:lstStyle/>
          <a:p>
            <a:pPr algn="ctr">
              <a:lnSpc>
                <a:spcPct val="150000"/>
              </a:lnSpc>
            </a:pPr>
            <a:r>
              <a:rPr lang="en-IN" sz="3400" dirty="0">
                <a:latin typeface="Tahoma" pitchFamily="34" charset="0"/>
                <a:ea typeface="Tahoma" pitchFamily="34" charset="0"/>
                <a:cs typeface="Tahoma" pitchFamily="34" charset="0"/>
              </a:rPr>
              <a:t>Results</a:t>
            </a:r>
          </a:p>
          <a:p>
            <a:pPr lvl="0" algn="just"/>
            <a:endParaRPr lang="en-US" sz="800" dirty="0">
              <a:solidFill>
                <a:prstClr val="black"/>
              </a:solidFill>
              <a:latin typeface="Tahoma" pitchFamily="34" charset="0"/>
              <a:ea typeface="Tahoma" pitchFamily="34" charset="0"/>
              <a:cs typeface="Tahoma" pitchFamily="34" charset="0"/>
            </a:endParaRPr>
          </a:p>
          <a:p>
            <a:pPr lvl="0" algn="just"/>
            <a:r>
              <a:rPr lang="en-IN" sz="2400" dirty="0" smtClean="0">
                <a:solidFill>
                  <a:prstClr val="black"/>
                </a:solidFill>
                <a:latin typeface="Tahoma" pitchFamily="34" charset="0"/>
                <a:ea typeface="Tahoma" pitchFamily="34" charset="0"/>
                <a:cs typeface="Tahoma" pitchFamily="34" charset="0"/>
              </a:rPr>
              <a:t>On an international level, crude plays a positive role in all the countries in the study, besides Japan. </a:t>
            </a:r>
            <a:r>
              <a:rPr lang="en-IN" sz="2400" dirty="0" smtClean="0">
                <a:solidFill>
                  <a:prstClr val="black"/>
                </a:solidFill>
                <a:latin typeface="Tahoma" pitchFamily="34" charset="0"/>
                <a:ea typeface="Tahoma" pitchFamily="34" charset="0"/>
                <a:cs typeface="Tahoma" pitchFamily="34" charset="0"/>
              </a:rPr>
              <a:t>Oil also impacts the stock market </a:t>
            </a:r>
            <a:r>
              <a:rPr lang="en-IN" sz="2400" dirty="0" smtClean="0">
                <a:solidFill>
                  <a:prstClr val="black"/>
                </a:solidFill>
                <a:latin typeface="Tahoma" pitchFamily="34" charset="0"/>
                <a:ea typeface="Tahoma" pitchFamily="34" charset="0"/>
                <a:cs typeface="Tahoma" pitchFamily="34" charset="0"/>
              </a:rPr>
              <a:t>in large oil exporters and importers more, namely India, Mexico and Saudi Arabia. On an industry level, there is no clear relationship between oil, industry and the stock market. Though Healthcare, Consumer Staples, Industrials, Materials and Utilities when interacted with oil have a relatively larger impact on the stock market than other industries. The results are inconclusive. </a:t>
            </a:r>
            <a:endParaRPr lang="en-IN" sz="3400" dirty="0" smtClean="0">
              <a:latin typeface="Tahoma" pitchFamily="34" charset="0"/>
              <a:ea typeface="Tahoma" pitchFamily="34" charset="0"/>
              <a:cs typeface="Tahoma" pitchFamily="34" charset="0"/>
            </a:endParaRPr>
          </a:p>
          <a:p>
            <a:pPr algn="just">
              <a:lnSpc>
                <a:spcPct val="150000"/>
              </a:lnSpc>
            </a:pPr>
            <a:endParaRPr lang="en-IN" sz="3400" dirty="0" smtClean="0">
              <a:latin typeface="Tahoma" pitchFamily="34" charset="0"/>
              <a:ea typeface="Tahoma" pitchFamily="34" charset="0"/>
              <a:cs typeface="Tahoma" pitchFamily="34" charset="0"/>
            </a:endParaRPr>
          </a:p>
          <a:p>
            <a:pPr algn="just"/>
            <a:endParaRPr lang="en-US" sz="2400" dirty="0"/>
          </a:p>
        </p:txBody>
      </p:sp>
      <mc:AlternateContent xmlns:mc="http://schemas.openxmlformats.org/markup-compatibility/2006">
        <mc:Choice xmlns:a14="http://schemas.microsoft.com/office/drawing/2010/main" Requires="a14">
          <p:sp>
            <p:nvSpPr>
              <p:cNvPr id="9" name="Rectangle 8"/>
              <p:cNvSpPr/>
              <p:nvPr/>
            </p:nvSpPr>
            <p:spPr>
              <a:xfrm>
                <a:off x="11306175" y="9408358"/>
                <a:ext cx="9448800" cy="810418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t"/>
              <a:lstStyle/>
              <a:p>
                <a:pPr algn="ctr">
                  <a:lnSpc>
                    <a:spcPct val="150000"/>
                  </a:lnSpc>
                </a:pPr>
                <a:r>
                  <a:rPr lang="en-IN" sz="3400" dirty="0" smtClean="0">
                    <a:latin typeface="Tahoma" pitchFamily="34" charset="0"/>
                    <a:ea typeface="Tahoma" pitchFamily="34" charset="0"/>
                    <a:cs typeface="Tahoma" pitchFamily="34" charset="0"/>
                  </a:rPr>
                  <a:t>Models </a:t>
                </a:r>
              </a:p>
              <a:p>
                <a:pPr lvl="0"/>
                <a:r>
                  <a:rPr lang="en-IN" sz="2400" dirty="0">
                    <a:solidFill>
                      <a:prstClr val="black"/>
                    </a:solidFill>
                    <a:latin typeface="Tahoma" pitchFamily="34" charset="0"/>
                    <a:ea typeface="Tahoma" pitchFamily="34" charset="0"/>
                    <a:cs typeface="Tahoma" pitchFamily="34" charset="0"/>
                  </a:rPr>
                  <a:t>Part 1: Country Indices Level </a:t>
                </a:r>
              </a:p>
              <a:p>
                <a:pPr/>
                <a14:m>
                  <m:oMathPara xmlns:m="http://schemas.openxmlformats.org/officeDocument/2006/math">
                    <m:oMathParaPr>
                      <m:jc m:val="left"/>
                    </m:oMathParaPr>
                    <m:oMath xmlns:m="http://schemas.openxmlformats.org/officeDocument/2006/math">
                      <m:func>
                        <m:funcPr>
                          <m:ctrlPr>
                            <a:rPr lang="en-US" sz="2400" i="1">
                              <a:latin typeface="Cambria Math"/>
                            </a:rPr>
                          </m:ctrlPr>
                        </m:funcPr>
                        <m:fName>
                          <m:r>
                            <m:rPr>
                              <m:sty m:val="p"/>
                            </m:rPr>
                            <a:rPr lang="en-US" sz="2400">
                              <a:latin typeface="Cambria Math"/>
                            </a:rPr>
                            <m:t>ln</m:t>
                          </m:r>
                        </m:fName>
                        <m:e>
                          <m:d>
                            <m:dPr>
                              <m:ctrlPr>
                                <a:rPr lang="en-US" sz="2400" i="1">
                                  <a:latin typeface="Cambria Math"/>
                                </a:rPr>
                              </m:ctrlPr>
                            </m:dPr>
                            <m:e>
                              <m:r>
                                <a:rPr lang="en-US" sz="2400" i="1">
                                  <a:latin typeface="Cambria Math"/>
                                </a:rPr>
                                <m:t>𝑠𝑡𝑜𝑐𝑘𝑝𝑟𝑖𝑐𝑒</m:t>
                              </m:r>
                            </m:e>
                          </m:d>
                        </m:e>
                      </m:func>
                      <m:r>
                        <a:rPr lang="en-IN" sz="2400" b="0" i="1" smtClean="0">
                          <a:latin typeface="Cambria Math"/>
                        </a:rPr>
                        <m:t>=</m:t>
                      </m:r>
                      <m:sSub>
                        <m:sSubPr>
                          <m:ctrlPr>
                            <a:rPr lang="en-US" sz="2400" i="1">
                              <a:latin typeface="Cambria Math"/>
                            </a:rPr>
                          </m:ctrlPr>
                        </m:sSubPr>
                        <m:e>
                          <m:r>
                            <a:rPr lang="en-US" sz="2400" i="1">
                              <a:latin typeface="Cambria Math"/>
                            </a:rPr>
                            <m:t>𝛽</m:t>
                          </m:r>
                        </m:e>
                        <m:sub>
                          <m:r>
                            <a:rPr lang="en-US" sz="2400" i="1">
                              <a:latin typeface="Cambria Math"/>
                            </a:rPr>
                            <m:t>0</m:t>
                          </m:r>
                        </m:sub>
                      </m:sSub>
                      <m:r>
                        <a:rPr lang="en-US" sz="2400" i="1">
                          <a:latin typeface="Cambria Math"/>
                        </a:rPr>
                        <m:t>+</m:t>
                      </m:r>
                      <m:sSub>
                        <m:sSubPr>
                          <m:ctrlPr>
                            <a:rPr lang="en-US" sz="2400" i="1">
                              <a:latin typeface="Cambria Math"/>
                            </a:rPr>
                          </m:ctrlPr>
                        </m:sSubPr>
                        <m:e>
                          <m:r>
                            <a:rPr lang="en-US" sz="2400" i="1">
                              <a:latin typeface="Cambria Math"/>
                            </a:rPr>
                            <m:t>𝛽</m:t>
                          </m:r>
                        </m:e>
                        <m:sub>
                          <m:r>
                            <a:rPr lang="en-US" sz="2400" i="1">
                              <a:latin typeface="Cambria Math"/>
                            </a:rPr>
                            <m:t>1</m:t>
                          </m:r>
                        </m:sub>
                      </m:sSub>
                      <m:func>
                        <m:funcPr>
                          <m:ctrlPr>
                            <a:rPr lang="en-US" sz="2400" i="1">
                              <a:latin typeface="Cambria Math"/>
                            </a:rPr>
                          </m:ctrlPr>
                        </m:funcPr>
                        <m:fName>
                          <m:r>
                            <m:rPr>
                              <m:sty m:val="p"/>
                            </m:rPr>
                            <a:rPr lang="en-US" sz="2400">
                              <a:latin typeface="Cambria Math"/>
                            </a:rPr>
                            <m:t>ln</m:t>
                          </m:r>
                        </m:fName>
                        <m:e>
                          <m:d>
                            <m:dPr>
                              <m:ctrlPr>
                                <a:rPr lang="en-US" sz="2400" i="1">
                                  <a:latin typeface="Cambria Math"/>
                                </a:rPr>
                              </m:ctrlPr>
                            </m:dPr>
                            <m:e>
                              <m:r>
                                <a:rPr lang="en-US" sz="2400" i="1">
                                  <a:latin typeface="Cambria Math"/>
                                </a:rPr>
                                <m:t>𝐵𝑟𝑒𝑛𝑡𝐶𝑟𝑢𝑑𝑒</m:t>
                              </m:r>
                            </m:e>
                          </m:d>
                        </m:e>
                      </m:func>
                      <m:r>
                        <a:rPr lang="en-IN" sz="2400" b="0" i="1" smtClean="0">
                          <a:latin typeface="Cambria Math"/>
                        </a:rPr>
                        <m:t>+</m:t>
                      </m:r>
                      <m:r>
                        <a:rPr lang="en-US" sz="2400" i="1">
                          <a:latin typeface="Cambria Math"/>
                        </a:rPr>
                        <m:t> </m:t>
                      </m:r>
                      <m:sSub>
                        <m:sSubPr>
                          <m:ctrlPr>
                            <a:rPr lang="en-US" sz="2400" i="1">
                              <a:latin typeface="Cambria Math"/>
                            </a:rPr>
                          </m:ctrlPr>
                        </m:sSubPr>
                        <m:e>
                          <m:r>
                            <a:rPr lang="en-US" sz="2400" i="1">
                              <a:latin typeface="Cambria Math"/>
                            </a:rPr>
                            <m:t>𝛽</m:t>
                          </m:r>
                        </m:e>
                        <m:sub>
                          <m:r>
                            <a:rPr lang="en-US" sz="2400" i="1">
                              <a:latin typeface="Cambria Math"/>
                            </a:rPr>
                            <m:t>2</m:t>
                          </m:r>
                        </m:sub>
                      </m:sSub>
                      <m:func>
                        <m:funcPr>
                          <m:ctrlPr>
                            <a:rPr lang="en-US" sz="2400" i="1">
                              <a:latin typeface="Cambria Math"/>
                            </a:rPr>
                          </m:ctrlPr>
                        </m:funcPr>
                        <m:fName>
                          <m:r>
                            <m:rPr>
                              <m:sty m:val="p"/>
                            </m:rPr>
                            <a:rPr lang="en-US" sz="2400">
                              <a:latin typeface="Cambria Math"/>
                            </a:rPr>
                            <m:t>ln</m:t>
                          </m:r>
                        </m:fName>
                        <m:e>
                          <m:d>
                            <m:dPr>
                              <m:ctrlPr>
                                <a:rPr lang="en-US" sz="2400" i="1">
                                  <a:latin typeface="Cambria Math"/>
                                </a:rPr>
                              </m:ctrlPr>
                            </m:dPr>
                            <m:e>
                              <m:r>
                                <a:rPr lang="en-US" sz="2400" i="1">
                                  <a:latin typeface="Cambria Math"/>
                                </a:rPr>
                                <m:t>𝑊𝑇𝐼</m:t>
                              </m:r>
                              <m:r>
                                <a:rPr lang="en-US" sz="2400" i="1">
                                  <a:latin typeface="Cambria Math"/>
                                </a:rPr>
                                <m:t> </m:t>
                              </m:r>
                              <m:r>
                                <a:rPr lang="en-US" sz="2400" i="1">
                                  <a:latin typeface="Cambria Math"/>
                                </a:rPr>
                                <m:t>𝐶𝑟𝑢𝑑𝑒</m:t>
                              </m:r>
                            </m:e>
                          </m:d>
                          <m:r>
                            <a:rPr lang="en-IN" sz="2400" b="0" i="1" smtClean="0">
                              <a:latin typeface="Cambria Math"/>
                            </a:rPr>
                            <m:t>  </m:t>
                          </m:r>
                        </m:e>
                      </m:func>
                      <m:sSub>
                        <m:sSubPr>
                          <m:ctrlPr>
                            <a:rPr lang="en-US" sz="2400" i="1">
                              <a:latin typeface="Cambria Math"/>
                            </a:rPr>
                          </m:ctrlPr>
                        </m:sSubPr>
                        <m:e>
                          <m:r>
                            <a:rPr lang="en-US" sz="2400" i="1">
                              <a:latin typeface="Cambria Math"/>
                            </a:rPr>
                            <m:t>+ </m:t>
                          </m:r>
                          <m:r>
                            <a:rPr lang="en-US" sz="2400" i="1">
                              <a:latin typeface="Cambria Math"/>
                            </a:rPr>
                            <m:t>𝛽</m:t>
                          </m:r>
                        </m:e>
                        <m:sub>
                          <m:r>
                            <a:rPr lang="en-US" sz="2400" i="1">
                              <a:latin typeface="Cambria Math"/>
                            </a:rPr>
                            <m:t>3</m:t>
                          </m:r>
                        </m:sub>
                      </m:sSub>
                      <m:d>
                        <m:dPr>
                          <m:ctrlPr>
                            <a:rPr lang="en-US" sz="2400" i="1">
                              <a:latin typeface="Cambria Math"/>
                            </a:rPr>
                          </m:ctrlPr>
                        </m:dPr>
                        <m:e>
                          <m:r>
                            <a:rPr lang="en-US" sz="2400" i="1">
                              <a:latin typeface="Cambria Math"/>
                            </a:rPr>
                            <m:t>𝑈𝑆</m:t>
                          </m:r>
                          <m:r>
                            <a:rPr lang="en-US" sz="2400" i="1">
                              <a:latin typeface="Cambria Math"/>
                            </a:rPr>
                            <m:t>10</m:t>
                          </m:r>
                          <m:r>
                            <a:rPr lang="en-US" sz="2400" i="1">
                              <a:latin typeface="Cambria Math"/>
                            </a:rPr>
                            <m:t>𝑇𝑟𝑒𝑎𝑠𝑢𝑟𝑦𝑌𝑖𝑒𝑙𝑑</m:t>
                          </m:r>
                        </m:e>
                      </m:d>
                      <m:r>
                        <a:rPr lang="en-US" sz="2400" i="1">
                          <a:latin typeface="Cambria Math"/>
                        </a:rPr>
                        <m:t>+ </m:t>
                      </m:r>
                      <m:sSub>
                        <m:sSubPr>
                          <m:ctrlPr>
                            <a:rPr lang="en-US" sz="2400" i="1">
                              <a:latin typeface="Cambria Math"/>
                            </a:rPr>
                          </m:ctrlPr>
                        </m:sSubPr>
                        <m:e>
                          <m:r>
                            <a:rPr lang="en-US" sz="2400" i="1">
                              <a:latin typeface="Cambria Math"/>
                            </a:rPr>
                            <m:t>𝛽</m:t>
                          </m:r>
                        </m:e>
                        <m:sub>
                          <m:r>
                            <a:rPr lang="en-US" sz="2400" i="1">
                              <a:latin typeface="Cambria Math"/>
                            </a:rPr>
                            <m:t>4</m:t>
                          </m:r>
                        </m:sub>
                      </m:sSub>
                      <m:d>
                        <m:dPr>
                          <m:ctrlPr>
                            <a:rPr lang="en-US" sz="2400" i="1">
                              <a:latin typeface="Cambria Math"/>
                            </a:rPr>
                          </m:ctrlPr>
                        </m:dPr>
                        <m:e>
                          <m:r>
                            <a:rPr lang="en-US" sz="2400" i="1">
                              <a:latin typeface="Cambria Math"/>
                            </a:rPr>
                            <m:t>𝐶𝑜𝑢𝑛𝑡𝑟𝑦𝐼𝑛𝑓𝑙𝑎𝑡𝑖𝑜𝑛</m:t>
                          </m:r>
                        </m:e>
                      </m:d>
                      <m:r>
                        <a:rPr lang="en-US" sz="2400" i="1">
                          <a:latin typeface="Cambria Math"/>
                        </a:rPr>
                        <m:t>+</m:t>
                      </m:r>
                      <m:sSub>
                        <m:sSubPr>
                          <m:ctrlPr>
                            <a:rPr lang="en-US" sz="2400" i="1">
                              <a:latin typeface="Cambria Math"/>
                            </a:rPr>
                          </m:ctrlPr>
                        </m:sSubPr>
                        <m:e>
                          <m:r>
                            <a:rPr lang="en-US" sz="2400" i="1">
                              <a:latin typeface="Cambria Math"/>
                            </a:rPr>
                            <m:t>𝛽</m:t>
                          </m:r>
                        </m:e>
                        <m:sub>
                          <m:r>
                            <a:rPr lang="en-US" sz="2400" i="1">
                              <a:latin typeface="Cambria Math"/>
                            </a:rPr>
                            <m:t>5</m:t>
                          </m:r>
                        </m:sub>
                      </m:sSub>
                      <m:d>
                        <m:dPr>
                          <m:ctrlPr>
                            <a:rPr lang="en-US" sz="2400" i="1">
                              <a:latin typeface="Cambria Math"/>
                            </a:rPr>
                          </m:ctrlPr>
                        </m:dPr>
                        <m:e>
                          <m:r>
                            <a:rPr lang="en-US" sz="2400" i="1">
                              <a:latin typeface="Cambria Math"/>
                            </a:rPr>
                            <m:t>𝐶𝑜𝑢𝑛𝑡𝑟𝑦𝐺𝐷𝑃𝑔𝑟𝑜𝑤𝑡h</m:t>
                          </m:r>
                        </m:e>
                      </m:d>
                      <m:r>
                        <a:rPr lang="en-US" sz="2000" i="1">
                          <a:latin typeface="Cambria Math"/>
                        </a:rPr>
                        <m:t>+</m:t>
                      </m:r>
                      <m:sSub>
                        <m:sSubPr>
                          <m:ctrlPr>
                            <a:rPr lang="en-US" sz="2000" i="1">
                              <a:latin typeface="Cambria Math"/>
                            </a:rPr>
                          </m:ctrlPr>
                        </m:sSubPr>
                        <m:e>
                          <m:r>
                            <a:rPr lang="en-US" sz="2000" i="1">
                              <a:latin typeface="Cambria Math"/>
                            </a:rPr>
                            <m:t>𝛽</m:t>
                          </m:r>
                        </m:e>
                        <m:sub>
                          <m:r>
                            <a:rPr lang="en-US" sz="2000" i="1">
                              <a:latin typeface="Cambria Math"/>
                            </a:rPr>
                            <m:t>6</m:t>
                          </m:r>
                        </m:sub>
                      </m:sSub>
                      <m:d>
                        <m:dPr>
                          <m:ctrlPr>
                            <a:rPr lang="en-US" sz="2000" i="1">
                              <a:latin typeface="Cambria Math"/>
                            </a:rPr>
                          </m:ctrlPr>
                        </m:dPr>
                        <m:e>
                          <m:r>
                            <a:rPr lang="en-US" sz="2000" i="1">
                              <a:latin typeface="Cambria Math"/>
                            </a:rPr>
                            <m:t>𝑊𝑜𝑟𝑙𝑑𝐺𝐷𝑃𝑔𝑟𝑜𝑤𝑡h</m:t>
                          </m:r>
                        </m:e>
                      </m:d>
                    </m:oMath>
                  </m:oMathPara>
                </a14:m>
                <a:endParaRPr lang="en-IN" sz="2000" i="1" dirty="0" smtClean="0">
                  <a:latin typeface="Cambria Math"/>
                </a:endParaRPr>
              </a:p>
              <a:p>
                <a:endParaRPr lang="en-IN" sz="2000" i="1" dirty="0">
                  <a:latin typeface="Cambria Math"/>
                </a:endParaRPr>
              </a:p>
              <a:p>
                <a:pPr lvl="0"/>
                <a:r>
                  <a:rPr lang="en-IN" sz="2400" dirty="0">
                    <a:solidFill>
                      <a:prstClr val="black"/>
                    </a:solidFill>
                    <a:latin typeface="Tahoma" pitchFamily="34" charset="0"/>
                    <a:ea typeface="Tahoma" pitchFamily="34" charset="0"/>
                    <a:cs typeface="Tahoma" pitchFamily="34" charset="0"/>
                  </a:rPr>
                  <a:t>Part 1: Global Pooled Model </a:t>
                </a:r>
              </a:p>
              <a:p>
                <a:pPr/>
                <a14:m>
                  <m:oMathPara xmlns:m="http://schemas.openxmlformats.org/officeDocument/2006/math">
                    <m:oMathParaPr>
                      <m:jc m:val="left"/>
                    </m:oMathParaPr>
                    <m:oMath xmlns:m="http://schemas.openxmlformats.org/officeDocument/2006/math">
                      <m:func>
                        <m:funcPr>
                          <m:ctrlPr>
                            <a:rPr lang="en-US" sz="2400" i="1">
                              <a:latin typeface="Cambria Math"/>
                            </a:rPr>
                          </m:ctrlPr>
                        </m:funcPr>
                        <m:fName>
                          <m:r>
                            <m:rPr>
                              <m:sty m:val="p"/>
                            </m:rPr>
                            <a:rPr lang="en-US" sz="2400">
                              <a:latin typeface="Cambria Math"/>
                            </a:rPr>
                            <m:t>ln</m:t>
                          </m:r>
                        </m:fName>
                        <m:e>
                          <m:d>
                            <m:dPr>
                              <m:ctrlPr>
                                <a:rPr lang="en-US" sz="2400" i="1">
                                  <a:latin typeface="Cambria Math"/>
                                </a:rPr>
                              </m:ctrlPr>
                            </m:dPr>
                            <m:e>
                              <m:r>
                                <a:rPr lang="en-US" sz="2400" i="1">
                                  <a:latin typeface="Cambria Math"/>
                                </a:rPr>
                                <m:t>𝑠𝑡𝑜𝑐𝑘𝑝𝑟𝑖𝑐𝑒</m:t>
                              </m:r>
                            </m:e>
                          </m:d>
                        </m:e>
                      </m:func>
                      <m:r>
                        <a:rPr lang="en-IN" sz="2400" b="0" i="1" smtClean="0">
                          <a:latin typeface="Cambria Math"/>
                        </a:rPr>
                        <m:t> </m:t>
                      </m:r>
                      <m:r>
                        <a:rPr lang="en-US" sz="2400" i="1">
                          <a:latin typeface="Cambria Math"/>
                        </a:rPr>
                        <m:t>=</m:t>
                      </m:r>
                      <m:sSub>
                        <m:sSubPr>
                          <m:ctrlPr>
                            <a:rPr lang="en-US" sz="2400" i="1">
                              <a:latin typeface="Cambria Math"/>
                            </a:rPr>
                          </m:ctrlPr>
                        </m:sSubPr>
                        <m:e>
                          <m:r>
                            <a:rPr lang="en-US" sz="2400" i="1">
                              <a:latin typeface="Cambria Math"/>
                            </a:rPr>
                            <m:t>𝛽</m:t>
                          </m:r>
                        </m:e>
                        <m:sub>
                          <m:r>
                            <a:rPr lang="en-US" sz="2400" i="1">
                              <a:latin typeface="Cambria Math"/>
                            </a:rPr>
                            <m:t>0</m:t>
                          </m:r>
                        </m:sub>
                      </m:sSub>
                      <m:r>
                        <a:rPr lang="en-US" sz="2400" i="1">
                          <a:latin typeface="Cambria Math"/>
                        </a:rPr>
                        <m:t>+</m:t>
                      </m:r>
                      <m:sSub>
                        <m:sSubPr>
                          <m:ctrlPr>
                            <a:rPr lang="en-US" sz="2400" i="1">
                              <a:latin typeface="Cambria Math"/>
                            </a:rPr>
                          </m:ctrlPr>
                        </m:sSubPr>
                        <m:e>
                          <m:r>
                            <a:rPr lang="en-US" sz="2400" i="1">
                              <a:latin typeface="Cambria Math"/>
                            </a:rPr>
                            <m:t>𝛽</m:t>
                          </m:r>
                        </m:e>
                        <m:sub>
                          <m:r>
                            <a:rPr lang="en-US" sz="2400" i="1">
                              <a:latin typeface="Cambria Math"/>
                            </a:rPr>
                            <m:t>1</m:t>
                          </m:r>
                        </m:sub>
                      </m:sSub>
                      <m:func>
                        <m:funcPr>
                          <m:ctrlPr>
                            <a:rPr lang="en-US" sz="2400" i="1">
                              <a:latin typeface="Cambria Math"/>
                            </a:rPr>
                          </m:ctrlPr>
                        </m:funcPr>
                        <m:fName>
                          <m:r>
                            <m:rPr>
                              <m:sty m:val="p"/>
                            </m:rPr>
                            <a:rPr lang="en-US" sz="2400">
                              <a:latin typeface="Cambria Math"/>
                            </a:rPr>
                            <m:t>ln</m:t>
                          </m:r>
                        </m:fName>
                        <m:e>
                          <m:d>
                            <m:dPr>
                              <m:ctrlPr>
                                <a:rPr lang="en-US" sz="2400" i="1">
                                  <a:latin typeface="Cambria Math"/>
                                </a:rPr>
                              </m:ctrlPr>
                            </m:dPr>
                            <m:e>
                              <m:r>
                                <a:rPr lang="en-US" sz="2400" i="1">
                                  <a:latin typeface="Cambria Math"/>
                                </a:rPr>
                                <m:t>𝐶𝑟𝑢𝑑𝑒</m:t>
                              </m:r>
                            </m:e>
                          </m:d>
                        </m:e>
                      </m:func>
                      <m:sSub>
                        <m:sSubPr>
                          <m:ctrlPr>
                            <a:rPr lang="en-US" sz="2400" i="1">
                              <a:latin typeface="Cambria Math"/>
                            </a:rPr>
                          </m:ctrlPr>
                        </m:sSubPr>
                        <m:e>
                          <m:r>
                            <a:rPr lang="en-US" sz="2400" i="1">
                              <a:latin typeface="Cambria Math"/>
                            </a:rPr>
                            <m:t>+ </m:t>
                          </m:r>
                          <m:r>
                            <a:rPr lang="en-US" sz="2400" i="1">
                              <a:latin typeface="Cambria Math"/>
                            </a:rPr>
                            <m:t>𝛽</m:t>
                          </m:r>
                        </m:e>
                        <m:sub>
                          <m:r>
                            <a:rPr lang="en-US" sz="2400" i="1">
                              <a:latin typeface="Cambria Math"/>
                            </a:rPr>
                            <m:t>2</m:t>
                          </m:r>
                        </m:sub>
                      </m:sSub>
                      <m:d>
                        <m:dPr>
                          <m:ctrlPr>
                            <a:rPr lang="en-US" sz="2400" i="1">
                              <a:latin typeface="Cambria Math"/>
                            </a:rPr>
                          </m:ctrlPr>
                        </m:dPr>
                        <m:e>
                          <m:r>
                            <a:rPr lang="en-US" sz="2400" i="1">
                              <a:latin typeface="Cambria Math"/>
                            </a:rPr>
                            <m:t>𝑈𝑆</m:t>
                          </m:r>
                          <m:r>
                            <a:rPr lang="en-US" sz="2400" i="1">
                              <a:latin typeface="Cambria Math"/>
                            </a:rPr>
                            <m:t>10</m:t>
                          </m:r>
                          <m:r>
                            <a:rPr lang="en-US" sz="2400" i="1">
                              <a:latin typeface="Cambria Math"/>
                            </a:rPr>
                            <m:t>𝑇𝑟𝑒𝑎𝑠𝑢𝑟𝑦𝑌𝑖𝑒𝑙𝑑</m:t>
                          </m:r>
                        </m:e>
                      </m:d>
                      <m:r>
                        <a:rPr lang="en-US" sz="2400" i="1">
                          <a:latin typeface="Cambria Math"/>
                        </a:rPr>
                        <m:t>+ </m:t>
                      </m:r>
                      <m:sSub>
                        <m:sSubPr>
                          <m:ctrlPr>
                            <a:rPr lang="en-US" sz="2400" i="1">
                              <a:latin typeface="Cambria Math"/>
                            </a:rPr>
                          </m:ctrlPr>
                        </m:sSubPr>
                        <m:e>
                          <m:r>
                            <a:rPr lang="en-US" sz="2400" i="1">
                              <a:latin typeface="Cambria Math"/>
                            </a:rPr>
                            <m:t>𝛽</m:t>
                          </m:r>
                        </m:e>
                        <m:sub>
                          <m:r>
                            <a:rPr lang="en-US" sz="2400" i="1">
                              <a:latin typeface="Cambria Math"/>
                            </a:rPr>
                            <m:t>3</m:t>
                          </m:r>
                        </m:sub>
                      </m:sSub>
                      <m:d>
                        <m:dPr>
                          <m:ctrlPr>
                            <a:rPr lang="en-US" sz="2400" i="1">
                              <a:latin typeface="Cambria Math"/>
                            </a:rPr>
                          </m:ctrlPr>
                        </m:dPr>
                        <m:e>
                          <m:r>
                            <a:rPr lang="en-US" sz="2400" i="1">
                              <a:latin typeface="Cambria Math"/>
                            </a:rPr>
                            <m:t>𝐶𝑜𝑢𝑛𝑡𝑟𝑦𝐼𝑛𝑓𝑙𝑎𝑡𝑖𝑜𝑛</m:t>
                          </m:r>
                        </m:e>
                      </m:d>
                      <m:r>
                        <a:rPr lang="en-US" sz="2400" i="1">
                          <a:latin typeface="Cambria Math"/>
                        </a:rPr>
                        <m:t>+</m:t>
                      </m:r>
                      <m:sSub>
                        <m:sSubPr>
                          <m:ctrlPr>
                            <a:rPr lang="en-US" sz="2400" i="1">
                              <a:latin typeface="Cambria Math"/>
                            </a:rPr>
                          </m:ctrlPr>
                        </m:sSubPr>
                        <m:e>
                          <m:r>
                            <a:rPr lang="en-US" sz="2400" i="1">
                              <a:latin typeface="Cambria Math"/>
                            </a:rPr>
                            <m:t>𝛽</m:t>
                          </m:r>
                        </m:e>
                        <m:sub>
                          <m:r>
                            <a:rPr lang="en-US" sz="2400" i="1">
                              <a:latin typeface="Cambria Math"/>
                            </a:rPr>
                            <m:t>4</m:t>
                          </m:r>
                        </m:sub>
                      </m:sSub>
                      <m:d>
                        <m:dPr>
                          <m:ctrlPr>
                            <a:rPr lang="en-US" sz="2400" i="1">
                              <a:latin typeface="Cambria Math"/>
                            </a:rPr>
                          </m:ctrlPr>
                        </m:dPr>
                        <m:e>
                          <m:r>
                            <a:rPr lang="en-US" sz="2400" i="1">
                              <a:latin typeface="Cambria Math"/>
                            </a:rPr>
                            <m:t>𝐶𝑜𝑢𝑛𝑡𝑟𝑦𝐺𝐷𝑃𝑔𝑟𝑜𝑤𝑡h</m:t>
                          </m:r>
                        </m:e>
                      </m:d>
                      <m:r>
                        <a:rPr lang="en-US" sz="2400" i="1">
                          <a:latin typeface="Cambria Math"/>
                        </a:rPr>
                        <m:t>+</m:t>
                      </m:r>
                      <m:sSub>
                        <m:sSubPr>
                          <m:ctrlPr>
                            <a:rPr lang="en-US" sz="2400" i="1">
                              <a:latin typeface="Cambria Math"/>
                            </a:rPr>
                          </m:ctrlPr>
                        </m:sSubPr>
                        <m:e>
                          <m:r>
                            <a:rPr lang="en-US" sz="2400" i="1">
                              <a:latin typeface="Cambria Math"/>
                            </a:rPr>
                            <m:t>𝛽</m:t>
                          </m:r>
                        </m:e>
                        <m:sub>
                          <m:r>
                            <a:rPr lang="en-US" sz="2400" i="1">
                              <a:latin typeface="Cambria Math"/>
                            </a:rPr>
                            <m:t>5</m:t>
                          </m:r>
                        </m:sub>
                      </m:sSub>
                      <m:d>
                        <m:dPr>
                          <m:ctrlPr>
                            <a:rPr lang="en-US" sz="2400" i="1">
                              <a:latin typeface="Cambria Math"/>
                            </a:rPr>
                          </m:ctrlPr>
                        </m:dPr>
                        <m:e>
                          <m:r>
                            <a:rPr lang="en-US" sz="2400" i="1">
                              <a:latin typeface="Cambria Math"/>
                            </a:rPr>
                            <m:t>𝑊𝑜𝑟𝑙𝑑𝐺𝐷𝑃𝑔𝑟𝑜𝑤𝑡h</m:t>
                          </m:r>
                        </m:e>
                      </m:d>
                      <m:r>
                        <a:rPr lang="en-US" sz="2400" i="1">
                          <a:latin typeface="Cambria Math"/>
                        </a:rPr>
                        <m:t>+ </m:t>
                      </m:r>
                      <m:sSub>
                        <m:sSubPr>
                          <m:ctrlPr>
                            <a:rPr lang="en-US" sz="2400" i="1">
                              <a:latin typeface="Cambria Math"/>
                            </a:rPr>
                          </m:ctrlPr>
                        </m:sSubPr>
                        <m:e>
                          <m:r>
                            <a:rPr lang="en-US" sz="2400" i="1">
                              <a:latin typeface="Cambria Math"/>
                            </a:rPr>
                            <m:t>𝛽</m:t>
                          </m:r>
                        </m:e>
                        <m:sub>
                          <m:r>
                            <a:rPr lang="en-US" sz="2400" i="1">
                              <a:latin typeface="Cambria Math"/>
                            </a:rPr>
                            <m:t>6</m:t>
                          </m:r>
                        </m:sub>
                      </m:sSub>
                      <m:d>
                        <m:dPr>
                          <m:ctrlPr>
                            <a:rPr lang="en-US" sz="2400" i="1">
                              <a:latin typeface="Cambria Math"/>
                            </a:rPr>
                          </m:ctrlPr>
                        </m:dPr>
                        <m:e>
                          <m:r>
                            <a:rPr lang="en-US" sz="2400" i="1">
                              <a:latin typeface="Cambria Math"/>
                            </a:rPr>
                            <m:t>𝐶𝑜𝑢𝑛𝑡𝑟𝑦𝐷𝑢𝑚𝑚𝑦</m:t>
                          </m:r>
                        </m:e>
                      </m:d>
                      <m:r>
                        <a:rPr lang="en-US" sz="2400" i="1">
                          <a:latin typeface="Cambria Math"/>
                        </a:rPr>
                        <m:t>+ </m:t>
                      </m:r>
                      <m:sSub>
                        <m:sSubPr>
                          <m:ctrlPr>
                            <a:rPr lang="en-US" sz="2400" i="1">
                              <a:latin typeface="Cambria Math"/>
                            </a:rPr>
                          </m:ctrlPr>
                        </m:sSubPr>
                        <m:e>
                          <m:r>
                            <a:rPr lang="en-US" sz="2400" i="1">
                              <a:latin typeface="Cambria Math"/>
                            </a:rPr>
                            <m:t>𝛽</m:t>
                          </m:r>
                        </m:e>
                        <m:sub>
                          <m:r>
                            <a:rPr lang="en-US" sz="2400" i="1">
                              <a:latin typeface="Cambria Math"/>
                            </a:rPr>
                            <m:t>7</m:t>
                          </m:r>
                        </m:sub>
                      </m:sSub>
                      <m:d>
                        <m:dPr>
                          <m:ctrlPr>
                            <a:rPr lang="en-US" sz="2400" i="1">
                              <a:latin typeface="Cambria Math"/>
                            </a:rPr>
                          </m:ctrlPr>
                        </m:dPr>
                        <m:e>
                          <m:r>
                            <a:rPr lang="en-US" sz="2400" i="1">
                              <a:latin typeface="Cambria Math"/>
                            </a:rPr>
                            <m:t>𝐶𝑜𝑢𝑛𝑡𝑟𝑦𝐷𝑢𝑚𝑚𝑦</m:t>
                          </m:r>
                          <m:r>
                            <a:rPr lang="en-US" sz="2400" i="1">
                              <a:latin typeface="Cambria Math"/>
                            </a:rPr>
                            <m:t>∗</m:t>
                          </m:r>
                          <m:r>
                            <m:rPr>
                              <m:sty m:val="p"/>
                            </m:rPr>
                            <a:rPr lang="en-US" sz="2400">
                              <a:latin typeface="Cambria Math"/>
                            </a:rPr>
                            <m:t>ln</m:t>
                          </m:r>
                          <m:r>
                            <a:rPr lang="en-US" sz="2400" i="1">
                              <a:latin typeface="Cambria Math"/>
                            </a:rPr>
                            <m:t>(</m:t>
                          </m:r>
                          <m:r>
                            <a:rPr lang="en-US" sz="2400" i="1">
                              <a:latin typeface="Cambria Math"/>
                            </a:rPr>
                            <m:t>𝐶𝑟𝑢𝑑𝑒</m:t>
                          </m:r>
                          <m:r>
                            <a:rPr lang="en-US" sz="2400" i="1">
                              <a:latin typeface="Cambria Math"/>
                            </a:rPr>
                            <m:t>)</m:t>
                          </m:r>
                        </m:e>
                      </m:d>
                    </m:oMath>
                  </m:oMathPara>
                </a14:m>
                <a:endParaRPr lang="en-US" sz="2400" dirty="0" smtClean="0"/>
              </a:p>
              <a:p>
                <a:endParaRPr lang="en-IN" sz="2400" dirty="0"/>
              </a:p>
              <a:p>
                <a:pPr lvl="0"/>
                <a:r>
                  <a:rPr lang="en-IN" sz="2400" dirty="0">
                    <a:solidFill>
                      <a:prstClr val="black"/>
                    </a:solidFill>
                    <a:latin typeface="Tahoma" pitchFamily="34" charset="0"/>
                    <a:ea typeface="Tahoma" pitchFamily="34" charset="0"/>
                    <a:cs typeface="Tahoma" pitchFamily="34" charset="0"/>
                  </a:rPr>
                  <a:t>Part 2: Industry-Level Model</a:t>
                </a:r>
                <a:endParaRPr lang="en-IN" sz="3400" dirty="0">
                  <a:solidFill>
                    <a:prstClr val="black"/>
                  </a:solidFill>
                  <a:latin typeface="Tahoma" pitchFamily="34" charset="0"/>
                  <a:ea typeface="Tahoma" pitchFamily="34" charset="0"/>
                  <a:cs typeface="Tahoma" pitchFamily="34" charset="0"/>
                </a:endParaRPr>
              </a:p>
              <a:p>
                <a:pPr/>
                <a14:m>
                  <m:oMathPara xmlns:m="http://schemas.openxmlformats.org/officeDocument/2006/math">
                    <m:oMathParaPr>
                      <m:jc m:val="left"/>
                    </m:oMathParaPr>
                    <m:oMath xmlns:m="http://schemas.openxmlformats.org/officeDocument/2006/math">
                      <m:func>
                        <m:funcPr>
                          <m:ctrlPr>
                            <a:rPr lang="en-US" sz="2400" i="1">
                              <a:latin typeface="Cambria Math"/>
                            </a:rPr>
                          </m:ctrlPr>
                        </m:funcPr>
                        <m:fName>
                          <m:r>
                            <m:rPr>
                              <m:sty m:val="p"/>
                            </m:rPr>
                            <a:rPr lang="en-US" sz="2400">
                              <a:latin typeface="Cambria Math"/>
                            </a:rPr>
                            <m:t>ln</m:t>
                          </m:r>
                        </m:fName>
                        <m:e>
                          <m:d>
                            <m:dPr>
                              <m:ctrlPr>
                                <a:rPr lang="en-US" sz="2400" i="1">
                                  <a:latin typeface="Cambria Math"/>
                                </a:rPr>
                              </m:ctrlPr>
                            </m:dPr>
                            <m:e>
                              <m:r>
                                <a:rPr lang="en-US" sz="2400" i="1">
                                  <a:latin typeface="Cambria Math"/>
                                </a:rPr>
                                <m:t>𝑠𝑡𝑜𝑐𝑘𝑝𝑟𝑖𝑐𝑒</m:t>
                              </m:r>
                            </m:e>
                          </m:d>
                        </m:e>
                      </m:func>
                      <m:r>
                        <a:rPr lang="en-US" sz="2400" i="1">
                          <a:latin typeface="Cambria Math"/>
                        </a:rPr>
                        <m:t>=</m:t>
                      </m:r>
                      <m:sSub>
                        <m:sSubPr>
                          <m:ctrlPr>
                            <a:rPr lang="en-US" sz="2400" i="1">
                              <a:latin typeface="Cambria Math"/>
                            </a:rPr>
                          </m:ctrlPr>
                        </m:sSubPr>
                        <m:e>
                          <m:r>
                            <a:rPr lang="en-US" sz="2400" i="1">
                              <a:latin typeface="Cambria Math"/>
                            </a:rPr>
                            <m:t>𝛽</m:t>
                          </m:r>
                        </m:e>
                        <m:sub>
                          <m:r>
                            <a:rPr lang="en-US" sz="2400" i="1">
                              <a:latin typeface="Cambria Math"/>
                            </a:rPr>
                            <m:t>0</m:t>
                          </m:r>
                        </m:sub>
                      </m:sSub>
                      <m:r>
                        <a:rPr lang="en-US" sz="2400" i="1">
                          <a:latin typeface="Cambria Math"/>
                        </a:rPr>
                        <m:t>+</m:t>
                      </m:r>
                      <m:sSub>
                        <m:sSubPr>
                          <m:ctrlPr>
                            <a:rPr lang="en-US" sz="2400" i="1">
                              <a:latin typeface="Cambria Math"/>
                            </a:rPr>
                          </m:ctrlPr>
                        </m:sSubPr>
                        <m:e>
                          <m:r>
                            <a:rPr lang="en-US" sz="2400" i="1">
                              <a:latin typeface="Cambria Math"/>
                            </a:rPr>
                            <m:t>𝛽</m:t>
                          </m:r>
                        </m:e>
                        <m:sub>
                          <m:r>
                            <a:rPr lang="en-US" sz="2400" i="1">
                              <a:latin typeface="Cambria Math"/>
                            </a:rPr>
                            <m:t>1</m:t>
                          </m:r>
                        </m:sub>
                      </m:sSub>
                      <m:func>
                        <m:funcPr>
                          <m:ctrlPr>
                            <a:rPr lang="en-US" sz="2400" i="1">
                              <a:latin typeface="Cambria Math"/>
                            </a:rPr>
                          </m:ctrlPr>
                        </m:funcPr>
                        <m:fName>
                          <m:r>
                            <m:rPr>
                              <m:sty m:val="p"/>
                            </m:rPr>
                            <a:rPr lang="en-US" sz="2400">
                              <a:latin typeface="Cambria Math"/>
                            </a:rPr>
                            <m:t>ln</m:t>
                          </m:r>
                        </m:fName>
                        <m:e>
                          <m:d>
                            <m:dPr>
                              <m:ctrlPr>
                                <a:rPr lang="en-US" sz="2400" i="1">
                                  <a:latin typeface="Cambria Math"/>
                                </a:rPr>
                              </m:ctrlPr>
                            </m:dPr>
                            <m:e>
                              <m:r>
                                <a:rPr lang="en-US" sz="2400" i="1">
                                  <a:latin typeface="Cambria Math"/>
                                </a:rPr>
                                <m:t>𝐶𝑟𝑢𝑑𝑒</m:t>
                              </m:r>
                            </m:e>
                          </m:d>
                        </m:e>
                      </m:func>
                      <m:sSub>
                        <m:sSubPr>
                          <m:ctrlPr>
                            <a:rPr lang="en-US" sz="2400" i="1">
                              <a:latin typeface="Cambria Math"/>
                            </a:rPr>
                          </m:ctrlPr>
                        </m:sSubPr>
                        <m:e>
                          <m:r>
                            <a:rPr lang="en-US" sz="2400" i="1">
                              <a:latin typeface="Cambria Math"/>
                            </a:rPr>
                            <m:t>+ </m:t>
                          </m:r>
                          <m:r>
                            <a:rPr lang="en-US" sz="2400" i="1">
                              <a:latin typeface="Cambria Math"/>
                            </a:rPr>
                            <m:t>𝛽</m:t>
                          </m:r>
                        </m:e>
                        <m:sub>
                          <m:r>
                            <a:rPr lang="en-US" sz="2400" i="1">
                              <a:latin typeface="Cambria Math"/>
                            </a:rPr>
                            <m:t>2</m:t>
                          </m:r>
                        </m:sub>
                      </m:sSub>
                      <m:d>
                        <m:dPr>
                          <m:ctrlPr>
                            <a:rPr lang="en-US" sz="2400" i="1">
                              <a:latin typeface="Cambria Math"/>
                            </a:rPr>
                          </m:ctrlPr>
                        </m:dPr>
                        <m:e>
                          <m:r>
                            <a:rPr lang="en-US" sz="2400" i="1">
                              <a:latin typeface="Cambria Math"/>
                            </a:rPr>
                            <m:t>𝑈𝑆</m:t>
                          </m:r>
                          <m:r>
                            <a:rPr lang="en-US" sz="2400" i="1">
                              <a:latin typeface="Cambria Math"/>
                            </a:rPr>
                            <m:t>10</m:t>
                          </m:r>
                          <m:r>
                            <a:rPr lang="en-US" sz="2400" i="1">
                              <a:latin typeface="Cambria Math"/>
                            </a:rPr>
                            <m:t>𝑇𝑟𝑒𝑎𝑠𝑢𝑟𝑦𝑌𝑖𝑒𝑙𝑑</m:t>
                          </m:r>
                        </m:e>
                      </m:d>
                      <m:r>
                        <a:rPr lang="en-US" sz="2400" i="1">
                          <a:latin typeface="Cambria Math"/>
                        </a:rPr>
                        <m:t>+ </m:t>
                      </m:r>
                      <m:sSub>
                        <m:sSubPr>
                          <m:ctrlPr>
                            <a:rPr lang="en-US" sz="2400" i="1">
                              <a:latin typeface="Cambria Math"/>
                            </a:rPr>
                          </m:ctrlPr>
                        </m:sSubPr>
                        <m:e>
                          <m:r>
                            <a:rPr lang="en-US" sz="2400" i="1">
                              <a:latin typeface="Cambria Math"/>
                            </a:rPr>
                            <m:t>𝛽</m:t>
                          </m:r>
                        </m:e>
                        <m:sub>
                          <m:r>
                            <a:rPr lang="en-US" sz="2400" i="1">
                              <a:latin typeface="Cambria Math"/>
                            </a:rPr>
                            <m:t>3</m:t>
                          </m:r>
                        </m:sub>
                      </m:sSub>
                      <m:d>
                        <m:dPr>
                          <m:ctrlPr>
                            <a:rPr lang="en-US" sz="2400" i="1">
                              <a:latin typeface="Cambria Math"/>
                            </a:rPr>
                          </m:ctrlPr>
                        </m:dPr>
                        <m:e>
                          <m:r>
                            <a:rPr lang="en-US" sz="2400" i="1">
                              <a:latin typeface="Cambria Math"/>
                            </a:rPr>
                            <m:t>𝐶𝑜𝑢𝑛𝑡𝑟𝑦𝐼𝑛𝑓𝑙𝑎𝑡𝑖𝑜𝑛</m:t>
                          </m:r>
                        </m:e>
                      </m:d>
                      <m:r>
                        <a:rPr lang="en-US" sz="2400" i="1">
                          <a:latin typeface="Cambria Math"/>
                        </a:rPr>
                        <m:t>+</m:t>
                      </m:r>
                      <m:sSub>
                        <m:sSubPr>
                          <m:ctrlPr>
                            <a:rPr lang="en-US" sz="2400" i="1">
                              <a:latin typeface="Cambria Math"/>
                            </a:rPr>
                          </m:ctrlPr>
                        </m:sSubPr>
                        <m:e>
                          <m:r>
                            <a:rPr lang="en-US" sz="2400" i="1">
                              <a:latin typeface="Cambria Math"/>
                            </a:rPr>
                            <m:t>𝛽</m:t>
                          </m:r>
                        </m:e>
                        <m:sub>
                          <m:r>
                            <a:rPr lang="en-US" sz="2400" i="1">
                              <a:latin typeface="Cambria Math"/>
                            </a:rPr>
                            <m:t>4</m:t>
                          </m:r>
                        </m:sub>
                      </m:sSub>
                      <m:d>
                        <m:dPr>
                          <m:ctrlPr>
                            <a:rPr lang="en-US" sz="2400" i="1">
                              <a:latin typeface="Cambria Math"/>
                            </a:rPr>
                          </m:ctrlPr>
                        </m:dPr>
                        <m:e>
                          <m:r>
                            <a:rPr lang="en-US" sz="2400" i="1">
                              <a:latin typeface="Cambria Math"/>
                            </a:rPr>
                            <m:t>𝐶𝑜𝑢𝑛𝑡𝑟𝑦𝐺𝐷𝑃𝑔𝑟𝑜𝑤𝑡h</m:t>
                          </m:r>
                        </m:e>
                      </m:d>
                      <m:r>
                        <a:rPr lang="en-US" sz="2400" i="1">
                          <a:latin typeface="Cambria Math"/>
                        </a:rPr>
                        <m:t>+</m:t>
                      </m:r>
                      <m:sSub>
                        <m:sSubPr>
                          <m:ctrlPr>
                            <a:rPr lang="en-US" sz="2400" i="1">
                              <a:latin typeface="Cambria Math"/>
                            </a:rPr>
                          </m:ctrlPr>
                        </m:sSubPr>
                        <m:e>
                          <m:r>
                            <a:rPr lang="en-US" sz="2400" i="1">
                              <a:latin typeface="Cambria Math"/>
                            </a:rPr>
                            <m:t>𝛽</m:t>
                          </m:r>
                        </m:e>
                        <m:sub>
                          <m:r>
                            <a:rPr lang="en-US" sz="2400" i="1">
                              <a:latin typeface="Cambria Math"/>
                            </a:rPr>
                            <m:t>5</m:t>
                          </m:r>
                        </m:sub>
                      </m:sSub>
                      <m:d>
                        <m:dPr>
                          <m:ctrlPr>
                            <a:rPr lang="en-US" sz="2400" i="1">
                              <a:latin typeface="Cambria Math"/>
                            </a:rPr>
                          </m:ctrlPr>
                        </m:dPr>
                        <m:e>
                          <m:r>
                            <a:rPr lang="en-US" sz="2400" i="1">
                              <a:latin typeface="Cambria Math"/>
                            </a:rPr>
                            <m:t>𝑊𝑜𝑟𝑙𝑑𝐺𝐷𝑃𝑔𝑟𝑜𝑤𝑡h</m:t>
                          </m:r>
                        </m:e>
                      </m:d>
                      <m:r>
                        <a:rPr lang="en-US" sz="2400" i="1">
                          <a:latin typeface="Cambria Math"/>
                        </a:rPr>
                        <m:t>+ </m:t>
                      </m:r>
                      <m:sSub>
                        <m:sSubPr>
                          <m:ctrlPr>
                            <a:rPr lang="en-US" sz="2400" i="1">
                              <a:latin typeface="Cambria Math"/>
                            </a:rPr>
                          </m:ctrlPr>
                        </m:sSubPr>
                        <m:e>
                          <m:r>
                            <a:rPr lang="en-US" sz="2400" i="1">
                              <a:latin typeface="Cambria Math"/>
                            </a:rPr>
                            <m:t>𝛽</m:t>
                          </m:r>
                        </m:e>
                        <m:sub>
                          <m:r>
                            <a:rPr lang="en-US" sz="2400" i="1">
                              <a:latin typeface="Cambria Math"/>
                            </a:rPr>
                            <m:t>6</m:t>
                          </m:r>
                        </m:sub>
                      </m:sSub>
                      <m:d>
                        <m:dPr>
                          <m:ctrlPr>
                            <a:rPr lang="en-US" sz="2400" i="1">
                              <a:latin typeface="Cambria Math"/>
                            </a:rPr>
                          </m:ctrlPr>
                        </m:dPr>
                        <m:e>
                          <m:r>
                            <a:rPr lang="en-IN" sz="2400" i="1">
                              <a:latin typeface="Cambria Math"/>
                            </a:rPr>
                            <m:t>𝐼𝑛𝑑𝑢𝑠𝑡𝑟𝑦</m:t>
                          </m:r>
                          <m:r>
                            <a:rPr lang="en-US" sz="2400" i="1">
                              <a:latin typeface="Cambria Math"/>
                            </a:rPr>
                            <m:t>𝐷𝑢𝑚𝑚𝑦</m:t>
                          </m:r>
                        </m:e>
                      </m:d>
                      <m:r>
                        <a:rPr lang="en-US" sz="2400" i="1">
                          <a:latin typeface="Cambria Math"/>
                        </a:rPr>
                        <m:t>+ </m:t>
                      </m:r>
                      <m:sSub>
                        <m:sSubPr>
                          <m:ctrlPr>
                            <a:rPr lang="en-US" sz="2400" i="1">
                              <a:latin typeface="Cambria Math"/>
                            </a:rPr>
                          </m:ctrlPr>
                        </m:sSubPr>
                        <m:e>
                          <m:r>
                            <a:rPr lang="en-US" sz="2400" i="1">
                              <a:latin typeface="Cambria Math"/>
                            </a:rPr>
                            <m:t>𝛽</m:t>
                          </m:r>
                        </m:e>
                        <m:sub>
                          <m:r>
                            <a:rPr lang="en-US" sz="2400" i="1">
                              <a:latin typeface="Cambria Math"/>
                            </a:rPr>
                            <m:t>7</m:t>
                          </m:r>
                        </m:sub>
                      </m:sSub>
                      <m:d>
                        <m:dPr>
                          <m:ctrlPr>
                            <a:rPr lang="en-US" sz="2400" i="1">
                              <a:latin typeface="Cambria Math"/>
                            </a:rPr>
                          </m:ctrlPr>
                        </m:dPr>
                        <m:e>
                          <m:r>
                            <a:rPr lang="en-IN" sz="2400" i="1">
                              <a:latin typeface="Cambria Math"/>
                            </a:rPr>
                            <m:t>𝐼𝑛𝑑𝑢𝑠𝑡𝑟𝑦</m:t>
                          </m:r>
                          <m:r>
                            <a:rPr lang="en-US" sz="2400" i="1">
                              <a:latin typeface="Cambria Math"/>
                            </a:rPr>
                            <m:t>𝐷𝑢𝑚𝑚𝑦</m:t>
                          </m:r>
                          <m:r>
                            <a:rPr lang="en-US" sz="2400" i="1">
                              <a:latin typeface="Cambria Math"/>
                            </a:rPr>
                            <m:t>∗</m:t>
                          </m:r>
                          <m:r>
                            <m:rPr>
                              <m:sty m:val="p"/>
                            </m:rPr>
                            <a:rPr lang="en-US" sz="2400">
                              <a:latin typeface="Cambria Math"/>
                            </a:rPr>
                            <m:t>ln</m:t>
                          </m:r>
                          <m:r>
                            <a:rPr lang="en-US" sz="2400" i="1">
                              <a:latin typeface="Cambria Math"/>
                            </a:rPr>
                            <m:t>(</m:t>
                          </m:r>
                          <m:r>
                            <a:rPr lang="en-US" sz="2400" i="1">
                              <a:latin typeface="Cambria Math"/>
                            </a:rPr>
                            <m:t>𝐶𝑟𝑢𝑑𝑒</m:t>
                          </m:r>
                          <m:r>
                            <a:rPr lang="en-US" sz="2400" i="1">
                              <a:latin typeface="Cambria Math"/>
                            </a:rPr>
                            <m:t>)</m:t>
                          </m:r>
                        </m:e>
                      </m:d>
                    </m:oMath>
                  </m:oMathPara>
                </a14:m>
                <a:endParaRPr lang="en-US" sz="2400" dirty="0"/>
              </a:p>
            </p:txBody>
          </p:sp>
        </mc:Choice>
        <mc:Fallback>
          <p:sp>
            <p:nvSpPr>
              <p:cNvPr id="9" name="Rectangle 8"/>
              <p:cNvSpPr>
                <a:spLocks noRot="1" noChangeAspect="1" noMove="1" noResize="1" noEditPoints="1" noAdjustHandles="1" noChangeArrowheads="1" noChangeShapeType="1" noTextEdit="1"/>
              </p:cNvSpPr>
              <p:nvPr/>
            </p:nvSpPr>
            <p:spPr>
              <a:xfrm>
                <a:off x="11306175" y="9408358"/>
                <a:ext cx="9448800" cy="8104188"/>
              </a:xfrm>
              <a:prstGeom prst="rect">
                <a:avLst/>
              </a:prstGeom>
              <a:blipFill rotWithShape="1">
                <a:blip r:embed="rId3"/>
                <a:stretch>
                  <a:fillRect l="-1032"/>
                </a:stretch>
              </a:blipFill>
              <a:ln>
                <a:noFill/>
              </a:ln>
            </p:spPr>
            <p:txBody>
              <a:bodyPr/>
              <a:lstStyle/>
              <a:p>
                <a:r>
                  <a:rPr lang="en-US">
                    <a:noFill/>
                  </a:rPr>
                  <a:t> </a:t>
                </a:r>
              </a:p>
            </p:txBody>
          </p:sp>
        </mc:Fallback>
      </mc:AlternateContent>
      <p:pic>
        <p:nvPicPr>
          <p:cNvPr id="1028" name="Picture 4"/>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29184600" y="32084"/>
            <a:ext cx="2893302" cy="4050632"/>
          </a:xfrm>
          <a:prstGeom prst="rect">
            <a:avLst/>
          </a:prstGeom>
          <a:noFill/>
        </p:spPr>
      </p:pic>
      <p:sp>
        <p:nvSpPr>
          <p:cNvPr id="13" name="TextBox 12"/>
          <p:cNvSpPr txBox="1"/>
          <p:nvPr/>
        </p:nvSpPr>
        <p:spPr>
          <a:xfrm>
            <a:off x="733424" y="14926647"/>
            <a:ext cx="9477375" cy="6555641"/>
          </a:xfrm>
          <a:prstGeom prst="rect">
            <a:avLst/>
          </a:prstGeom>
          <a:noFill/>
        </p:spPr>
        <p:txBody>
          <a:bodyPr wrap="square" rtlCol="0">
            <a:spAutoFit/>
          </a:bodyPr>
          <a:lstStyle/>
          <a:p>
            <a:pPr lvl="0" algn="ctr">
              <a:lnSpc>
                <a:spcPct val="150000"/>
              </a:lnSpc>
            </a:pPr>
            <a:r>
              <a:rPr lang="en-IN" sz="3400" dirty="0" smtClean="0">
                <a:solidFill>
                  <a:prstClr val="black"/>
                </a:solidFill>
                <a:latin typeface="Tahoma" pitchFamily="34" charset="0"/>
                <a:ea typeface="Tahoma" pitchFamily="34" charset="0"/>
                <a:cs typeface="Tahoma" pitchFamily="34" charset="0"/>
              </a:rPr>
              <a:t>Theory </a:t>
            </a:r>
            <a:endParaRPr lang="en-IN" sz="3400" dirty="0">
              <a:solidFill>
                <a:prstClr val="black"/>
              </a:solidFill>
              <a:latin typeface="Tahoma" pitchFamily="34" charset="0"/>
              <a:ea typeface="Tahoma" pitchFamily="34" charset="0"/>
              <a:cs typeface="Tahoma" pitchFamily="34" charset="0"/>
            </a:endParaRPr>
          </a:p>
          <a:p>
            <a:pPr lvl="0" algn="just"/>
            <a:endParaRPr lang="en-US" sz="900" dirty="0">
              <a:solidFill>
                <a:prstClr val="black"/>
              </a:solidFill>
              <a:latin typeface="Tahoma" pitchFamily="34" charset="0"/>
              <a:ea typeface="Tahoma" pitchFamily="34" charset="0"/>
              <a:cs typeface="Tahoma" pitchFamily="34" charset="0"/>
            </a:endParaRPr>
          </a:p>
          <a:p>
            <a:pPr lvl="0" algn="just"/>
            <a:r>
              <a:rPr lang="en-US" sz="2400" dirty="0" smtClean="0">
                <a:solidFill>
                  <a:prstClr val="black"/>
                </a:solidFill>
                <a:latin typeface="Tahoma" pitchFamily="34" charset="0"/>
                <a:ea typeface="Tahoma" pitchFamily="34" charset="0"/>
                <a:cs typeface="Tahoma" pitchFamily="34" charset="0"/>
              </a:rPr>
              <a:t>Using the Rational Valuation Formula, </a:t>
            </a:r>
            <a:r>
              <a:rPr lang="en-IN" sz="2400" dirty="0" smtClean="0">
                <a:solidFill>
                  <a:prstClr val="black"/>
                </a:solidFill>
                <a:latin typeface="Tahoma" pitchFamily="34" charset="0"/>
                <a:ea typeface="Tahoma" pitchFamily="34" charset="0"/>
                <a:cs typeface="Tahoma" pitchFamily="34" charset="0"/>
              </a:rPr>
              <a:t>asset price </a:t>
            </a:r>
            <a:r>
              <a:rPr lang="en-IN" sz="2400" dirty="0">
                <a:solidFill>
                  <a:prstClr val="black"/>
                </a:solidFill>
                <a:latin typeface="Tahoma" pitchFamily="34" charset="0"/>
                <a:ea typeface="Tahoma" pitchFamily="34" charset="0"/>
                <a:cs typeface="Tahoma" pitchFamily="34" charset="0"/>
              </a:rPr>
              <a:t>is determined by the sum of the future value of free cash flows and dividends discounted at the appropriate risk adjusted rate. This is also the method used by Wall Street analysts to price stocks in their portfolios and to make calls on whether to buy or sell a stock. It is a fundamental analysis using financial accounting to calculate the future growth and earnings of the company</a:t>
            </a:r>
            <a:r>
              <a:rPr lang="en-IN" sz="2400" dirty="0" smtClean="0">
                <a:solidFill>
                  <a:prstClr val="black"/>
                </a:solidFill>
                <a:latin typeface="Tahoma" pitchFamily="34" charset="0"/>
                <a:ea typeface="Tahoma" pitchFamily="34" charset="0"/>
                <a:cs typeface="Tahoma" pitchFamily="34" charset="0"/>
              </a:rPr>
              <a:t>.</a:t>
            </a:r>
          </a:p>
          <a:p>
            <a:pPr lvl="0" algn="just"/>
            <a:r>
              <a:rPr lang="en-IN" sz="2400" dirty="0" smtClean="0">
                <a:solidFill>
                  <a:prstClr val="black"/>
                </a:solidFill>
                <a:latin typeface="Tahoma" pitchFamily="34" charset="0"/>
                <a:ea typeface="Tahoma" pitchFamily="34" charset="0"/>
                <a:cs typeface="Tahoma" pitchFamily="34" charset="0"/>
              </a:rPr>
              <a:t>At a micro level</a:t>
            </a:r>
            <a:r>
              <a:rPr lang="en-IN" sz="2400" dirty="0">
                <a:solidFill>
                  <a:prstClr val="black"/>
                </a:solidFill>
                <a:latin typeface="Tahoma" pitchFamily="34" charset="0"/>
                <a:ea typeface="Tahoma" pitchFamily="34" charset="0"/>
                <a:cs typeface="Tahoma" pitchFamily="34" charset="0"/>
              </a:rPr>
              <a:t>, in the short-run, the level of output is held constant as the firm must </a:t>
            </a:r>
            <a:r>
              <a:rPr lang="en-IN" sz="2400" dirty="0" err="1">
                <a:solidFill>
                  <a:prstClr val="black"/>
                </a:solidFill>
                <a:latin typeface="Tahoma" pitchFamily="34" charset="0"/>
                <a:ea typeface="Tahoma" pitchFamily="34" charset="0"/>
                <a:cs typeface="Tahoma" pitchFamily="34" charset="0"/>
              </a:rPr>
              <a:t>honor</a:t>
            </a:r>
            <a:r>
              <a:rPr lang="en-IN" sz="2400" dirty="0">
                <a:solidFill>
                  <a:prstClr val="black"/>
                </a:solidFill>
                <a:latin typeface="Tahoma" pitchFamily="34" charset="0"/>
                <a:ea typeface="Tahoma" pitchFamily="34" charset="0"/>
                <a:cs typeface="Tahoma" pitchFamily="34" charset="0"/>
              </a:rPr>
              <a:t> its contracts, and cannot change the other factors as easily when there is an impact on one. </a:t>
            </a:r>
            <a:r>
              <a:rPr lang="en-IN" sz="2400" dirty="0" smtClean="0">
                <a:solidFill>
                  <a:prstClr val="black"/>
                </a:solidFill>
                <a:latin typeface="Tahoma" pitchFamily="34" charset="0"/>
                <a:ea typeface="Tahoma" pitchFamily="34" charset="0"/>
                <a:cs typeface="Tahoma" pitchFamily="34" charset="0"/>
              </a:rPr>
              <a:t>Thus</a:t>
            </a:r>
            <a:r>
              <a:rPr lang="en-IN" sz="2400" dirty="0">
                <a:solidFill>
                  <a:prstClr val="black"/>
                </a:solidFill>
                <a:latin typeface="Tahoma" pitchFamily="34" charset="0"/>
                <a:ea typeface="Tahoma" pitchFamily="34" charset="0"/>
                <a:cs typeface="Tahoma" pitchFamily="34" charset="0"/>
              </a:rPr>
              <a:t>, if oil prices go up, the firm must continue their usage of energy as an input at the same level to meet their output </a:t>
            </a:r>
            <a:r>
              <a:rPr lang="en-IN" sz="2400" dirty="0" smtClean="0">
                <a:solidFill>
                  <a:prstClr val="black"/>
                </a:solidFill>
                <a:latin typeface="Tahoma" pitchFamily="34" charset="0"/>
                <a:ea typeface="Tahoma" pitchFamily="34" charset="0"/>
                <a:cs typeface="Tahoma" pitchFamily="34" charset="0"/>
              </a:rPr>
              <a:t>goals, and vice versa. At the </a:t>
            </a:r>
            <a:r>
              <a:rPr lang="en-IN" sz="2400" dirty="0">
                <a:solidFill>
                  <a:prstClr val="black"/>
                </a:solidFill>
                <a:latin typeface="Tahoma" pitchFamily="34" charset="0"/>
                <a:ea typeface="Tahoma" pitchFamily="34" charset="0"/>
                <a:cs typeface="Tahoma" pitchFamily="34" charset="0"/>
              </a:rPr>
              <a:t>same time, in the short-run, it is difficult for firms to push a cost increase onto its consumers. As a result, the cost increase impacts their profit margins and cash flow.  </a:t>
            </a:r>
            <a:endParaRPr lang="en-US" sz="800" dirty="0">
              <a:solidFill>
                <a:prstClr val="black"/>
              </a:solidFill>
              <a:latin typeface="Tahoma" pitchFamily="34" charset="0"/>
              <a:ea typeface="Tahoma" pitchFamily="34" charset="0"/>
              <a:cs typeface="Tahoma" pitchFamily="34" charset="0"/>
            </a:endParaRPr>
          </a:p>
        </p:txBody>
      </p:sp>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112" y="9408358"/>
            <a:ext cx="8886825" cy="5497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1066800" y="13460452"/>
            <a:ext cx="1847578" cy="276999"/>
          </a:xfrm>
          <a:prstGeom prst="rect">
            <a:avLst/>
          </a:prstGeom>
          <a:noFill/>
        </p:spPr>
        <p:txBody>
          <a:bodyPr wrap="square" rtlCol="0">
            <a:spAutoFit/>
          </a:bodyPr>
          <a:lstStyle/>
          <a:p>
            <a:r>
              <a:rPr lang="en-IN" sz="1200" dirty="0" smtClean="0"/>
              <a:t>*Indexed to </a:t>
            </a:r>
            <a:r>
              <a:rPr lang="en-IN" sz="1200" dirty="0"/>
              <a:t> </a:t>
            </a:r>
            <a:r>
              <a:rPr lang="en-IN" sz="1200" dirty="0" smtClean="0"/>
              <a:t>January 2005</a:t>
            </a:r>
            <a:endParaRPr lang="en-US" sz="1200" dirty="0"/>
          </a:p>
        </p:txBody>
      </p:sp>
      <p:pic>
        <p:nvPicPr>
          <p:cNvPr id="102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303125" y="4324340"/>
            <a:ext cx="7626350" cy="4956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TextBox 13"/>
          <p:cNvSpPr txBox="1"/>
          <p:nvPr/>
        </p:nvSpPr>
        <p:spPr>
          <a:xfrm>
            <a:off x="11420475" y="17667208"/>
            <a:ext cx="9334500" cy="3600986"/>
          </a:xfrm>
          <a:prstGeom prst="rect">
            <a:avLst/>
          </a:prstGeom>
          <a:noFill/>
        </p:spPr>
        <p:txBody>
          <a:bodyPr wrap="square" rtlCol="0">
            <a:spAutoFit/>
          </a:bodyPr>
          <a:lstStyle/>
          <a:p>
            <a:pPr lvl="0" algn="ctr">
              <a:lnSpc>
                <a:spcPct val="150000"/>
              </a:lnSpc>
            </a:pPr>
            <a:r>
              <a:rPr lang="en-IN" sz="3400" dirty="0" smtClean="0">
                <a:solidFill>
                  <a:prstClr val="black"/>
                </a:solidFill>
                <a:latin typeface="Tahoma" pitchFamily="34" charset="0"/>
                <a:ea typeface="Tahoma" pitchFamily="34" charset="0"/>
                <a:cs typeface="Tahoma" pitchFamily="34" charset="0"/>
              </a:rPr>
              <a:t>Data</a:t>
            </a:r>
            <a:endParaRPr lang="en-IN" sz="3400" dirty="0">
              <a:solidFill>
                <a:prstClr val="black"/>
              </a:solidFill>
              <a:latin typeface="Tahoma" pitchFamily="34" charset="0"/>
              <a:ea typeface="Tahoma" pitchFamily="34" charset="0"/>
              <a:cs typeface="Tahoma" pitchFamily="34" charset="0"/>
            </a:endParaRPr>
          </a:p>
          <a:p>
            <a:pPr lvl="0" algn="just"/>
            <a:endParaRPr lang="en-US" sz="900" dirty="0">
              <a:solidFill>
                <a:prstClr val="black"/>
              </a:solidFill>
              <a:latin typeface="Tahoma" pitchFamily="34" charset="0"/>
              <a:ea typeface="Tahoma" pitchFamily="34" charset="0"/>
              <a:cs typeface="Tahoma" pitchFamily="34" charset="0"/>
            </a:endParaRPr>
          </a:p>
          <a:p>
            <a:pPr lvl="0" algn="just"/>
            <a:r>
              <a:rPr lang="en-IN" sz="2400" dirty="0" smtClean="0">
                <a:solidFill>
                  <a:prstClr val="black"/>
                </a:solidFill>
                <a:latin typeface="Tahoma" pitchFamily="34" charset="0"/>
                <a:ea typeface="Tahoma" pitchFamily="34" charset="0"/>
                <a:cs typeface="Tahoma" pitchFamily="34" charset="0"/>
              </a:rPr>
              <a:t>Company, price and industry data was gotten from the Bloomberg terminals by Bloomberg L.P. Country level data for GDP and inflation along with World GDP annual growth rates were obtained from the World Data Bank by the World Bank. WTI and Brent Crude monthly closing prices were sourced from the Energy Information Administration. US 10-year treasury monthly rates were obtained from the Federal Reserve of St. Louis. </a:t>
            </a:r>
            <a:endParaRPr lang="en-US" sz="800" dirty="0">
              <a:solidFill>
                <a:prstClr val="black"/>
              </a:solidFill>
              <a:latin typeface="Tahoma" pitchFamily="34" charset="0"/>
              <a:ea typeface="Tahoma" pitchFamily="34" charset="0"/>
              <a:cs typeface="Tahoma" pitchFamily="34" charset="0"/>
            </a:endParaRPr>
          </a:p>
        </p:txBody>
      </p:sp>
      <p:sp>
        <p:nvSpPr>
          <p:cNvPr id="3" name="TextBox 2"/>
          <p:cNvSpPr txBox="1"/>
          <p:nvPr/>
        </p:nvSpPr>
        <p:spPr>
          <a:xfrm>
            <a:off x="21903970" y="17313265"/>
            <a:ext cx="10134600" cy="3954929"/>
          </a:xfrm>
          <a:prstGeom prst="rect">
            <a:avLst/>
          </a:prstGeom>
          <a:noFill/>
        </p:spPr>
        <p:txBody>
          <a:bodyPr wrap="square" rtlCol="0">
            <a:spAutoFit/>
          </a:bodyPr>
          <a:lstStyle/>
          <a:p>
            <a:pPr lvl="0" algn="ctr">
              <a:lnSpc>
                <a:spcPct val="150000"/>
              </a:lnSpc>
            </a:pPr>
            <a:r>
              <a:rPr lang="en-IN" sz="3400" dirty="0" smtClean="0">
                <a:solidFill>
                  <a:prstClr val="black"/>
                </a:solidFill>
                <a:latin typeface="Tahoma" pitchFamily="34" charset="0"/>
                <a:ea typeface="Tahoma" pitchFamily="34" charset="0"/>
                <a:cs typeface="Tahoma" pitchFamily="34" charset="0"/>
              </a:rPr>
              <a:t>Conclusion </a:t>
            </a:r>
            <a:endParaRPr lang="en-US" sz="3400" dirty="0">
              <a:solidFill>
                <a:prstClr val="black"/>
              </a:solidFill>
              <a:latin typeface="Tahoma" pitchFamily="34" charset="0"/>
              <a:ea typeface="Tahoma" pitchFamily="34" charset="0"/>
              <a:cs typeface="Tahoma" pitchFamily="34" charset="0"/>
            </a:endParaRPr>
          </a:p>
          <a:p>
            <a:pPr lvl="0" algn="just"/>
            <a:endParaRPr lang="en-US" sz="800" dirty="0">
              <a:solidFill>
                <a:prstClr val="black"/>
              </a:solidFill>
              <a:latin typeface="Tahoma" pitchFamily="34" charset="0"/>
              <a:ea typeface="Tahoma" pitchFamily="34" charset="0"/>
              <a:cs typeface="Tahoma" pitchFamily="34" charset="0"/>
            </a:endParaRPr>
          </a:p>
          <a:p>
            <a:pPr lvl="0" algn="just"/>
            <a:r>
              <a:rPr lang="en-US" sz="2400" dirty="0" smtClean="0">
                <a:solidFill>
                  <a:prstClr val="black"/>
                </a:solidFill>
                <a:latin typeface="Tahoma" pitchFamily="34" charset="0"/>
                <a:ea typeface="Tahoma" pitchFamily="34" charset="0"/>
                <a:cs typeface="Tahoma" pitchFamily="34" charset="0"/>
              </a:rPr>
              <a:t>Though the results are inconclusive on the industry level as industries in different countries have signs when interacted with oil, Crude itself plays a large role in the stock market. Developing countries are impacted by oil price more than developed ones (Japan, and Germany) and large oil importers/exporters also share a strong relationship between oil and the stock market. However, macro economic indicators all have the expected signs. Also, industries where cost cannot be easily pushed to consumers see a greater impact due to oil in the stock market. </a:t>
            </a:r>
            <a:endParaRPr lang="en-US" sz="2400" dirty="0">
              <a:solidFill>
                <a:prstClr val="black"/>
              </a:solidFill>
              <a:latin typeface="Tahoma" pitchFamily="34" charset="0"/>
              <a:ea typeface="Tahoma" pitchFamily="34" charset="0"/>
              <a:cs typeface="Tahoma" pitchFamily="34" charset="0"/>
            </a:endParaRPr>
          </a:p>
        </p:txBody>
      </p:sp>
      <p:grpSp>
        <p:nvGrpSpPr>
          <p:cNvPr id="18" name="Group 17"/>
          <p:cNvGrpSpPr/>
          <p:nvPr/>
        </p:nvGrpSpPr>
        <p:grpSpPr>
          <a:xfrm>
            <a:off x="24078368" y="8365085"/>
            <a:ext cx="5635868" cy="3792094"/>
            <a:chOff x="24078368" y="8482664"/>
            <a:chExt cx="5635868" cy="3792094"/>
          </a:xfrm>
        </p:grpSpPr>
        <p:pic>
          <p:nvPicPr>
            <p:cNvPr id="15"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078368" y="8752341"/>
              <a:ext cx="5635868" cy="3522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Box 16"/>
            <p:cNvSpPr txBox="1"/>
            <p:nvPr/>
          </p:nvSpPr>
          <p:spPr>
            <a:xfrm>
              <a:off x="26248602" y="8482664"/>
              <a:ext cx="1295400" cy="307777"/>
            </a:xfrm>
            <a:prstGeom prst="rect">
              <a:avLst/>
            </a:prstGeom>
            <a:noFill/>
          </p:spPr>
          <p:txBody>
            <a:bodyPr wrap="square" rtlCol="0">
              <a:spAutoFit/>
            </a:bodyPr>
            <a:lstStyle/>
            <a:p>
              <a:r>
                <a:rPr lang="en-IN" sz="1400" dirty="0" smtClean="0"/>
                <a:t>Results: Part 1</a:t>
              </a:r>
              <a:endParaRPr lang="en-US" sz="1400" dirty="0"/>
            </a:p>
          </p:txBody>
        </p:sp>
      </p:grpSp>
      <p:grpSp>
        <p:nvGrpSpPr>
          <p:cNvPr id="19" name="Group 18"/>
          <p:cNvGrpSpPr/>
          <p:nvPr/>
        </p:nvGrpSpPr>
        <p:grpSpPr>
          <a:xfrm>
            <a:off x="22970770" y="12483037"/>
            <a:ext cx="8001000" cy="2231827"/>
            <a:chOff x="22895802" y="12674174"/>
            <a:chExt cx="8001000" cy="2231827"/>
          </a:xfrm>
        </p:grpSpPr>
        <p:grpSp>
          <p:nvGrpSpPr>
            <p:cNvPr id="11" name="Group 10"/>
            <p:cNvGrpSpPr/>
            <p:nvPr/>
          </p:nvGrpSpPr>
          <p:grpSpPr>
            <a:xfrm>
              <a:off x="22895802" y="12981951"/>
              <a:ext cx="8001000" cy="1924050"/>
              <a:chOff x="21714702" y="15925800"/>
              <a:chExt cx="8001000" cy="1924050"/>
            </a:xfrm>
          </p:grpSpPr>
          <p:pic>
            <p:nvPicPr>
              <p:cNvPr id="6"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714702" y="15925800"/>
                <a:ext cx="8001000"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381452" y="16887825"/>
                <a:ext cx="6667500"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1" name="TextBox 20"/>
            <p:cNvSpPr txBox="1"/>
            <p:nvPr/>
          </p:nvSpPr>
          <p:spPr>
            <a:xfrm>
              <a:off x="25922371" y="12674174"/>
              <a:ext cx="1869198" cy="307777"/>
            </a:xfrm>
            <a:prstGeom prst="rect">
              <a:avLst/>
            </a:prstGeom>
            <a:noFill/>
          </p:spPr>
          <p:txBody>
            <a:bodyPr wrap="square" rtlCol="0">
              <a:spAutoFit/>
            </a:bodyPr>
            <a:lstStyle/>
            <a:p>
              <a:r>
                <a:rPr lang="en-IN" sz="1400" dirty="0" smtClean="0"/>
                <a:t>Results: Part 1 - Global</a:t>
              </a:r>
              <a:endParaRPr lang="en-US" sz="1400" dirty="0"/>
            </a:p>
          </p:txBody>
        </p:sp>
      </p:grpSp>
      <p:grpSp>
        <p:nvGrpSpPr>
          <p:cNvPr id="20" name="Group 19"/>
          <p:cNvGrpSpPr/>
          <p:nvPr/>
        </p:nvGrpSpPr>
        <p:grpSpPr>
          <a:xfrm>
            <a:off x="21864638" y="15087600"/>
            <a:ext cx="10213264" cy="1971675"/>
            <a:chOff x="21864638" y="15249525"/>
            <a:chExt cx="10213264" cy="1971675"/>
          </a:xfrm>
        </p:grpSpPr>
        <p:pic>
          <p:nvPicPr>
            <p:cNvPr id="16" name="Picture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864638" y="15621000"/>
              <a:ext cx="10213264"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Box 21"/>
            <p:cNvSpPr txBox="1"/>
            <p:nvPr/>
          </p:nvSpPr>
          <p:spPr>
            <a:xfrm>
              <a:off x="25361053" y="15249525"/>
              <a:ext cx="3070498" cy="307777"/>
            </a:xfrm>
            <a:prstGeom prst="rect">
              <a:avLst/>
            </a:prstGeom>
            <a:noFill/>
          </p:spPr>
          <p:txBody>
            <a:bodyPr wrap="square" rtlCol="0">
              <a:spAutoFit/>
            </a:bodyPr>
            <a:lstStyle/>
            <a:p>
              <a:r>
                <a:rPr lang="en-IN" sz="1400" dirty="0" smtClean="0"/>
                <a:t>Results: Part 2 – Industry-Level Analysis</a:t>
              </a:r>
              <a:endParaRPr lang="en-US" sz="1400" dirty="0"/>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543</TotalTime>
  <Words>881</Words>
  <Application>Microsoft Office PowerPoint</Application>
  <PresentationFormat>Custom</PresentationFormat>
  <Paragraphs>32</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Clark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drourke</dc:creator>
  <cp:lastModifiedBy>Rahul</cp:lastModifiedBy>
  <cp:revision>22</cp:revision>
  <dcterms:created xsi:type="dcterms:W3CDTF">2012-05-15T16:13:30Z</dcterms:created>
  <dcterms:modified xsi:type="dcterms:W3CDTF">2016-04-25T03:51:03Z</dcterms:modified>
</cp:coreProperties>
</file>