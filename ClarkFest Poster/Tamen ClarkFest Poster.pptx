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AA81D-698A-7E4E-A639-B653047C1524}" v="2552" dt="2026-04-12T21:41:00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/>
    <p:restoredTop sz="94632"/>
  </p:normalViewPr>
  <p:slideViewPr>
    <p:cSldViewPr>
      <p:cViewPr>
        <p:scale>
          <a:sx n="82" d="100"/>
          <a:sy n="82" d="100"/>
        </p:scale>
        <p:origin x="-6984" y="-10768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110" d="100"/>
          <a:sy n="110" d="100"/>
        </p:scale>
        <p:origin x="105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en, Jonathan" userId="51c4b763-5c25-4379-9ad5-5c8478177cd6" providerId="ADAL" clId="{E557B79F-C3F8-557B-BAA8-0B175C85F61C}"/>
    <pc:docChg chg="undo redo custSel addSld delSld modSld">
      <pc:chgData name="Tamen, Jonathan" userId="51c4b763-5c25-4379-9ad5-5c8478177cd6" providerId="ADAL" clId="{E557B79F-C3F8-557B-BAA8-0B175C85F61C}" dt="2026-04-23T15:57:16.414" v="7599" actId="120"/>
      <pc:docMkLst>
        <pc:docMk/>
      </pc:docMkLst>
      <pc:sldChg chg="addSp delSp modSp mod">
        <pc:chgData name="Tamen, Jonathan" userId="51c4b763-5c25-4379-9ad5-5c8478177cd6" providerId="ADAL" clId="{E557B79F-C3F8-557B-BAA8-0B175C85F61C}" dt="2026-04-23T15:57:16.414" v="7599" actId="120"/>
        <pc:sldMkLst>
          <pc:docMk/>
          <pc:sldMk cId="0" sldId="256"/>
        </pc:sldMkLst>
        <pc:spChg chg="add mod">
          <ac:chgData name="Tamen, Jonathan" userId="51c4b763-5c25-4379-9ad5-5c8478177cd6" providerId="ADAL" clId="{E557B79F-C3F8-557B-BAA8-0B175C85F61C}" dt="2026-04-10T14:59:12.125" v="6421" actId="20577"/>
          <ac:spMkLst>
            <pc:docMk/>
            <pc:sldMk cId="0" sldId="256"/>
            <ac:spMk id="3" creationId="{18E5AA72-5172-BFC8-894B-A5E058F4BF16}"/>
          </ac:spMkLst>
        </pc:spChg>
        <pc:spChg chg="mod">
          <ac:chgData name="Tamen, Jonathan" userId="51c4b763-5c25-4379-9ad5-5c8478177cd6" providerId="ADAL" clId="{E557B79F-C3F8-557B-BAA8-0B175C85F61C}" dt="2026-04-12T18:58:16.528" v="7013" actId="20577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Tamen, Jonathan" userId="51c4b763-5c25-4379-9ad5-5c8478177cd6" providerId="ADAL" clId="{E557B79F-C3F8-557B-BAA8-0B175C85F61C}" dt="2026-04-12T18:58:52.495" v="7020" actId="20577"/>
          <ac:spMkLst>
            <pc:docMk/>
            <pc:sldMk cId="0" sldId="256"/>
            <ac:spMk id="7" creationId="{9C832F57-B5FB-FAC6-D222-FCCE240BC937}"/>
          </ac:spMkLst>
        </pc:spChg>
        <pc:spChg chg="mod">
          <ac:chgData name="Tamen, Jonathan" userId="51c4b763-5c25-4379-9ad5-5c8478177cd6" providerId="ADAL" clId="{E557B79F-C3F8-557B-BAA8-0B175C85F61C}" dt="2026-04-09T21:56:31.332" v="6369" actId="2710"/>
          <ac:spMkLst>
            <pc:docMk/>
            <pc:sldMk cId="0" sldId="256"/>
            <ac:spMk id="8" creationId="{00000000-0000-0000-0000-000000000000}"/>
          </ac:spMkLst>
        </pc:spChg>
        <pc:spChg chg="mod">
          <ac:chgData name="Tamen, Jonathan" userId="51c4b763-5c25-4379-9ad5-5c8478177cd6" providerId="ADAL" clId="{E557B79F-C3F8-557B-BAA8-0B175C85F61C}" dt="2026-04-12T21:41:00.912" v="7511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Tamen, Jonathan" userId="51c4b763-5c25-4379-9ad5-5c8478177cd6" providerId="ADAL" clId="{E557B79F-C3F8-557B-BAA8-0B175C85F61C}" dt="2026-04-12T21:48:23.420" v="7590" actId="20577"/>
          <ac:spMkLst>
            <pc:docMk/>
            <pc:sldMk cId="0" sldId="256"/>
            <ac:spMk id="12" creationId="{F01D08A3-898D-78D0-57C8-31AE6092C118}"/>
          </ac:spMkLst>
        </pc:spChg>
        <pc:spChg chg="add mod">
          <ac:chgData name="Tamen, Jonathan" userId="51c4b763-5c25-4379-9ad5-5c8478177cd6" providerId="ADAL" clId="{E557B79F-C3F8-557B-BAA8-0B175C85F61C}" dt="2026-04-23T15:56:54.748" v="7592" actId="20577"/>
          <ac:spMkLst>
            <pc:docMk/>
            <pc:sldMk cId="0" sldId="256"/>
            <ac:spMk id="14" creationId="{6CD1291D-AE0B-45A9-0B6E-B7D6139CE660}"/>
          </ac:spMkLst>
        </pc:spChg>
        <pc:spChg chg="add mod">
          <ac:chgData name="Tamen, Jonathan" userId="51c4b763-5c25-4379-9ad5-5c8478177cd6" providerId="ADAL" clId="{E557B79F-C3F8-557B-BAA8-0B175C85F61C}" dt="2026-04-10T15:31:34.587" v="6885" actId="113"/>
          <ac:spMkLst>
            <pc:docMk/>
            <pc:sldMk cId="0" sldId="256"/>
            <ac:spMk id="18" creationId="{E30BBFC9-0AD4-CF24-D9EA-46943F85FBB7}"/>
          </ac:spMkLst>
        </pc:spChg>
        <pc:spChg chg="add mod">
          <ac:chgData name="Tamen, Jonathan" userId="51c4b763-5c25-4379-9ad5-5c8478177cd6" providerId="ADAL" clId="{E557B79F-C3F8-557B-BAA8-0B175C85F61C}" dt="2026-04-09T21:55:38.181" v="6366" actId="207"/>
          <ac:spMkLst>
            <pc:docMk/>
            <pc:sldMk cId="0" sldId="256"/>
            <ac:spMk id="19" creationId="{F46B511E-A4E6-0061-E961-EE094A688FA7}"/>
          </ac:spMkLst>
        </pc:spChg>
        <pc:spChg chg="add mod">
          <ac:chgData name="Tamen, Jonathan" userId="51c4b763-5c25-4379-9ad5-5c8478177cd6" providerId="ADAL" clId="{E557B79F-C3F8-557B-BAA8-0B175C85F61C}" dt="2026-04-12T19:24:52.218" v="7482" actId="1076"/>
          <ac:spMkLst>
            <pc:docMk/>
            <pc:sldMk cId="0" sldId="256"/>
            <ac:spMk id="20" creationId="{DE1279D7-1E33-50E4-7403-D115B662E810}"/>
          </ac:spMkLst>
        </pc:spChg>
        <pc:spChg chg="add del mod">
          <ac:chgData name="Tamen, Jonathan" userId="51c4b763-5c25-4379-9ad5-5c8478177cd6" providerId="ADAL" clId="{E557B79F-C3F8-557B-BAA8-0B175C85F61C}" dt="2026-04-10T15:56:19.450" v="6896" actId="20577"/>
          <ac:spMkLst>
            <pc:docMk/>
            <pc:sldMk cId="0" sldId="256"/>
            <ac:spMk id="24" creationId="{5FF9F335-262E-9AA6-7264-8111B9053708}"/>
          </ac:spMkLst>
        </pc:spChg>
        <pc:spChg chg="add mod">
          <ac:chgData name="Tamen, Jonathan" userId="51c4b763-5c25-4379-9ad5-5c8478177cd6" providerId="ADAL" clId="{E557B79F-C3F8-557B-BAA8-0B175C85F61C}" dt="2026-04-09T21:35:50.631" v="5866" actId="208"/>
          <ac:spMkLst>
            <pc:docMk/>
            <pc:sldMk cId="0" sldId="256"/>
            <ac:spMk id="25" creationId="{264AD7CF-E309-3D0F-5BAF-33C68B6A0218}"/>
          </ac:spMkLst>
        </pc:spChg>
        <pc:spChg chg="add del mod">
          <ac:chgData name="Tamen, Jonathan" userId="51c4b763-5c25-4379-9ad5-5c8478177cd6" providerId="ADAL" clId="{E557B79F-C3F8-557B-BAA8-0B175C85F61C}" dt="2026-04-09T21:53:22.177" v="6348" actId="1036"/>
          <ac:spMkLst>
            <pc:docMk/>
            <pc:sldMk cId="0" sldId="256"/>
            <ac:spMk id="26" creationId="{EA9E3684-4B37-A287-43B2-4D4C17E5DBAE}"/>
          </ac:spMkLst>
        </pc:spChg>
        <pc:spChg chg="add mod">
          <ac:chgData name="Tamen, Jonathan" userId="51c4b763-5c25-4379-9ad5-5c8478177cd6" providerId="ADAL" clId="{E557B79F-C3F8-557B-BAA8-0B175C85F61C}" dt="2026-04-23T15:57:16.414" v="7599" actId="120"/>
          <ac:spMkLst>
            <pc:docMk/>
            <pc:sldMk cId="0" sldId="256"/>
            <ac:spMk id="29" creationId="{E7D8C7F8-9F04-D78A-FF00-259E4099559F}"/>
          </ac:spMkLst>
        </pc:spChg>
        <pc:spChg chg="add mod">
          <ac:chgData name="Tamen, Jonathan" userId="51c4b763-5c25-4379-9ad5-5c8478177cd6" providerId="ADAL" clId="{E557B79F-C3F8-557B-BAA8-0B175C85F61C}" dt="2026-04-09T21:49:29.743" v="6282" actId="1076"/>
          <ac:spMkLst>
            <pc:docMk/>
            <pc:sldMk cId="0" sldId="256"/>
            <ac:spMk id="30" creationId="{1396A2EC-6078-5A0C-E5A7-BEE87DF83889}"/>
          </ac:spMkLst>
        </pc:spChg>
        <pc:graphicFrameChg chg="add mod modGraphic">
          <ac:chgData name="Tamen, Jonathan" userId="51c4b763-5c25-4379-9ad5-5c8478177cd6" providerId="ADAL" clId="{E557B79F-C3F8-557B-BAA8-0B175C85F61C}" dt="2026-04-12T19:19:51.523" v="7224" actId="20577"/>
          <ac:graphicFrameMkLst>
            <pc:docMk/>
            <pc:sldMk cId="0" sldId="256"/>
            <ac:graphicFrameMk id="2" creationId="{E677A7C8-1691-8374-C60E-B348FE9BED93}"/>
          </ac:graphicFrameMkLst>
        </pc:graphicFrameChg>
        <pc:graphicFrameChg chg="add mod modGraphic">
          <ac:chgData name="Tamen, Jonathan" userId="51c4b763-5c25-4379-9ad5-5c8478177cd6" providerId="ADAL" clId="{E557B79F-C3F8-557B-BAA8-0B175C85F61C}" dt="2026-04-12T19:19:41.136" v="7207" actId="20577"/>
          <ac:graphicFrameMkLst>
            <pc:docMk/>
            <pc:sldMk cId="0" sldId="256"/>
            <ac:graphicFrameMk id="10" creationId="{1B9CC305-2827-6BBB-F5C9-EE9329B3767A}"/>
          </ac:graphicFrameMkLst>
        </pc:graphicFrameChg>
        <pc:graphicFrameChg chg="add del mod modGraphic">
          <ac:chgData name="Tamen, Jonathan" userId="51c4b763-5c25-4379-9ad5-5c8478177cd6" providerId="ADAL" clId="{E557B79F-C3F8-557B-BAA8-0B175C85F61C}" dt="2026-04-12T19:20:01.399" v="7227" actId="122"/>
          <ac:graphicFrameMkLst>
            <pc:docMk/>
            <pc:sldMk cId="0" sldId="256"/>
            <ac:graphicFrameMk id="16" creationId="{8E720955-3A5D-FA9B-5AB5-1E0A202E2F00}"/>
          </ac:graphicFrameMkLst>
        </pc:graphicFrameChg>
        <pc:picChg chg="add mod">
          <ac:chgData name="Tamen, Jonathan" userId="51c4b763-5c25-4379-9ad5-5c8478177cd6" providerId="ADAL" clId="{E557B79F-C3F8-557B-BAA8-0B175C85F61C}" dt="2026-04-12T19:18:02.965" v="7164" actId="208"/>
          <ac:picMkLst>
            <pc:docMk/>
            <pc:sldMk cId="0" sldId="256"/>
            <ac:picMk id="11" creationId="{4CDF0CF3-5966-AD46-79E3-E458EFD3C6F7}"/>
          </ac:picMkLst>
        </pc:picChg>
        <pc:picChg chg="add mod">
          <ac:chgData name="Tamen, Jonathan" userId="51c4b763-5c25-4379-9ad5-5c8478177cd6" providerId="ADAL" clId="{E557B79F-C3F8-557B-BAA8-0B175C85F61C}" dt="2026-04-09T21:55:13.613" v="6361" actId="1076"/>
          <ac:picMkLst>
            <pc:docMk/>
            <pc:sldMk cId="0" sldId="256"/>
            <ac:picMk id="15" creationId="{C7224971-EC99-C73C-EF8A-8FE7F433509E}"/>
          </ac:picMkLst>
        </pc:picChg>
        <pc:picChg chg="mod">
          <ac:chgData name="Tamen, Jonathan" userId="51c4b763-5c25-4379-9ad5-5c8478177cd6" providerId="ADAL" clId="{E557B79F-C3F8-557B-BAA8-0B175C85F61C}" dt="2026-04-10T15:12:58.319" v="6661" actId="1076"/>
          <ac:picMkLst>
            <pc:docMk/>
            <pc:sldMk cId="0" sldId="256"/>
            <ac:picMk id="10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8516E-7ECC-4146-BD33-0798B9E4448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44844-E3D9-AC46-AC1F-0662E3AFB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44844-E3D9-AC46-AC1F-0662E3AFBB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21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3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3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120" y="1318265"/>
            <a:ext cx="9875520" cy="28087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560" y="1318265"/>
            <a:ext cx="28895040" cy="28087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44E54-DA80-4FE2-8F03-CB9C1FF639FA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098CB-F1F7-414E-BB61-E4E1665BA50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Up-Down Arrow 18">
            <a:extLst>
              <a:ext uri="{FF2B5EF4-FFF2-40B4-BE49-F238E27FC236}">
                <a16:creationId xmlns:a16="http://schemas.microsoft.com/office/drawing/2014/main" id="{F46B511E-A4E6-0061-E961-EE094A688FA7}"/>
              </a:ext>
            </a:extLst>
          </p:cNvPr>
          <p:cNvSpPr/>
          <p:nvPr/>
        </p:nvSpPr>
        <p:spPr>
          <a:xfrm>
            <a:off x="29540651" y="15566978"/>
            <a:ext cx="1371600" cy="1587953"/>
          </a:xfrm>
          <a:prstGeom prst="upDownArrow">
            <a:avLst>
              <a:gd name="adj1" fmla="val 22321"/>
              <a:gd name="adj2" fmla="val 2531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81000" y="838200"/>
            <a:ext cx="43129200" cy="3505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6800" dirty="0">
                <a:latin typeface="Tahoma" pitchFamily="34" charset="0"/>
                <a:ea typeface="Tahoma" pitchFamily="34" charset="0"/>
                <a:cs typeface="Tahoma" pitchFamily="34" charset="0"/>
              </a:rPr>
              <a:t>Running a Non-Profit in a Recession: Analysis of Countercyclical Financial Practices</a:t>
            </a:r>
          </a:p>
          <a:p>
            <a:pPr algn="ctr">
              <a:lnSpc>
                <a:spcPct val="150000"/>
              </a:lnSpc>
            </a:pPr>
            <a:r>
              <a:rPr lang="en-US" sz="5800" dirty="0">
                <a:latin typeface="Tahoma" pitchFamily="34" charset="0"/>
                <a:ea typeface="Tahoma" pitchFamily="34" charset="0"/>
                <a:cs typeface="Tahoma" pitchFamily="34" charset="0"/>
              </a:rPr>
              <a:t>Jonathan Tamen ‘26 – (Sponsor: Professor Magda Tsaneva)</a:t>
            </a:r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5400655"/>
            <a:ext cx="11731297" cy="2477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4000" b="1" u="sng" dirty="0">
                <a:latin typeface="Tahoma" pitchFamily="34" charset="0"/>
                <a:ea typeface="Tahoma" pitchFamily="34" charset="0"/>
                <a:cs typeface="Tahoma" pitchFamily="34" charset="0"/>
              </a:rPr>
              <a:t>Research Question: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What revenue sources are most correlated with helping non-profits do more when the economy is doing worse?</a:t>
            </a:r>
          </a:p>
          <a:p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en-US" sz="3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698130" y="5400655"/>
            <a:ext cx="18812070" cy="10896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4000" b="1" u="sng" dirty="0">
                <a:latin typeface="Tahoma" pitchFamily="34" charset="0"/>
                <a:ea typeface="Tahoma" pitchFamily="34" charset="0"/>
                <a:cs typeface="Tahoma" pitchFamily="34" charset="0"/>
              </a:rPr>
              <a:t>Results: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2563412" y="5400655"/>
                <a:ext cx="11671298" cy="2217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4000" b="1" u="sng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Methodology:</a:t>
                </a:r>
              </a:p>
              <a:p>
                <a:r>
                  <a:rPr lang="en-US" sz="3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Model 1: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Program</m:t>
                                  </m:r>
                                  <m: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Expenses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𝑦𝑒𝑎𝑟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𝑓𝑖𝑟𝑚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GDP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Change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 %</m:t>
                              </m:r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𝑦𝑒𝑎𝑟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𝑠𝑡𝑎𝑡𝑒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Total</m:t>
                                  </m:r>
                                  <m: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Revenues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𝑦𝑒𝑎𝑟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𝑦𝑒𝑎𝑟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𝑓𝑖𝑟𝑚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𝜖</m:t>
                      </m:r>
                    </m:oMath>
                  </m:oMathPara>
                </a14:m>
                <a:endParaRPr lang="en-US" sz="32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marL="457200"/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 pitchFamily="34" charset="0"/>
                  </a:rPr>
                  <a:t>Where (Program Expenses) is total money spent on activities advancing each non-profit’s mission statement. (GDP Change %) is inflation-adjusted for each state. (Total Revenues) is a given non-profit’s revenue from all sources.</a:t>
                </a:r>
              </a:p>
              <a:p>
                <a:endParaRPr lang="en-US" sz="3200" dirty="0">
                  <a:latin typeface="Tahoma" pitchFamily="34" charset="0"/>
                  <a:ea typeface="Tahoma" pitchFamily="34" charset="0"/>
                  <a:cs typeface="Tahoma" pitchFamily="34" charset="0"/>
                  <a:sym typeface="Wingdings" pitchFamily="2" charset="2"/>
                </a:endParaRPr>
              </a:p>
              <a:p>
                <a:r>
                  <a:rPr lang="en-US" sz="3200" dirty="0">
                    <a:latin typeface="Tahoma" pitchFamily="34" charset="0"/>
                    <a:ea typeface="Tahoma" pitchFamily="34" charset="0"/>
                    <a:cs typeface="Tahoma" pitchFamily="34" charset="0"/>
                    <a:sym typeface="Wingdings" pitchFamily="2" charset="2"/>
                  </a:rPr>
                  <a:t></a:t>
                </a:r>
                <a:r>
                  <a:rPr lang="en-US" sz="32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This model tests the average procyclical behavior of non-profit organizations.</a:t>
                </a:r>
              </a:p>
              <a:p>
                <a:endParaRPr lang="en-US" sz="32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sz="3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Model 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Revenue</m:t>
                                  </m:r>
                                  <m: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ahoma" pitchFamily="34" charset="0"/>
                                    </a:rPr>
                                    <m:t>Source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𝑦𝑒𝑎𝑟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𝑓𝑖𝑟𝑚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GDP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3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Change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ahoma" pitchFamily="34" charset="0"/>
                                </a:rPr>
                                <m:t> %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𝑦𝑒𝑎𝑟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𝑠𝑡𝑎𝑡𝑒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𝑦𝑒𝑎𝑟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ahoma" pitchFamily="34" charset="0"/>
                            </a:rPr>
                            <m:t>𝑓𝑖𝑟𝑚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itchFamily="34" charset="0"/>
                        </a:rPr>
                        <m:t>𝜖</m:t>
                      </m:r>
                    </m:oMath>
                  </m:oMathPara>
                </a14:m>
                <a:endParaRPr lang="en-US" sz="3200" b="0" dirty="0">
                  <a:latin typeface="Tahoma" pitchFamily="34" charset="0"/>
                  <a:ea typeface="Cambria Math" panose="02040503050406030204" pitchFamily="18" charset="0"/>
                  <a:cs typeface="Tahoma" pitchFamily="34" charset="0"/>
                </a:endParaRPr>
              </a:p>
              <a:p>
                <a:pPr marL="457200" lvl="1"/>
                <a:r>
                  <a:rPr lang="en-US" sz="3200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 pitchFamily="34" charset="0"/>
                  </a:rPr>
                  <a:t>Where (Revenue </a:t>
                </a: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 pitchFamily="34" charset="0"/>
                  </a:rPr>
                  <a:t>Source) represents six dependent variables. </a:t>
                </a:r>
              </a:p>
              <a:p>
                <a:pPr marL="274320" lvl="1"/>
                <a:endParaRPr lang="en-US" sz="3200" dirty="0">
                  <a:latin typeface="Cambria Math" panose="02040503050406030204" pitchFamily="18" charset="0"/>
                  <a:ea typeface="Cambria Math" panose="02040503050406030204" pitchFamily="18" charset="0"/>
                  <a:cs typeface="Tahoma" pitchFamily="34" charset="0"/>
                </a:endParaRPr>
              </a:p>
              <a:p>
                <a:r>
                  <a:rPr lang="en-US" sz="3200" dirty="0">
                    <a:latin typeface="Tahoma" pitchFamily="34" charset="0"/>
                    <a:ea typeface="Tahoma" pitchFamily="34" charset="0"/>
                    <a:cs typeface="Tahoma" pitchFamily="34" charset="0"/>
                    <a:sym typeface="Wingdings" pitchFamily="2" charset="2"/>
                  </a:rPr>
                  <a:t></a:t>
                </a:r>
                <a:r>
                  <a:rPr lang="en-US" sz="32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This model observes the cyclical to countercyclical trends of different revenue sources.</a:t>
                </a:r>
              </a:p>
              <a:p>
                <a:endParaRPr lang="en-US" sz="32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sz="32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Model 3:</a:t>
                </a:r>
                <a:endParaRPr lang="en-US" sz="32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  <m:t>Covid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  <m:t>Expansion</m:t>
                              </m:r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𝑦𝑒𝑎𝑟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𝑠𝑡𝑎𝑡𝑒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𝑖𝑛𝑑𝑢𝑠𝑡𝑟𝑦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log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  <m:t>Revenue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Tahoma" pitchFamily="34" charset="0"/>
                                  <a:cs typeface="Tahoma" pitchFamily="34" charset="0"/>
                                </a:rPr>
                                <m:t>Source</m:t>
                              </m:r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𝑦𝑒𝑎𝑟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𝑠𝑡𝑎𝑡𝑒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𝑖𝑛𝑑𝑢𝑠𝑡𝑟𝑦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𝑦𝑒𝑎𝑟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𝑠𝑡𝑎𝑡𝑒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Tahoma" pitchFamily="34" charset="0"/>
                              <a:cs typeface="Tahoma" pitchFamily="34" charset="0"/>
                            </a:rPr>
                            <m:t>𝑖𝑛𝑑𝑢𝑠𝑡𝑟𝑦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Tahoma" pitchFamily="34" charset="0"/>
                          <a:cs typeface="Tahoma" pitchFamily="34" charset="0"/>
                        </a:rPr>
                        <m:t>𝜖</m:t>
                      </m:r>
                    </m:oMath>
                  </m:oMathPara>
                </a14:m>
                <a:endParaRPr lang="en-US" sz="3200" b="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marL="457200" lvl="1"/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 pitchFamily="34" charset="0"/>
                  </a:rPr>
                  <a:t>Where (Revenue Source) includes six independent variables. (Covid Expansion) is a Boolean value for if program expenses increase year-over-year from 2019-20.</a:t>
                </a:r>
              </a:p>
              <a:p>
                <a:endParaRPr lang="en-US" sz="3200" dirty="0">
                  <a:latin typeface="Tahoma" pitchFamily="34" charset="0"/>
                  <a:ea typeface="Tahoma" pitchFamily="34" charset="0"/>
                  <a:cs typeface="Tahoma" pitchFamily="34" charset="0"/>
                  <a:sym typeface="Wingdings" pitchFamily="2" charset="2"/>
                </a:endParaRPr>
              </a:p>
              <a:p>
                <a:r>
                  <a:rPr lang="en-US" sz="3200" dirty="0">
                    <a:latin typeface="Tahoma" pitchFamily="34" charset="0"/>
                    <a:ea typeface="Tahoma" pitchFamily="34" charset="0"/>
                    <a:cs typeface="Tahoma" pitchFamily="34" charset="0"/>
                    <a:sym typeface="Wingdings" pitchFamily="2" charset="2"/>
                  </a:rPr>
                  <a:t></a:t>
                </a:r>
                <a:r>
                  <a:rPr lang="en-US" sz="32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This model tests what revenue sources are most likely to help an organization expand in a recession, theoretical countercyclical behavior. 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412" y="5400655"/>
                <a:ext cx="11671298" cy="22174199"/>
              </a:xfrm>
              <a:prstGeom prst="rect">
                <a:avLst/>
              </a:prstGeom>
              <a:blipFill>
                <a:blip r:embed="rId3"/>
                <a:stretch>
                  <a:fillRect l="-1848" t="-5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76400" y="87754"/>
            <a:ext cx="3447957" cy="4827146"/>
          </a:xfrm>
          <a:prstGeom prst="rect">
            <a:avLst/>
          </a:prstGeom>
          <a:noFill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E5AA72-5172-BFC8-894B-A5E058F4BF16}"/>
              </a:ext>
            </a:extLst>
          </p:cNvPr>
          <p:cNvSpPr/>
          <p:nvPr/>
        </p:nvSpPr>
        <p:spPr>
          <a:xfrm>
            <a:off x="380999" y="7877986"/>
            <a:ext cx="11950702" cy="952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4000" b="1" u="sng" dirty="0">
                <a:latin typeface="Tahoma" pitchFamily="34" charset="0"/>
                <a:ea typeface="Tahoma" pitchFamily="34" charset="0"/>
                <a:cs typeface="Tahoma" pitchFamily="34" charset="0"/>
              </a:rPr>
              <a:t>Background and Motivation:</a:t>
            </a:r>
          </a:p>
          <a:p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Non-profit organizations suffer from an overall cyclical ‘dilemma’ during an economic recession: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The demand for philanthropic services increases. For example, more people will request support for food services or job training. (Bridgeland et al., 2010)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The supply of certain non-profit revenues decreases. For example, people/corporations will have less disposable incomes and fundraising will be less effective. (Exley, Lehr, and Terry, 2023)</a:t>
            </a:r>
          </a:p>
          <a:p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Thus, non-profit organizations should operate ‘countercyclically’ to expand their programs when demand increases and smooth revenues from good times for bad times. (Jones et al., 2012)</a:t>
            </a:r>
          </a:p>
          <a:p>
            <a:endParaRPr lang="en-US" sz="3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In certain contexts, this countercyclicality occurs. </a:t>
            </a: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(Pollifroni, Militaru, and Socaciu, 2014)</a:t>
            </a:r>
            <a:endParaRPr lang="en-US" sz="3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However, research is limited so less information exists for non-profit leaders to define ‘resilient financial practices’ for the entire non-profit enterprise in the United States to follow.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832F57-B5FB-FAC6-D222-FCCE240BC937}"/>
              </a:ext>
            </a:extLst>
          </p:cNvPr>
          <p:cNvSpPr/>
          <p:nvPr/>
        </p:nvSpPr>
        <p:spPr>
          <a:xfrm>
            <a:off x="380998" y="17973654"/>
            <a:ext cx="11943318" cy="79629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4000" b="1" u="sng" dirty="0">
                <a:latin typeface="Tahoma" pitchFamily="34" charset="0"/>
                <a:ea typeface="Tahoma" pitchFamily="34" charset="0"/>
                <a:cs typeface="Tahoma" pitchFamily="34" charset="0"/>
              </a:rPr>
              <a:t>Data: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2.88 million observations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319,000 non-profit organizations across 25 industries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15 years and all 50 US states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1D08A3-898D-78D0-57C8-31AE6092C118}"/>
              </a:ext>
            </a:extLst>
          </p:cNvPr>
          <p:cNvSpPr/>
          <p:nvPr/>
        </p:nvSpPr>
        <p:spPr>
          <a:xfrm>
            <a:off x="24674939" y="22479001"/>
            <a:ext cx="18812070" cy="8915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3600" b="1" u="sng" dirty="0">
                <a:latin typeface="Tahoma" pitchFamily="34" charset="0"/>
                <a:ea typeface="Tahoma" pitchFamily="34" charset="0"/>
                <a:cs typeface="Tahoma" pitchFamily="34" charset="0"/>
              </a:rPr>
              <a:t>Conclusion:</a:t>
            </a:r>
          </a:p>
          <a:p>
            <a:r>
              <a:rPr lang="en-US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Key Findings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The non-profit sector is largely procyclical.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Total revenue explains the majority of variance in program changes.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Revenue streams dependent on individual discretionary decisions are more procyclical.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Government grants and cash from donations and fundraising provided the strongest positive correlation for expanding programs during the Covid-19 recession. But the effect is very small.</a:t>
            </a:r>
          </a:p>
          <a:p>
            <a:r>
              <a:rPr lang="en-US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Maintaining highly liquid, unrestricted revenue streams or pre-existing pipelines for government </a:t>
            </a:r>
            <a:r>
              <a:rPr lang="en-US" sz="3200" b="1">
                <a:latin typeface="Tahoma" pitchFamily="34" charset="0"/>
                <a:ea typeface="Tahoma" pitchFamily="34" charset="0"/>
                <a:cs typeface="Tahoma" pitchFamily="34" charset="0"/>
              </a:rPr>
              <a:t>grants increases </a:t>
            </a:r>
            <a:r>
              <a:rPr lang="en-US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an organization’s probability to expand when society needs them most.</a:t>
            </a:r>
          </a:p>
          <a:p>
            <a:endParaRPr lang="en-US" sz="3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Future Research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Should define specific financial practices either from interviews to gauge recommended practices or by testing techniques from literature.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Should dissect mechanics further by examining detailed changes in balance sheets, such as the specific reallocation of assets and liabilities during a shock.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ahoma" pitchFamily="34" charset="0"/>
                <a:ea typeface="Tahoma" pitchFamily="34" charset="0"/>
                <a:cs typeface="Tahoma" pitchFamily="34" charset="0"/>
              </a:rPr>
              <a:t>Should pair quantitative panel data with qualitative interviews of directors to determine if countercyclical planning is an active concern.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3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3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224971-EC99-C73C-EF8A-8FE7F43350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2479001"/>
            <a:ext cx="11887201" cy="891540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9CC305-2827-6BBB-F5C9-EE9329B37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764111"/>
              </p:ext>
            </p:extLst>
          </p:nvPr>
        </p:nvGraphicFramePr>
        <p:xfrm>
          <a:off x="24698130" y="17154931"/>
          <a:ext cx="13478073" cy="5294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439">
                  <a:extLst>
                    <a:ext uri="{9D8B030D-6E8A-4147-A177-3AD203B41FA5}">
                      <a16:colId xmlns:a16="http://schemas.microsoft.com/office/drawing/2014/main" val="1223694899"/>
                    </a:ext>
                  </a:extLst>
                </a:gridCol>
                <a:gridCol w="1925439">
                  <a:extLst>
                    <a:ext uri="{9D8B030D-6E8A-4147-A177-3AD203B41FA5}">
                      <a16:colId xmlns:a16="http://schemas.microsoft.com/office/drawing/2014/main" val="2867516959"/>
                    </a:ext>
                  </a:extLst>
                </a:gridCol>
                <a:gridCol w="1925439">
                  <a:extLst>
                    <a:ext uri="{9D8B030D-6E8A-4147-A177-3AD203B41FA5}">
                      <a16:colId xmlns:a16="http://schemas.microsoft.com/office/drawing/2014/main" val="3913893564"/>
                    </a:ext>
                  </a:extLst>
                </a:gridCol>
                <a:gridCol w="1925439">
                  <a:extLst>
                    <a:ext uri="{9D8B030D-6E8A-4147-A177-3AD203B41FA5}">
                      <a16:colId xmlns:a16="http://schemas.microsoft.com/office/drawing/2014/main" val="1856460142"/>
                    </a:ext>
                  </a:extLst>
                </a:gridCol>
                <a:gridCol w="1925439">
                  <a:extLst>
                    <a:ext uri="{9D8B030D-6E8A-4147-A177-3AD203B41FA5}">
                      <a16:colId xmlns:a16="http://schemas.microsoft.com/office/drawing/2014/main" val="2102205051"/>
                    </a:ext>
                  </a:extLst>
                </a:gridCol>
                <a:gridCol w="1925439">
                  <a:extLst>
                    <a:ext uri="{9D8B030D-6E8A-4147-A177-3AD203B41FA5}">
                      <a16:colId xmlns:a16="http://schemas.microsoft.com/office/drawing/2014/main" val="3595080540"/>
                    </a:ext>
                  </a:extLst>
                </a:gridCol>
                <a:gridCol w="1925439">
                  <a:extLst>
                    <a:ext uri="{9D8B030D-6E8A-4147-A177-3AD203B41FA5}">
                      <a16:colId xmlns:a16="http://schemas.microsoft.com/office/drawing/2014/main" val="2637335127"/>
                    </a:ext>
                  </a:extLst>
                </a:gridCol>
              </a:tblGrid>
              <a:tr h="49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u="sng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Model 2 Results:</a:t>
                      </a:r>
                      <a:endParaRPr lang="en-US" sz="2400" b="0" strike="noStrike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(1) Donations</a:t>
                      </a:r>
                      <a:endParaRPr lang="en-US" sz="2400" b="0" u="none" strike="noStrike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(2) Fundraising</a:t>
                      </a:r>
                      <a:endParaRPr lang="en-US" sz="2400" b="0" u="none" strike="noStrike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(3)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Govt. Grants</a:t>
                      </a:r>
                      <a:endParaRPr lang="en-US" sz="2400" b="0" u="none" strike="noStrike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(4) Membership</a:t>
                      </a:r>
                      <a:endParaRPr lang="en-US" sz="2400" b="0" u="none" strike="noStrike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(5) Investments</a:t>
                      </a:r>
                      <a:endParaRPr lang="en-US" sz="2400" b="0" u="none" strike="noStrike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(6)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strike="noStrike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Miscellaneous</a:t>
                      </a:r>
                      <a:endParaRPr lang="en-US" sz="2400" b="0" u="none" strike="noStrike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4138825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GDP Change %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-0.000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0.004***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-0.001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0.002***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0.000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-0.003**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439743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(0.001)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(0.001)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(0.001)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(0.001)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(0.001)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(0.001)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7476985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Num. Obs.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2.88M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2.88M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2.88M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2.88M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2.88M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2.88M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6458135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R2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0.754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0.705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0.780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0.859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0.877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0.712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9706530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FE: year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8358182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FE: state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200859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FE: industry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3451787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FE: firm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473727"/>
                  </a:ext>
                </a:extLst>
              </a:tr>
              <a:tr h="266555">
                <a:tc gridSpan="7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* p &lt; 0.1, ** p &lt; 0.05, *** p &lt; 0.01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95273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E720955-3A5D-FA9B-5AB5-1E0A202E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290571"/>
              </p:ext>
            </p:extLst>
          </p:nvPr>
        </p:nvGraphicFramePr>
        <p:xfrm>
          <a:off x="36271200" y="6651578"/>
          <a:ext cx="7239000" cy="1012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32320903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42387405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085734951"/>
                    </a:ext>
                  </a:extLst>
                </a:gridCol>
              </a:tblGrid>
              <a:tr h="5765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 </a:t>
                      </a:r>
                      <a:r>
                        <a:rPr lang="en-US" sz="2400" b="1" u="sng" kern="100" dirty="0">
                          <a:effectLst/>
                        </a:rPr>
                        <a:t>Model 3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1" u="sng" kern="100" dirty="0">
                          <a:effectLst/>
                        </a:rPr>
                        <a:t>Results: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Covid Expansion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kern="100" dirty="0">
                          <a:effectLst/>
                        </a:rPr>
                        <a:t>Pre-Covid Robustness Check</a:t>
                      </a:r>
                      <a:endParaRPr lang="en-US" sz="2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3670684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Log(Donations)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0.003***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0.004***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3558057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(0.000)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8758207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Log(Fundraising)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0.002***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0.005***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439086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(0.000)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5582260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Log(Govt Grants)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0.011***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0.008***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8250028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7292459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Log(Membership)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-0.006***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-0.003***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7656494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8972247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Log(Investment)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-0.005***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-0.003***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206015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(0.000)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877968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Log(Other)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0.000**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-0.000***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0665831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(0.000)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1924334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u="none" kern="100" dirty="0">
                          <a:effectLst/>
                        </a:rPr>
                        <a:t>Num. Obs.</a:t>
                      </a:r>
                      <a:endParaRPr lang="en-US" sz="2400" u="none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u="none" kern="100" dirty="0">
                          <a:effectLst/>
                        </a:rPr>
                        <a:t>2.32M</a:t>
                      </a:r>
                      <a:endParaRPr lang="en-US" sz="2400" u="none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u="none" kern="100" dirty="0">
                          <a:effectLst/>
                        </a:rPr>
                        <a:t>2.17M</a:t>
                      </a:r>
                      <a:endParaRPr lang="en-US" sz="2400" u="none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055861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R2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0.079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0.058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5453663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R2 Adj.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0.079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0.058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9841497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FE: year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9383020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FE: state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8502076"/>
                  </a:ext>
                </a:extLst>
              </a:tr>
              <a:tr h="308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FE: industry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964674"/>
                  </a:ext>
                </a:extLst>
              </a:tr>
              <a:tr h="308882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* p &lt; 0.1, ** p &lt; 0.05, *** p &lt; 0.01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1772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30BBFC9-0AD4-CF24-D9EA-46943F85FBB7}"/>
              </a:ext>
            </a:extLst>
          </p:cNvPr>
          <p:cNvSpPr txBox="1"/>
          <p:nvPr/>
        </p:nvSpPr>
        <p:spPr>
          <a:xfrm>
            <a:off x="24685825" y="15939479"/>
            <a:ext cx="11226535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On average,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for a 1 percentage point increase in real GDP Change (i.e., from 2% to 3% growth), a non-profit’s total revenue and program expenses increase by 0.6%.</a:t>
            </a: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5FF9F335-262E-9AA6-7264-8111B9053708}"/>
              </a:ext>
            </a:extLst>
          </p:cNvPr>
          <p:cNvSpPr/>
          <p:nvPr/>
        </p:nvSpPr>
        <p:spPr>
          <a:xfrm>
            <a:off x="38262727" y="19277512"/>
            <a:ext cx="5272213" cy="1302085"/>
          </a:xfrm>
          <a:prstGeom prst="wedgeRoundRectCallout">
            <a:avLst>
              <a:gd name="adj1" fmla="val -65093"/>
              <a:gd name="adj2" fmla="val -11184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 = β * 100%</a:t>
            </a:r>
          </a:p>
          <a:p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”a 1% Change in Real GDP is correlated with a 0.3% decrease in Miscellaneous Revenues”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4AD7CF-E309-3D0F-5BAF-33C68B6A0218}"/>
              </a:ext>
            </a:extLst>
          </p:cNvPr>
          <p:cNvSpPr/>
          <p:nvPr/>
        </p:nvSpPr>
        <p:spPr>
          <a:xfrm>
            <a:off x="36118800" y="18032285"/>
            <a:ext cx="1371600" cy="5509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A9E3684-4B37-A287-43B2-4D4C17E5DBAE}"/>
              </a:ext>
            </a:extLst>
          </p:cNvPr>
          <p:cNvSpPr/>
          <p:nvPr/>
        </p:nvSpPr>
        <p:spPr>
          <a:xfrm>
            <a:off x="38251239" y="11840209"/>
            <a:ext cx="5230905" cy="6743046"/>
          </a:xfrm>
          <a:custGeom>
            <a:avLst/>
            <a:gdLst>
              <a:gd name="csX0" fmla="*/ 0 w 5230905"/>
              <a:gd name="csY0" fmla="*/ 243581 h 1461454"/>
              <a:gd name="csX1" fmla="*/ 243581 w 5230905"/>
              <a:gd name="csY1" fmla="*/ 0 h 1461454"/>
              <a:gd name="csX2" fmla="*/ 871818 w 5230905"/>
              <a:gd name="csY2" fmla="*/ 0 h 1461454"/>
              <a:gd name="csX3" fmla="*/ 1441010 w 5230905"/>
              <a:gd name="csY3" fmla="*/ -5281592 h 1461454"/>
              <a:gd name="csX4" fmla="*/ 2179544 w 5230905"/>
              <a:gd name="csY4" fmla="*/ 0 h 1461454"/>
              <a:gd name="csX5" fmla="*/ 4987324 w 5230905"/>
              <a:gd name="csY5" fmla="*/ 0 h 1461454"/>
              <a:gd name="csX6" fmla="*/ 5230905 w 5230905"/>
              <a:gd name="csY6" fmla="*/ 243581 h 1461454"/>
              <a:gd name="csX7" fmla="*/ 5230905 w 5230905"/>
              <a:gd name="csY7" fmla="*/ 243576 h 1461454"/>
              <a:gd name="csX8" fmla="*/ 5230905 w 5230905"/>
              <a:gd name="csY8" fmla="*/ 243576 h 1461454"/>
              <a:gd name="csX9" fmla="*/ 5230905 w 5230905"/>
              <a:gd name="csY9" fmla="*/ 608939 h 1461454"/>
              <a:gd name="csX10" fmla="*/ 5230905 w 5230905"/>
              <a:gd name="csY10" fmla="*/ 1217873 h 1461454"/>
              <a:gd name="csX11" fmla="*/ 4987324 w 5230905"/>
              <a:gd name="csY11" fmla="*/ 1461454 h 1461454"/>
              <a:gd name="csX12" fmla="*/ 2179544 w 5230905"/>
              <a:gd name="csY12" fmla="*/ 1461454 h 1461454"/>
              <a:gd name="csX13" fmla="*/ 871818 w 5230905"/>
              <a:gd name="csY13" fmla="*/ 1461454 h 1461454"/>
              <a:gd name="csX14" fmla="*/ 871818 w 5230905"/>
              <a:gd name="csY14" fmla="*/ 1461454 h 1461454"/>
              <a:gd name="csX15" fmla="*/ 243581 w 5230905"/>
              <a:gd name="csY15" fmla="*/ 1461454 h 1461454"/>
              <a:gd name="csX16" fmla="*/ 0 w 5230905"/>
              <a:gd name="csY16" fmla="*/ 1217873 h 1461454"/>
              <a:gd name="csX17" fmla="*/ 0 w 5230905"/>
              <a:gd name="csY17" fmla="*/ 608939 h 1461454"/>
              <a:gd name="csX18" fmla="*/ 0 w 5230905"/>
              <a:gd name="csY18" fmla="*/ 243576 h 1461454"/>
              <a:gd name="csX19" fmla="*/ 0 w 5230905"/>
              <a:gd name="csY19" fmla="*/ 243576 h 1461454"/>
              <a:gd name="csX20" fmla="*/ 0 w 5230905"/>
              <a:gd name="csY20" fmla="*/ 243581 h 1461454"/>
              <a:gd name="csX0" fmla="*/ 0 w 5230905"/>
              <a:gd name="csY0" fmla="*/ 5525173 h 6743046"/>
              <a:gd name="csX1" fmla="*/ 243581 w 5230905"/>
              <a:gd name="csY1" fmla="*/ 5281592 h 6743046"/>
              <a:gd name="csX2" fmla="*/ 871818 w 5230905"/>
              <a:gd name="csY2" fmla="*/ 5281592 h 6743046"/>
              <a:gd name="csX3" fmla="*/ 1441010 w 5230905"/>
              <a:gd name="csY3" fmla="*/ 0 h 6743046"/>
              <a:gd name="csX4" fmla="*/ 3188212 w 5230905"/>
              <a:gd name="csY4" fmla="*/ 5281592 h 6743046"/>
              <a:gd name="csX5" fmla="*/ 4987324 w 5230905"/>
              <a:gd name="csY5" fmla="*/ 5281592 h 6743046"/>
              <a:gd name="csX6" fmla="*/ 5230905 w 5230905"/>
              <a:gd name="csY6" fmla="*/ 5525173 h 6743046"/>
              <a:gd name="csX7" fmla="*/ 5230905 w 5230905"/>
              <a:gd name="csY7" fmla="*/ 5525168 h 6743046"/>
              <a:gd name="csX8" fmla="*/ 5230905 w 5230905"/>
              <a:gd name="csY8" fmla="*/ 5525168 h 6743046"/>
              <a:gd name="csX9" fmla="*/ 5230905 w 5230905"/>
              <a:gd name="csY9" fmla="*/ 5890531 h 6743046"/>
              <a:gd name="csX10" fmla="*/ 5230905 w 5230905"/>
              <a:gd name="csY10" fmla="*/ 6499465 h 6743046"/>
              <a:gd name="csX11" fmla="*/ 4987324 w 5230905"/>
              <a:gd name="csY11" fmla="*/ 6743046 h 6743046"/>
              <a:gd name="csX12" fmla="*/ 2179544 w 5230905"/>
              <a:gd name="csY12" fmla="*/ 6743046 h 6743046"/>
              <a:gd name="csX13" fmla="*/ 871818 w 5230905"/>
              <a:gd name="csY13" fmla="*/ 6743046 h 6743046"/>
              <a:gd name="csX14" fmla="*/ 871818 w 5230905"/>
              <a:gd name="csY14" fmla="*/ 6743046 h 6743046"/>
              <a:gd name="csX15" fmla="*/ 243581 w 5230905"/>
              <a:gd name="csY15" fmla="*/ 6743046 h 6743046"/>
              <a:gd name="csX16" fmla="*/ 0 w 5230905"/>
              <a:gd name="csY16" fmla="*/ 6499465 h 6743046"/>
              <a:gd name="csX17" fmla="*/ 0 w 5230905"/>
              <a:gd name="csY17" fmla="*/ 5890531 h 6743046"/>
              <a:gd name="csX18" fmla="*/ 0 w 5230905"/>
              <a:gd name="csY18" fmla="*/ 5525168 h 6743046"/>
              <a:gd name="csX19" fmla="*/ 0 w 5230905"/>
              <a:gd name="csY19" fmla="*/ 5525168 h 6743046"/>
              <a:gd name="csX20" fmla="*/ 0 w 5230905"/>
              <a:gd name="csY20" fmla="*/ 5525173 h 6743046"/>
              <a:gd name="csX0" fmla="*/ 0 w 5230905"/>
              <a:gd name="csY0" fmla="*/ 5525173 h 6743046"/>
              <a:gd name="csX1" fmla="*/ 243581 w 5230905"/>
              <a:gd name="csY1" fmla="*/ 5281592 h 6743046"/>
              <a:gd name="csX2" fmla="*/ 2823167 w 5230905"/>
              <a:gd name="csY2" fmla="*/ 5300445 h 6743046"/>
              <a:gd name="csX3" fmla="*/ 1441010 w 5230905"/>
              <a:gd name="csY3" fmla="*/ 0 h 6743046"/>
              <a:gd name="csX4" fmla="*/ 3188212 w 5230905"/>
              <a:gd name="csY4" fmla="*/ 5281592 h 6743046"/>
              <a:gd name="csX5" fmla="*/ 4987324 w 5230905"/>
              <a:gd name="csY5" fmla="*/ 5281592 h 6743046"/>
              <a:gd name="csX6" fmla="*/ 5230905 w 5230905"/>
              <a:gd name="csY6" fmla="*/ 5525173 h 6743046"/>
              <a:gd name="csX7" fmla="*/ 5230905 w 5230905"/>
              <a:gd name="csY7" fmla="*/ 5525168 h 6743046"/>
              <a:gd name="csX8" fmla="*/ 5230905 w 5230905"/>
              <a:gd name="csY8" fmla="*/ 5525168 h 6743046"/>
              <a:gd name="csX9" fmla="*/ 5230905 w 5230905"/>
              <a:gd name="csY9" fmla="*/ 5890531 h 6743046"/>
              <a:gd name="csX10" fmla="*/ 5230905 w 5230905"/>
              <a:gd name="csY10" fmla="*/ 6499465 h 6743046"/>
              <a:gd name="csX11" fmla="*/ 4987324 w 5230905"/>
              <a:gd name="csY11" fmla="*/ 6743046 h 6743046"/>
              <a:gd name="csX12" fmla="*/ 2179544 w 5230905"/>
              <a:gd name="csY12" fmla="*/ 6743046 h 6743046"/>
              <a:gd name="csX13" fmla="*/ 871818 w 5230905"/>
              <a:gd name="csY13" fmla="*/ 6743046 h 6743046"/>
              <a:gd name="csX14" fmla="*/ 871818 w 5230905"/>
              <a:gd name="csY14" fmla="*/ 6743046 h 6743046"/>
              <a:gd name="csX15" fmla="*/ 243581 w 5230905"/>
              <a:gd name="csY15" fmla="*/ 6743046 h 6743046"/>
              <a:gd name="csX16" fmla="*/ 0 w 5230905"/>
              <a:gd name="csY16" fmla="*/ 6499465 h 6743046"/>
              <a:gd name="csX17" fmla="*/ 0 w 5230905"/>
              <a:gd name="csY17" fmla="*/ 5890531 h 6743046"/>
              <a:gd name="csX18" fmla="*/ 0 w 5230905"/>
              <a:gd name="csY18" fmla="*/ 5525168 h 6743046"/>
              <a:gd name="csX19" fmla="*/ 0 w 5230905"/>
              <a:gd name="csY19" fmla="*/ 5525168 h 6743046"/>
              <a:gd name="csX20" fmla="*/ 0 w 5230905"/>
              <a:gd name="csY20" fmla="*/ 5525173 h 6743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230905" h="6743046">
                <a:moveTo>
                  <a:pt x="0" y="5525173"/>
                </a:moveTo>
                <a:cubicBezTo>
                  <a:pt x="0" y="5390647"/>
                  <a:pt x="109055" y="5281592"/>
                  <a:pt x="243581" y="5281592"/>
                </a:cubicBezTo>
                <a:lnTo>
                  <a:pt x="2823167" y="5300445"/>
                </a:lnTo>
                <a:lnTo>
                  <a:pt x="1441010" y="0"/>
                </a:lnTo>
                <a:lnTo>
                  <a:pt x="3188212" y="5281592"/>
                </a:lnTo>
                <a:lnTo>
                  <a:pt x="4987324" y="5281592"/>
                </a:lnTo>
                <a:cubicBezTo>
                  <a:pt x="5121850" y="5281592"/>
                  <a:pt x="5230905" y="5390647"/>
                  <a:pt x="5230905" y="5525173"/>
                </a:cubicBezTo>
                <a:lnTo>
                  <a:pt x="5230905" y="5525168"/>
                </a:lnTo>
                <a:lnTo>
                  <a:pt x="5230905" y="5525168"/>
                </a:lnTo>
                <a:lnTo>
                  <a:pt x="5230905" y="5890531"/>
                </a:lnTo>
                <a:lnTo>
                  <a:pt x="5230905" y="6499465"/>
                </a:lnTo>
                <a:cubicBezTo>
                  <a:pt x="5230905" y="6633991"/>
                  <a:pt x="5121850" y="6743046"/>
                  <a:pt x="4987324" y="6743046"/>
                </a:cubicBezTo>
                <a:lnTo>
                  <a:pt x="2179544" y="6743046"/>
                </a:lnTo>
                <a:lnTo>
                  <a:pt x="871818" y="6743046"/>
                </a:lnTo>
                <a:lnTo>
                  <a:pt x="871818" y="6743046"/>
                </a:lnTo>
                <a:lnTo>
                  <a:pt x="243581" y="6743046"/>
                </a:lnTo>
                <a:cubicBezTo>
                  <a:pt x="109055" y="6743046"/>
                  <a:pt x="0" y="6633991"/>
                  <a:pt x="0" y="6499465"/>
                </a:cubicBezTo>
                <a:lnTo>
                  <a:pt x="0" y="5890531"/>
                </a:lnTo>
                <a:lnTo>
                  <a:pt x="0" y="5525168"/>
                </a:lnTo>
                <a:lnTo>
                  <a:pt x="0" y="5525168"/>
                </a:lnTo>
                <a:lnTo>
                  <a:pt x="0" y="5525173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>
            <a:noAutofit/>
          </a:bodyPr>
          <a:lstStyle/>
          <a:p>
            <a:pPr algn="ctr"/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D8C7F8-9F04-D78A-FF00-259E4099559F}"/>
              </a:ext>
            </a:extLst>
          </p:cNvPr>
          <p:cNvSpPr txBox="1"/>
          <p:nvPr/>
        </p:nvSpPr>
        <p:spPr>
          <a:xfrm>
            <a:off x="38270519" y="17154931"/>
            <a:ext cx="523090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 = </a:t>
            </a:r>
            <a:r>
              <a:rPr lang="el-G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β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”a 1% increase in Investment Revenues is correlated with a 0.005%-point decrease in expansion probability”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396A2EC-6078-5A0C-E5A7-BEE87DF83889}"/>
              </a:ext>
            </a:extLst>
          </p:cNvPr>
          <p:cNvSpPr/>
          <p:nvPr/>
        </p:nvSpPr>
        <p:spPr>
          <a:xfrm>
            <a:off x="38633400" y="11440985"/>
            <a:ext cx="1371600" cy="5509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77A7C8-1691-8374-C60E-B348FE9BE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190905"/>
              </p:ext>
            </p:extLst>
          </p:nvPr>
        </p:nvGraphicFramePr>
        <p:xfrm>
          <a:off x="12563412" y="22479001"/>
          <a:ext cx="11671298" cy="5150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529">
                  <a:extLst>
                    <a:ext uri="{9D8B030D-6E8A-4147-A177-3AD203B41FA5}">
                      <a16:colId xmlns:a16="http://schemas.microsoft.com/office/drawing/2014/main" val="1007615675"/>
                    </a:ext>
                  </a:extLst>
                </a:gridCol>
                <a:gridCol w="2966844">
                  <a:extLst>
                    <a:ext uri="{9D8B030D-6E8A-4147-A177-3AD203B41FA5}">
                      <a16:colId xmlns:a16="http://schemas.microsoft.com/office/drawing/2014/main" val="4104137985"/>
                    </a:ext>
                  </a:extLst>
                </a:gridCol>
                <a:gridCol w="2768432">
                  <a:extLst>
                    <a:ext uri="{9D8B030D-6E8A-4147-A177-3AD203B41FA5}">
                      <a16:colId xmlns:a16="http://schemas.microsoft.com/office/drawing/2014/main" val="2862436280"/>
                    </a:ext>
                  </a:extLst>
                </a:gridCol>
                <a:gridCol w="2922493">
                  <a:extLst>
                    <a:ext uri="{9D8B030D-6E8A-4147-A177-3AD203B41FA5}">
                      <a16:colId xmlns:a16="http://schemas.microsoft.com/office/drawing/2014/main" val="4013777545"/>
                    </a:ext>
                  </a:extLst>
                </a:gridCol>
              </a:tblGrid>
              <a:tr h="370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1" u="sng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 1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1" u="sng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Results:</a:t>
                      </a:r>
                      <a:endParaRPr lang="en-US" sz="2400" b="1" u="sng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(1)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Expenses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(2)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Revenues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(3)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b="0" u="none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Revenue-Controlled</a:t>
                      </a:r>
                      <a:endParaRPr lang="en-US" sz="2400" b="0" u="none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706957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GDP Change %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0.006***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0.006***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0.001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22909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(0.001)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(0.001)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(0.001)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2557238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Log(Revenue)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0.823***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5602773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(0.001)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552216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Num. Obs.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2.88M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2.88M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00" dirty="0">
                          <a:effectLst/>
                        </a:rPr>
                        <a:t>2.88M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304411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R2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0.847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0.844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0.921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573098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FE: year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0979519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FE: state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4000895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FE: industry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7532738"/>
                  </a:ext>
                </a:extLst>
              </a:tr>
              <a:tr h="1772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FE: firm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en-US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X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0785721"/>
                  </a:ext>
                </a:extLst>
              </a:tr>
              <a:tr h="177292"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* p &lt; 0.1, ** p &lt; 0.05, *** p &lt; 0.01</a:t>
                      </a:r>
                      <a:endParaRPr lang="en-US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7902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CDF0CF3-5966-AD46-79E3-E458EFD3C6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4938" y="6651578"/>
            <a:ext cx="11132842" cy="89062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6CD1291D-AE0B-45A9-0B6E-B7D6139CE660}"/>
              </a:ext>
            </a:extLst>
          </p:cNvPr>
          <p:cNvSpPr/>
          <p:nvPr/>
        </p:nvSpPr>
        <p:spPr>
          <a:xfrm>
            <a:off x="15392400" y="27736800"/>
            <a:ext cx="5272213" cy="1302085"/>
          </a:xfrm>
          <a:prstGeom prst="wedgeRoundRectCallout">
            <a:avLst>
              <a:gd name="adj1" fmla="val 61592"/>
              <a:gd name="adj2" fmla="val -299680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 = β%</a:t>
            </a:r>
          </a:p>
          <a:p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E.g., ”a 1% increase in Revenue is correlated with a 0.8% increase in Program Expenses”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1279D7-1E33-50E4-7403-D115B662E810}"/>
              </a:ext>
            </a:extLst>
          </p:cNvPr>
          <p:cNvSpPr/>
          <p:nvPr/>
        </p:nvSpPr>
        <p:spPr>
          <a:xfrm>
            <a:off x="21259800" y="24003000"/>
            <a:ext cx="1371600" cy="5509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1061</Words>
  <Application>Microsoft Macintosh PowerPoint</Application>
  <PresentationFormat>Custom</PresentationFormat>
  <Paragraphs>230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Cambria Math</vt:lpstr>
      <vt:lpstr>Tahoma</vt:lpstr>
      <vt:lpstr>Times New Roman</vt:lpstr>
      <vt:lpstr>Office Theme</vt:lpstr>
      <vt:lpstr>PowerPoint Presentation</vt:lpstr>
    </vt:vector>
  </TitlesOfParts>
  <Company>Clark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drourke</dc:creator>
  <cp:lastModifiedBy>Tamen, Jonathan</cp:lastModifiedBy>
  <cp:revision>9</cp:revision>
  <dcterms:created xsi:type="dcterms:W3CDTF">2012-05-15T17:03:21Z</dcterms:created>
  <dcterms:modified xsi:type="dcterms:W3CDTF">2026-04-23T15:57:25Z</dcterms:modified>
</cp:coreProperties>
</file>